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59" r:id="rId9"/>
    <p:sldId id="261" r:id="rId10"/>
    <p:sldId id="267" r:id="rId11"/>
    <p:sldId id="266" r:id="rId12"/>
    <p:sldId id="268" r:id="rId13"/>
    <p:sldId id="260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799" autoAdjust="0"/>
  </p:normalViewPr>
  <p:slideViewPr>
    <p:cSldViewPr snapToGrid="0">
      <p:cViewPr varScale="1">
        <p:scale>
          <a:sx n="69" d="100"/>
          <a:sy n="69" d="100"/>
        </p:scale>
        <p:origin x="11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FE21-32F3-486F-B379-4127B7AB7303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7FA3-EE3C-4D67-A98A-6A08FE7D0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45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Изображения логичнее размещать с заголовками</a:t>
            </a:r>
            <a:r>
              <a:rPr lang="en-US" dirty="0"/>
              <a:t>. </a:t>
            </a:r>
            <a:r>
              <a:rPr lang="ru-RU" dirty="0"/>
              <a:t>Чтобы было понятно, что заголовок относится к изображению, логично разместить</a:t>
            </a:r>
            <a:r>
              <a:rPr lang="en-US" dirty="0"/>
              <a:t> p </a:t>
            </a:r>
            <a:r>
              <a:rPr lang="ru-RU" dirty="0"/>
              <a:t>и 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ru-RU" dirty="0"/>
              <a:t>в одном </a:t>
            </a:r>
            <a:r>
              <a:rPr lang="en-US" dirty="0"/>
              <a:t>div:</a:t>
            </a:r>
          </a:p>
          <a:p>
            <a:pPr marL="0" indent="0">
              <a:buNone/>
            </a:pPr>
            <a:r>
              <a:rPr lang="en-US" dirty="0"/>
              <a:t>&lt;div&gt;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534988">
              <a:buNone/>
            </a:pPr>
            <a:r>
              <a:rPr lang="en-US" dirty="0"/>
              <a:t>&lt;p&gt;</a:t>
            </a:r>
            <a:r>
              <a:rPr lang="ru-RU" dirty="0"/>
              <a:t>Подпись рисунка</a:t>
            </a:r>
            <a:r>
              <a:rPr lang="en-US" dirty="0"/>
              <a:t>&lt;/p&gt;</a:t>
            </a:r>
          </a:p>
          <a:p>
            <a:pPr marL="0" indent="0">
              <a:buNone/>
            </a:pPr>
            <a:r>
              <a:rPr lang="en-US" dirty="0"/>
              <a:t>&lt;/div&gt;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278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 такое объединение может быть малопонятным для просматривающего код, поэтому в </a:t>
            </a:r>
            <a:r>
              <a:rPr lang="en-US" dirty="0"/>
              <a:t>HTML5 </a:t>
            </a:r>
            <a:r>
              <a:rPr lang="ru-RU" dirty="0"/>
              <a:t>была введена пара </a:t>
            </a:r>
            <a:r>
              <a:rPr lang="en-US" dirty="0" err="1"/>
              <a:t>figure+figcaption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&lt;figure&gt;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figcaption</a:t>
            </a:r>
            <a:r>
              <a:rPr lang="en-US" dirty="0"/>
              <a:t>&gt;</a:t>
            </a:r>
            <a:r>
              <a:rPr lang="ru-RU" dirty="0"/>
              <a:t>Подпись рисунка</a:t>
            </a:r>
            <a:r>
              <a:rPr lang="en-US" dirty="0"/>
              <a:t>&lt;</a:t>
            </a:r>
            <a:r>
              <a:rPr lang="en-US" dirty="0" err="1"/>
              <a:t>figcaption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&lt;/figure&gt;</a:t>
            </a:r>
            <a:endParaRPr lang="ru-RU" dirty="0"/>
          </a:p>
          <a:p>
            <a:r>
              <a:rPr lang="ru-RU" dirty="0"/>
              <a:t>Как и ранее, можно заметить, что нововведения </a:t>
            </a:r>
            <a:r>
              <a:rPr lang="en-US" dirty="0"/>
              <a:t>HTML5 </a:t>
            </a:r>
            <a:r>
              <a:rPr lang="ru-RU" dirty="0"/>
              <a:t>во многом касаются улучшения семантики кода для стороннего наблюдателя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73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Научившись встраивать медиафайлы в веб-страницу возникает вопрос с источниками – а откуда и каких форматов фалы брать? Для видео, аудио и изображений существует множество различных форматов.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изображений традиционными форматами являются </a:t>
            </a:r>
            <a:r>
              <a:rPr lang="en-US" dirty="0"/>
              <a:t>jpeg </a:t>
            </a:r>
            <a:r>
              <a:rPr lang="ru-RU" dirty="0"/>
              <a:t>и </a:t>
            </a:r>
            <a:r>
              <a:rPr lang="en-US" dirty="0" err="1"/>
              <a:t>png</a:t>
            </a:r>
            <a:r>
              <a:rPr lang="en-US" dirty="0"/>
              <a:t>, </a:t>
            </a:r>
            <a:r>
              <a:rPr lang="ru-RU" dirty="0"/>
              <a:t>первый подразумевает сжатие с потерями, второй – без, при этом </a:t>
            </a:r>
            <a:r>
              <a:rPr lang="en-US" dirty="0" err="1"/>
              <a:t>png</a:t>
            </a:r>
            <a:r>
              <a:rPr lang="ru-RU" dirty="0"/>
              <a:t> соответственно имеет больший размер. Первым из более современных форматов изображений стал </a:t>
            </a:r>
            <a:r>
              <a:rPr lang="en-US" dirty="0"/>
              <a:t>jpeg2000, </a:t>
            </a:r>
            <a:r>
              <a:rPr lang="ru-RU" dirty="0"/>
              <a:t>существенно улучшающий качество изображений за счет нового алгоритма сжатия, но существенной популярности так и не обретший во многом из-за раннего введения, в 1997-2000 гг. во многом не было массовых источников изображений высокой четкости, для которых пригодился бы такой алгоритм (цифровые камеры имели разрешение до нескольких МП и давали изображение качеством хуже, чем эффект воздействия на него сжатия </a:t>
            </a:r>
            <a:r>
              <a:rPr lang="en-US" dirty="0"/>
              <a:t>jpeg). </a:t>
            </a:r>
            <a:r>
              <a:rPr lang="ru-RU" dirty="0"/>
              <a:t>При этом </a:t>
            </a:r>
            <a:r>
              <a:rPr lang="en-US" dirty="0"/>
              <a:t>jpeg </a:t>
            </a:r>
            <a:r>
              <a:rPr lang="ru-RU" dirty="0"/>
              <a:t>при высоких настройках качества до сих пор обеспечивает приемлемое соотношение качества к занимаемому месту, из-за чего он все еще используется в фотографии и многих других сферах. Тем не менее, увеличение пропускной способности интернета дает возможность повысить качество иллюстраций веб-страниц, все же </a:t>
            </a:r>
            <a:r>
              <a:rPr lang="en-US" dirty="0"/>
              <a:t>jpeg</a:t>
            </a:r>
            <a:r>
              <a:rPr lang="ru-RU" dirty="0"/>
              <a:t> сильно хуже может передавать четкие контуры на логотипах и подобную информацию при хорошем сжатии, поэтому </a:t>
            </a:r>
            <a:r>
              <a:rPr lang="en-US" dirty="0" err="1"/>
              <a:t>png</a:t>
            </a:r>
            <a:r>
              <a:rPr lang="ru-RU" dirty="0"/>
              <a:t> стал применяться чаще. В то же время, при большом объеме иллюстрационного материала на странице даже сейчас использование относительно тяжелых </a:t>
            </a:r>
            <a:r>
              <a:rPr lang="en-US" dirty="0" err="1"/>
              <a:t>png</a:t>
            </a:r>
            <a:r>
              <a:rPr lang="en-US" dirty="0"/>
              <a:t> </a:t>
            </a:r>
            <a:r>
              <a:rPr lang="ru-RU" dirty="0"/>
              <a:t>вызовет неприемлемое для многих пользователей время загрузки страницы.</a:t>
            </a:r>
          </a:p>
          <a:p>
            <a:r>
              <a:rPr lang="ru-RU" dirty="0"/>
              <a:t>Здесь на сцену выходят новейшие форматы изображений – специально созданный для </a:t>
            </a:r>
            <a:r>
              <a:rPr lang="en-US" dirty="0"/>
              <a:t>HTML5 </a:t>
            </a:r>
            <a:r>
              <a:rPr lang="en-US" dirty="0" err="1"/>
              <a:t>webm</a:t>
            </a:r>
            <a:r>
              <a:rPr lang="en-US" dirty="0"/>
              <a:t> </a:t>
            </a:r>
            <a:r>
              <a:rPr lang="ru-RU" dirty="0"/>
              <a:t>и чуть более новый </a:t>
            </a:r>
            <a:r>
              <a:rPr lang="en-US" dirty="0" err="1"/>
              <a:t>avif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911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целом, </a:t>
            </a:r>
            <a:r>
              <a:rPr lang="en-US" dirty="0" err="1"/>
              <a:t>webp</a:t>
            </a:r>
            <a:r>
              <a:rPr lang="en-US" dirty="0"/>
              <a:t> </a:t>
            </a:r>
            <a:r>
              <a:rPr lang="ru-RU" dirty="0"/>
              <a:t>обеспечивает меньший объем файла по сравнению с </a:t>
            </a:r>
            <a:r>
              <a:rPr lang="en-US" dirty="0" err="1"/>
              <a:t>png</a:t>
            </a:r>
            <a:r>
              <a:rPr lang="en-US" dirty="0"/>
              <a:t> </a:t>
            </a:r>
            <a:r>
              <a:rPr lang="ru-RU" dirty="0"/>
              <a:t>при сопоставимом качестве и лучшее качество, чем у </a:t>
            </a:r>
            <a:r>
              <a:rPr lang="en-US" dirty="0"/>
              <a:t>jpeg </a:t>
            </a:r>
            <a:r>
              <a:rPr lang="ru-RU" dirty="0"/>
              <a:t>при меньшем размере. Из-за этого формат активно встречается на новых веб-страницах.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041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Avif</a:t>
            </a:r>
            <a:r>
              <a:rPr lang="en-US" dirty="0"/>
              <a:t>, </a:t>
            </a:r>
            <a:r>
              <a:rPr lang="ru-RU" dirty="0"/>
              <a:t>согласно некоторым источникам, лучше и по качеству некоторых деталей, и по размеру итогового файла, чем </a:t>
            </a:r>
            <a:r>
              <a:rPr lang="en-US" dirty="0" err="1"/>
              <a:t>webp</a:t>
            </a:r>
            <a:r>
              <a:rPr lang="en-US" dirty="0"/>
              <a:t>, </a:t>
            </a:r>
            <a:r>
              <a:rPr lang="ru-RU" dirty="0"/>
              <a:t>но в силу более позднего введения, в</a:t>
            </a:r>
            <a:r>
              <a:rPr lang="en-US" dirty="0"/>
              <a:t> 2019</a:t>
            </a:r>
            <a:r>
              <a:rPr lang="ru-RU" dirty="0"/>
              <a:t> г. по сравнению с 2018 г. у </a:t>
            </a:r>
            <a:r>
              <a:rPr lang="en-US" dirty="0" err="1"/>
              <a:t>webp</a:t>
            </a:r>
            <a:r>
              <a:rPr lang="en-US" dirty="0"/>
              <a:t>, </a:t>
            </a:r>
            <a:r>
              <a:rPr lang="ru-RU" dirty="0"/>
              <a:t>из-за чего такие изображения встречаются реже</a:t>
            </a:r>
            <a:r>
              <a:rPr lang="en-US" dirty="0"/>
              <a:t>, </a:t>
            </a:r>
            <a:r>
              <a:rPr lang="ru-RU" dirty="0"/>
              <a:t>но поддерживаются современными браузерами. Главное здесь слово – «современными». Для исключения проблем с тем, что устаревший браузер пользователя не может воспроизвести видео в современном формате следует использовать несколько источников в различных форматах.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480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размещении изображений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en-US" dirty="0"/>
              <a:t>picture</a:t>
            </a:r>
            <a:r>
              <a:rPr lang="ru-RU" dirty="0"/>
              <a:t> можно указывать несколько источников разных типов через </a:t>
            </a:r>
            <a:r>
              <a:rPr lang="en-US" dirty="0"/>
              <a:t>source</a:t>
            </a:r>
            <a:r>
              <a:rPr lang="ru-RU" dirty="0"/>
              <a:t>, браузер пользователя выберет наиболее подходящий или покажет содержимое </a:t>
            </a: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&gt;, </a:t>
            </a:r>
            <a:r>
              <a:rPr lang="ru-RU" dirty="0"/>
              <a:t>если ни один из форматов не поддерживается: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&lt;picture&gt;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srcset</a:t>
            </a:r>
            <a:r>
              <a:rPr lang="en-US" dirty="0"/>
              <a:t>="</a:t>
            </a:r>
            <a:r>
              <a:rPr lang="en-US" dirty="0" err="1"/>
              <a:t>image.avif</a:t>
            </a:r>
            <a:r>
              <a:rPr lang="en-US" dirty="0"/>
              <a:t>" type="image/</a:t>
            </a:r>
            <a:r>
              <a:rPr lang="en-US" dirty="0" err="1"/>
              <a:t>avif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srcset</a:t>
            </a:r>
            <a:r>
              <a:rPr lang="en-US" dirty="0"/>
              <a:t>="</a:t>
            </a:r>
            <a:r>
              <a:rPr lang="en-US" dirty="0" err="1"/>
              <a:t>image.webp</a:t>
            </a:r>
            <a:r>
              <a:rPr lang="en-US" dirty="0"/>
              <a:t>" type="image/</a:t>
            </a:r>
            <a:r>
              <a:rPr lang="en-US" dirty="0" err="1"/>
              <a:t>webp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0">
              <a:buNone/>
            </a:pPr>
            <a:r>
              <a:rPr lang="en-US" dirty="0"/>
              <a:t>&lt;/picture&gt;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571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Аргумент </a:t>
            </a:r>
            <a:r>
              <a:rPr lang="en-US" dirty="0"/>
              <a:t>type </a:t>
            </a:r>
            <a:r>
              <a:rPr lang="ru-RU" dirty="0"/>
              <a:t>должен иметь значение формата выбранного медиафайла, чтобы браузер понимал, поддерживается ли он. Примеры форматов: </a:t>
            </a:r>
            <a:r>
              <a:rPr lang="en-US" dirty="0"/>
              <a:t>video/mp4</a:t>
            </a:r>
            <a:r>
              <a:rPr lang="ru-RU" dirty="0"/>
              <a:t>, </a:t>
            </a:r>
            <a:r>
              <a:rPr lang="en-US" dirty="0"/>
              <a:t>video/</a:t>
            </a:r>
            <a:r>
              <a:rPr lang="en-US" dirty="0" err="1"/>
              <a:t>webm</a:t>
            </a:r>
            <a:r>
              <a:rPr lang="en-US" dirty="0"/>
              <a:t>, video/</a:t>
            </a:r>
            <a:r>
              <a:rPr lang="en-US" dirty="0" err="1"/>
              <a:t>ogg</a:t>
            </a:r>
            <a:r>
              <a:rPr lang="en-US" dirty="0"/>
              <a:t>, audio/mp3, audio/</a:t>
            </a:r>
            <a:r>
              <a:rPr lang="en-US" dirty="0" err="1"/>
              <a:t>ogg</a:t>
            </a:r>
            <a:r>
              <a:rPr lang="en-US" dirty="0"/>
              <a:t>, audio/</a:t>
            </a:r>
            <a:r>
              <a:rPr lang="en-US" dirty="0" err="1"/>
              <a:t>aac</a:t>
            </a:r>
            <a:r>
              <a:rPr lang="en-US" dirty="0"/>
              <a:t>, image/</a:t>
            </a:r>
            <a:r>
              <a:rPr lang="en-US" dirty="0" err="1"/>
              <a:t>avif</a:t>
            </a:r>
            <a:r>
              <a:rPr lang="en-US" dirty="0"/>
              <a:t>, image/</a:t>
            </a:r>
            <a:r>
              <a:rPr lang="en-US" dirty="0" err="1"/>
              <a:t>webp</a:t>
            </a:r>
            <a:r>
              <a:rPr lang="en-US" dirty="0"/>
              <a:t>, image/gif, image/</a:t>
            </a:r>
            <a:r>
              <a:rPr lang="en-US" dirty="0" err="1"/>
              <a:t>png</a:t>
            </a:r>
            <a:r>
              <a:rPr lang="en-US" dirty="0"/>
              <a:t>, image/</a:t>
            </a:r>
            <a:r>
              <a:rPr lang="en-US" dirty="0" err="1"/>
              <a:t>svg+xml</a:t>
            </a:r>
            <a:r>
              <a:rPr lang="en-US" dirty="0"/>
              <a:t>, image/jpeg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054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видеоконтента ситуация похожа. Долгое время </a:t>
            </a:r>
            <a:r>
              <a:rPr lang="en-US" dirty="0"/>
              <a:t>mp4 </a:t>
            </a:r>
            <a:r>
              <a:rPr lang="ru-RU" dirty="0"/>
              <a:t>лидировал в качестве универсального формата видео, в том числе и для </a:t>
            </a:r>
            <a:r>
              <a:rPr lang="en-US" dirty="0"/>
              <a:t>web. </a:t>
            </a:r>
            <a:r>
              <a:rPr lang="ru-RU" dirty="0"/>
              <a:t>Современные файлы </a:t>
            </a:r>
            <a:r>
              <a:rPr lang="en-US" dirty="0"/>
              <a:t>mp4 </a:t>
            </a:r>
            <a:r>
              <a:rPr lang="ru-RU" dirty="0"/>
              <a:t>используют проприетарный кодек </a:t>
            </a:r>
            <a:r>
              <a:rPr lang="en-US" dirty="0"/>
              <a:t>.h264 </a:t>
            </a:r>
            <a:r>
              <a:rPr lang="ru-RU" dirty="0"/>
              <a:t>или </a:t>
            </a:r>
            <a:r>
              <a:rPr lang="en-US" dirty="0"/>
              <a:t>.h265(HEVC)</a:t>
            </a:r>
            <a:r>
              <a:rPr lang="ru-RU" dirty="0"/>
              <a:t>, который показывает неплохие показатели сжатия и скорости кодирования, но требует платы за использование в декодерах, в том числе, в браузерах. Альтернатива </a:t>
            </a:r>
            <a:r>
              <a:rPr lang="en-US" dirty="0" err="1"/>
              <a:t>webm</a:t>
            </a:r>
            <a:r>
              <a:rPr lang="en-US" dirty="0"/>
              <a:t> – </a:t>
            </a:r>
            <a:r>
              <a:rPr lang="ru-RU" dirty="0"/>
              <a:t>основанный, главным образом, на кодеках </a:t>
            </a:r>
            <a:r>
              <a:rPr lang="en-US" dirty="0"/>
              <a:t>AV1 </a:t>
            </a:r>
            <a:r>
              <a:rPr lang="ru-RU" dirty="0"/>
              <a:t>и </a:t>
            </a:r>
            <a:r>
              <a:rPr lang="en-US" dirty="0"/>
              <a:t>VP9 </a:t>
            </a:r>
            <a:r>
              <a:rPr lang="ru-RU" dirty="0"/>
              <a:t>формат, который обеспечивает сопоставимые параметры сжатия/скорости кодирования, но не требует платы за лицензию (представлен </a:t>
            </a:r>
            <a:r>
              <a:rPr lang="en-US" dirty="0"/>
              <a:t>Google</a:t>
            </a:r>
            <a:r>
              <a:rPr lang="ru-RU" dirty="0"/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251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аналогии</a:t>
            </a:r>
            <a:r>
              <a:rPr lang="en-US" dirty="0"/>
              <a:t> </a:t>
            </a:r>
            <a:r>
              <a:rPr lang="ru-RU" dirty="0"/>
              <a:t>с</a:t>
            </a:r>
            <a:r>
              <a:rPr lang="en-US" dirty="0"/>
              <a:t> picture</a:t>
            </a:r>
            <a:r>
              <a:rPr lang="ru-RU" dirty="0"/>
              <a:t> можно указывать несколько источников разных типов, браузер пользователя выберет наиболее подходящий или покажет содержимое </a:t>
            </a:r>
            <a:r>
              <a:rPr lang="en-US" dirty="0"/>
              <a:t>&lt;p&gt;, </a:t>
            </a:r>
            <a:r>
              <a:rPr lang="ru-RU" dirty="0"/>
              <a:t>если ни один из форматов не поддерживается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&lt;video controls&gt;</a:t>
            </a:r>
          </a:p>
          <a:p>
            <a:pPr marL="0" indent="0">
              <a:buNone/>
            </a:pPr>
            <a:r>
              <a:rPr lang="en-US" dirty="0"/>
              <a:t>	&lt;source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 err="1"/>
              <a:t>video.webm</a:t>
            </a:r>
            <a:r>
              <a:rPr lang="en-US" dirty="0"/>
              <a:t>" type="video/</a:t>
            </a:r>
            <a:r>
              <a:rPr lang="en-US" dirty="0" err="1"/>
              <a:t>webm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</a:t>
            </a:r>
            <a:r>
              <a:rPr lang="en-US" dirty="0"/>
              <a:t>="video.mp4" type="video.mp4"/&gt;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&lt;p&gt;Браузер не поддерживает </a:t>
            </a:r>
            <a:r>
              <a:rPr lang="ru-RU" dirty="0" err="1"/>
              <a:t>webm</a:t>
            </a:r>
            <a:r>
              <a:rPr lang="ru-RU" dirty="0"/>
              <a:t> или </a:t>
            </a:r>
            <a:r>
              <a:rPr lang="en-US" dirty="0"/>
              <a:t>mp4</a:t>
            </a:r>
            <a:r>
              <a:rPr lang="ru-RU" dirty="0"/>
              <a:t>&lt;/p&gt;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&lt;/video&gt;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454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 аудио форматов до сих пор широко распространен </a:t>
            </a:r>
            <a:r>
              <a:rPr lang="en-US" dirty="0"/>
              <a:t>mp3, </a:t>
            </a:r>
            <a:r>
              <a:rPr lang="ru-RU" dirty="0"/>
              <a:t>хотя его поддержка и прекратилась в </a:t>
            </a:r>
            <a:r>
              <a:rPr lang="en-US" dirty="0"/>
              <a:t>2017 </a:t>
            </a:r>
            <a:r>
              <a:rPr lang="ru-RU" dirty="0"/>
              <a:t>г. Несмотря на примитивный алгоритм сжатия, при выборе большого битрейта аудио </a:t>
            </a:r>
            <a:r>
              <a:rPr lang="en-US" dirty="0"/>
              <a:t>mp3 </a:t>
            </a:r>
            <a:r>
              <a:rPr lang="ru-RU" dirty="0"/>
              <a:t>обеспечивает адекватное качество аудио</a:t>
            </a:r>
            <a:r>
              <a:rPr lang="en-US" dirty="0"/>
              <a:t>. </a:t>
            </a:r>
            <a:r>
              <a:rPr lang="ru-RU" dirty="0"/>
              <a:t>Тем не менее, современные форматы могут достичь меньшего объема файлов при лучшем качестве звука, сейчас из таких распространены </a:t>
            </a:r>
            <a:r>
              <a:rPr lang="en-US" dirty="0" err="1"/>
              <a:t>aac</a:t>
            </a:r>
            <a:r>
              <a:rPr lang="en-US" dirty="0"/>
              <a:t> (</a:t>
            </a:r>
            <a:r>
              <a:rPr lang="ru-RU" dirty="0"/>
              <a:t>в основном в </a:t>
            </a:r>
            <a:r>
              <a:rPr lang="en-US" dirty="0"/>
              <a:t>m4a </a:t>
            </a:r>
            <a:r>
              <a:rPr lang="ru-RU" dirty="0"/>
              <a:t>файлах) и</a:t>
            </a:r>
            <a:r>
              <a:rPr lang="en-US" dirty="0"/>
              <a:t> </a:t>
            </a:r>
            <a:r>
              <a:rPr lang="en-US" dirty="0" err="1"/>
              <a:t>vorbis</a:t>
            </a:r>
            <a:r>
              <a:rPr lang="en-US" dirty="0"/>
              <a:t> (</a:t>
            </a:r>
            <a:r>
              <a:rPr lang="en-US" dirty="0" err="1"/>
              <a:t>ogg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634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Аналогично </a:t>
            </a:r>
            <a:r>
              <a:rPr lang="en-US" dirty="0"/>
              <a:t>video </a:t>
            </a:r>
            <a:r>
              <a:rPr lang="ru-RU" dirty="0"/>
              <a:t>можно указывать несколько источников </a:t>
            </a:r>
            <a:r>
              <a:rPr lang="en-US" dirty="0"/>
              <a:t>audio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controls&gt;</a:t>
            </a:r>
          </a:p>
          <a:p>
            <a:pPr marL="0" indent="0">
              <a:buNone/>
            </a:pPr>
            <a:r>
              <a:rPr lang="en-US" dirty="0"/>
              <a:t>	&lt;source </a:t>
            </a:r>
            <a:r>
              <a:rPr lang="en-US" dirty="0" err="1"/>
              <a:t>src</a:t>
            </a:r>
            <a:r>
              <a:rPr lang="en-US" dirty="0"/>
              <a:t>="audio.ogg" type="audio/</a:t>
            </a:r>
            <a:r>
              <a:rPr lang="en-US" dirty="0" err="1"/>
              <a:t>ogg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</a:t>
            </a:r>
            <a:r>
              <a:rPr lang="en-US" dirty="0"/>
              <a:t>="audio.mp3" type="audio/mp3"/&gt;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&lt;p&gt;Браузер не поддерживает </a:t>
            </a:r>
            <a:r>
              <a:rPr lang="en-US" dirty="0" err="1"/>
              <a:t>ogg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mp3 (</a:t>
            </a:r>
            <a:r>
              <a:rPr lang="ru-RU" dirty="0" err="1"/>
              <a:t>лолшто</a:t>
            </a:r>
            <a:r>
              <a:rPr lang="ru-RU" dirty="0"/>
              <a:t>)&lt;/p&gt;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&lt;/audio&gt;</a:t>
            </a:r>
          </a:p>
          <a:p>
            <a:r>
              <a:rPr lang="ru-RU" dirty="0"/>
              <a:t>Формат </a:t>
            </a:r>
            <a:r>
              <a:rPr lang="en-US" dirty="0" err="1"/>
              <a:t>aac</a:t>
            </a:r>
            <a:r>
              <a:rPr lang="en-US" dirty="0"/>
              <a:t>, </a:t>
            </a:r>
            <a:r>
              <a:rPr lang="ru-RU" dirty="0"/>
              <a:t>имеет проблемы</a:t>
            </a:r>
            <a:r>
              <a:rPr lang="en-US" dirty="0"/>
              <a:t>/</a:t>
            </a:r>
            <a:r>
              <a:rPr lang="ru-RU" dirty="0"/>
              <a:t>особенности с поддержкой, за исключением </a:t>
            </a:r>
            <a:r>
              <a:rPr lang="en-US" dirty="0"/>
              <a:t>Safari</a:t>
            </a:r>
            <a:r>
              <a:rPr lang="ru-RU" dirty="0"/>
              <a:t> и современных версий </a:t>
            </a:r>
            <a:r>
              <a:rPr lang="en-US" dirty="0"/>
              <a:t>Chrome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053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умолчанию вызываемый </a:t>
            </a:r>
            <a:r>
              <a:rPr lang="en-US" dirty="0"/>
              <a:t>iframe </a:t>
            </a:r>
            <a:r>
              <a:rPr lang="ru-RU" dirty="0"/>
              <a:t>ресурс может иметь слишком много прав (выполнять скрипты и т.д.). Это дает простор для возможных проблем безопасности, поэтому следует ограничить возможности </a:t>
            </a:r>
            <a:r>
              <a:rPr lang="en-US" dirty="0"/>
              <a:t>iframe. </a:t>
            </a:r>
            <a:r>
              <a:rPr lang="ru-RU" dirty="0"/>
              <a:t>Чтобы ограничить права </a:t>
            </a:r>
            <a:r>
              <a:rPr lang="en-US" dirty="0"/>
              <a:t>iframe </a:t>
            </a:r>
            <a:r>
              <a:rPr lang="ru-RU" dirty="0"/>
              <a:t>нужно в его тег добавить аргумент </a:t>
            </a:r>
            <a:r>
              <a:rPr lang="en-US" dirty="0"/>
              <a:t>sandbox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13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вы могли заметить, страницу логичнее всего верстать из последовательных блоков – будь то </a:t>
            </a:r>
            <a:r>
              <a:rPr lang="en-US" dirty="0"/>
              <a:t>div, header, article, picture </a:t>
            </a:r>
            <a:r>
              <a:rPr lang="ru-RU" dirty="0"/>
              <a:t>или прочие. Модифицировать оформление таких блоков крайне легко с помощью</a:t>
            </a:r>
            <a:r>
              <a:rPr lang="en-US" dirty="0"/>
              <a:t>, </a:t>
            </a:r>
            <a:r>
              <a:rPr lang="ru-RU" dirty="0"/>
              <a:t>пожалуй, самых базовых параметров </a:t>
            </a:r>
            <a:r>
              <a:rPr lang="en-US" dirty="0" err="1"/>
              <a:t>css</a:t>
            </a:r>
            <a:r>
              <a:rPr lang="en-US" dirty="0"/>
              <a:t> – margin, border, padding. </a:t>
            </a:r>
            <a:r>
              <a:rPr lang="ru-RU" dirty="0"/>
              <a:t>Первый показывает отступ границ блока от внешних объектов/краев окна, второй – наличие и параметры границы блока, третий – внутренний отступ содержимого блока от его границы. Также можно менять фон блока с помощью </a:t>
            </a:r>
            <a:r>
              <a:rPr lang="en-US" dirty="0"/>
              <a:t>background-color, </a:t>
            </a:r>
            <a:r>
              <a:rPr lang="ru-RU" dirty="0"/>
              <a:t>ширину и высоту посредством </a:t>
            </a:r>
            <a:r>
              <a:rPr lang="en-US" dirty="0"/>
              <a:t>width </a:t>
            </a:r>
            <a:r>
              <a:rPr lang="ru-RU" dirty="0"/>
              <a:t>и </a:t>
            </a:r>
            <a:r>
              <a:rPr lang="en-US" dirty="0"/>
              <a:t>height.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522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Также у объектов можно настраивать параметр отображения – </a:t>
            </a:r>
            <a:r>
              <a:rPr lang="en-US" dirty="0"/>
              <a:t>display. </a:t>
            </a:r>
            <a:r>
              <a:rPr lang="ru-RU" dirty="0"/>
              <a:t>Типы отображения – блоковый, строчный, строчно-блоковый и пустой. Возможности модификации блоков, как описывалось ранее, довольно широки, тогда как</a:t>
            </a:r>
            <a:r>
              <a:rPr lang="en-US" dirty="0"/>
              <a:t> </a:t>
            </a:r>
            <a:r>
              <a:rPr lang="ru-RU" dirty="0"/>
              <a:t>строчные объекты оформлять сложнее. К примеру, изображения по умолчанию являются строчными элементами, из-за чего при подстановке идут подряд, как символы или части текста. У строчных элементов не может быть отступов, его не так элементарно расположить по центру страницы и т.п.. Поэтому для оформления изображения очень пригождается параметр </a:t>
            </a:r>
            <a:r>
              <a:rPr lang="en-US" dirty="0"/>
              <a:t>display,</a:t>
            </a:r>
            <a:r>
              <a:rPr lang="ru-RU" dirty="0"/>
              <a:t> позволяющий менять его тип на </a:t>
            </a:r>
            <a:r>
              <a:rPr lang="en-US" dirty="0"/>
              <a:t>block, </a:t>
            </a:r>
            <a:r>
              <a:rPr lang="ru-RU" dirty="0"/>
              <a:t>чтобы тоньше настраивать его оформление.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999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 базовых настроек страниц посредством </a:t>
            </a:r>
            <a:r>
              <a:rPr lang="en-US" dirty="0"/>
              <a:t>CSS</a:t>
            </a:r>
            <a:r>
              <a:rPr lang="ru-RU" dirty="0"/>
              <a:t> остается, пожалуй, только настройка шрифта через </a:t>
            </a:r>
            <a:r>
              <a:rPr lang="en-US" dirty="0"/>
              <a:t>font-size </a:t>
            </a:r>
            <a:r>
              <a:rPr lang="ru-RU" dirty="0"/>
              <a:t>и </a:t>
            </a:r>
            <a:r>
              <a:rPr lang="en-US" dirty="0"/>
              <a:t>font-family. </a:t>
            </a:r>
            <a:r>
              <a:rPr lang="ru-RU" dirty="0"/>
              <a:t>Первый позволяет указать размер текста в </a:t>
            </a:r>
            <a:r>
              <a:rPr lang="en-US" dirty="0"/>
              <a:t>px, </a:t>
            </a:r>
            <a:r>
              <a:rPr lang="ru-RU" dirty="0"/>
              <a:t>второй – сам шрифт, причем шрифт может быть как стандартным, так и загружаться по ссылке с помощью тега </a:t>
            </a:r>
            <a:r>
              <a:rPr lang="en-US" dirty="0"/>
              <a:t>link </a:t>
            </a:r>
            <a:r>
              <a:rPr lang="ru-RU" dirty="0"/>
              <a:t>аналогично файлам </a:t>
            </a:r>
            <a:r>
              <a:rPr lang="en-US" dirty="0"/>
              <a:t>CSS </a:t>
            </a:r>
            <a:r>
              <a:rPr lang="ru-RU" dirty="0"/>
              <a:t>в </a:t>
            </a:r>
            <a:r>
              <a:rPr lang="en-US" dirty="0"/>
              <a:t>head.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811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Зафиксируем основные параметры, описанные выше:</a:t>
            </a:r>
          </a:p>
          <a:p>
            <a:r>
              <a:rPr lang="en-US" dirty="0"/>
              <a:t>display </a:t>
            </a:r>
            <a:r>
              <a:rPr lang="ru-RU" dirty="0"/>
              <a:t>– меняет тип элемента (</a:t>
            </a:r>
            <a:r>
              <a:rPr lang="en-US" dirty="0"/>
              <a:t>block – </a:t>
            </a:r>
            <a:r>
              <a:rPr lang="ru-RU" dirty="0"/>
              <a:t>блочный, можно применять отступы и легче задавать положение на странице), </a:t>
            </a:r>
            <a:r>
              <a:rPr lang="en-US" dirty="0"/>
              <a:t>inline – </a:t>
            </a:r>
            <a:r>
              <a:rPr lang="ru-RU" dirty="0"/>
              <a:t>строковый (как текст), </a:t>
            </a:r>
            <a:r>
              <a:rPr lang="en-US" dirty="0"/>
              <a:t>block-inline – </a:t>
            </a:r>
            <a:r>
              <a:rPr lang="ru-RU" dirty="0"/>
              <a:t>комбинация первых, </a:t>
            </a:r>
            <a:r>
              <a:rPr lang="en-US" dirty="0"/>
              <a:t>none –</a:t>
            </a:r>
            <a:r>
              <a:rPr lang="ru-RU" dirty="0"/>
              <a:t> не отображать;</a:t>
            </a:r>
          </a:p>
          <a:p>
            <a:r>
              <a:rPr lang="en-US" dirty="0"/>
              <a:t>margin – </a:t>
            </a:r>
            <a:r>
              <a:rPr lang="ru-RU" dirty="0"/>
              <a:t>расстояние от границы блока до внешних элементов в %;</a:t>
            </a:r>
            <a:endParaRPr lang="en-US" dirty="0"/>
          </a:p>
          <a:p>
            <a:r>
              <a:rPr lang="en-US" dirty="0"/>
              <a:t>padding – </a:t>
            </a:r>
            <a:r>
              <a:rPr lang="ru-RU" dirty="0"/>
              <a:t>расстояние от контента до границы блока в %;</a:t>
            </a:r>
            <a:endParaRPr lang="en-US" dirty="0"/>
          </a:p>
          <a:p>
            <a:r>
              <a:rPr lang="en-US" dirty="0"/>
              <a:t>border – </a:t>
            </a:r>
            <a:r>
              <a:rPr lang="ru-RU" dirty="0"/>
              <a:t>параметры границы блока</a:t>
            </a:r>
            <a:r>
              <a:rPr lang="en-US" dirty="0"/>
              <a:t> (</a:t>
            </a:r>
            <a:r>
              <a:rPr lang="ru-RU" dirty="0"/>
              <a:t>цвет и тип</a:t>
            </a:r>
            <a:r>
              <a:rPr lang="en-US" dirty="0"/>
              <a:t> – black solid)</a:t>
            </a:r>
            <a:r>
              <a:rPr lang="ru-RU" dirty="0"/>
              <a:t>;</a:t>
            </a:r>
          </a:p>
          <a:p>
            <a:r>
              <a:rPr lang="en-US" dirty="0"/>
              <a:t>background-color – </a:t>
            </a:r>
            <a:r>
              <a:rPr lang="ru-RU" dirty="0"/>
              <a:t>цвет фона блока;</a:t>
            </a:r>
          </a:p>
          <a:p>
            <a:r>
              <a:rPr lang="en-US" dirty="0"/>
              <a:t>width</a:t>
            </a:r>
            <a:r>
              <a:rPr lang="ru-RU" dirty="0"/>
              <a:t>, </a:t>
            </a:r>
            <a:r>
              <a:rPr lang="en-US" dirty="0"/>
              <a:t>height – </a:t>
            </a:r>
            <a:r>
              <a:rPr lang="ru-RU" dirty="0"/>
              <a:t>ширина и высота;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336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font-size – </a:t>
            </a:r>
            <a:r>
              <a:rPr lang="ru-RU" dirty="0"/>
              <a:t>размер шрифта;</a:t>
            </a:r>
          </a:p>
          <a:p>
            <a:r>
              <a:rPr lang="en-US" dirty="0"/>
              <a:t>font-family – </a:t>
            </a:r>
            <a:r>
              <a:rPr lang="ru-RU" dirty="0"/>
              <a:t>тип шрифта (семейство), может загружаться по ссылке через </a:t>
            </a:r>
            <a:r>
              <a:rPr lang="en-US" dirty="0"/>
              <a:t>link </a:t>
            </a:r>
            <a:r>
              <a:rPr lang="ru-RU" dirty="0"/>
              <a:t>в </a:t>
            </a:r>
            <a:r>
              <a:rPr lang="en-US" dirty="0"/>
              <a:t>head. </a:t>
            </a:r>
            <a:r>
              <a:rPr lang="ru-RU" dirty="0"/>
              <a:t>Пример использования </a:t>
            </a:r>
            <a:r>
              <a:rPr lang="ru-RU"/>
              <a:t>данных параметров </a:t>
            </a:r>
            <a:r>
              <a:rPr lang="ru-RU" dirty="0"/>
              <a:t>приведен на слайде.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7FA3-EE3C-4D67-A98A-6A08FE7D0F4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D58D9-FCF8-4E61-ABB7-6D23FA2D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B22406-4C83-4610-A542-C2E52F1BB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BD400-B103-4705-8A64-F24C79E6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3CB652-F0B6-42A5-AA88-95BBFB15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68833-A6E7-4E9F-9EA6-D5BF0F6F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91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92905-8149-49E7-89FC-9D564988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A8792-153E-4852-B662-1B666431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EDF212-A8A7-4C5A-928F-938FCB27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B84940-3689-4F58-A735-5DACA07B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926701-0221-4661-A2C3-AB16E0FA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84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657F3-7683-465A-B025-DF65619CC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BE14E1-6C34-4649-B4E2-F05045385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899651-74C7-4742-8933-1180A6C7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85434-9E62-4FFA-A098-967E678A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828DC0-F111-4652-9FD6-A4F1F0D5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E2E20-EF43-4BC7-98EA-6B283B0B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04EE84-E885-4DBC-BCBA-66F1066CD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2A4A4E-8DC0-4C0A-AD6C-D724B7963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CFDC0A-C23A-44E4-9059-9EB0BF5B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4296A9-1212-493F-B782-841EE40B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FA1E9-D286-48A6-88F9-E033486F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2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61D85-C466-4C5D-8EE2-F9AE7721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77CAD9-8D73-49F5-9E4C-F9AB0FD2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88E4DD-7E67-4070-8B85-44714045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416632-313C-426D-9415-CEE17E663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2147FF-AF84-4A03-BB3F-BA6E59A42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BB7D0BE-6DD2-4034-ADF8-6BA5C7F7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122EF2-4F27-414D-A345-79C7CE46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8FF2C1-B6A5-4F3D-A7AF-2D329658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61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6EE83-1B31-4542-BC73-E1F4B5A4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58ED7C-430B-4FAD-8201-2C8B7BF1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6A7A52-D0E0-4501-A4A8-BA5AFCB3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EBE978-76B6-4FAA-A2FF-9AC167C9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5CC5E8-8EEC-408B-96BF-6823D39D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FEF47B-8F07-45C6-9F39-DB7A5F0F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D89A93-613D-43AD-83FE-DCAFF89E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21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D5C44-069A-4AE7-85C4-EE5F026E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E3065E-966F-4C95-BD80-057F821EF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DD4C83-0AD6-4E59-B8AD-54525D9F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D67D61-82A5-48E2-8591-DAEDAEF9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94229-E3D1-49EF-B5BB-F6D50A601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19E3C5-6DA2-4C8D-9B68-DE1C2252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02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88302-46BC-4C20-9684-D22584A6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266734-6EF6-493C-BE3B-2A566B0D5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2C0891-EC8E-495B-B589-E94634B78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61B3AF-8C6A-405B-935D-182AB3BF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0ABE0F-FD2F-4B64-BF62-3E9F121C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0623B8-2871-44A6-A3EC-B4CF5FF3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8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008EE-306C-4D67-81E4-93253006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5CB7E0-809C-40E1-97C6-43D61DE52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530D91-370C-4D0F-B37A-B5F362BB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B956C-AFB8-4724-A754-58324A4C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7BDC24-60BA-4D3B-B546-F91605A7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39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E70154-D5AA-44B2-9339-73F8B5818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E4A7F9-2EF3-4859-9478-E4A1DD932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0A892F-284C-483B-84D9-24B979D1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1B6B4-D3BE-4044-BAF4-4964ABD6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1A5CC-5E8F-4BD8-95B4-2DED2760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55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8B78D-0C2A-489D-A70D-CBC1A8C8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C7E591-86E7-4E38-8B15-D929F8F5C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4A38A7-7875-4EE7-945C-D8311E6C9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8AE3E-6862-48D1-989F-EB55ED0833FA}" type="datetimeFigureOut">
              <a:rPr lang="ru-RU" smtClean="0"/>
              <a:t>18.07.2024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FFA78C-2212-492A-A53C-87B6AEDFD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BDF3D3-24CE-44FC-B9B4-07D6FBD4D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247D9-9E47-4838-9A8C-92AECAD4D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83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F3B6B-5671-4A5E-9B7D-0E3180D8F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Продолжение по оформлению страниц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9F980B-05EE-4B31-B6CE-2F669C5A5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 </a:t>
            </a:r>
            <a:r>
              <a:rPr lang="en-US" dirty="0"/>
              <a:t>CSS</a:t>
            </a:r>
            <a:r>
              <a:rPr lang="ru-RU" dirty="0"/>
              <a:t> вынести в отдельный раздел Работа с мультимедиа</a:t>
            </a:r>
          </a:p>
        </p:txBody>
      </p:sp>
    </p:spTree>
    <p:extLst>
      <p:ext uri="{BB962C8B-B14F-4D97-AF65-F5344CB8AC3E}">
        <p14:creationId xmlns:p14="http://schemas.microsoft.com/office/powerpoint/2010/main" val="272727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Изображения логичнее размещать с заголовками</a:t>
            </a:r>
            <a:endParaRPr lang="en-US" dirty="0"/>
          </a:p>
          <a:p>
            <a:r>
              <a:rPr lang="ru-RU" dirty="0"/>
              <a:t>Чтобы было понятно, что заголовок относится к изображению, логично разместить</a:t>
            </a:r>
            <a:r>
              <a:rPr lang="en-US" dirty="0"/>
              <a:t> p </a:t>
            </a:r>
            <a:r>
              <a:rPr lang="ru-RU" dirty="0"/>
              <a:t>и 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ru-RU" dirty="0"/>
              <a:t>в одном </a:t>
            </a:r>
            <a:r>
              <a:rPr lang="en-US" dirty="0"/>
              <a:t>div:</a:t>
            </a:r>
          </a:p>
          <a:p>
            <a:pPr marL="0" indent="0">
              <a:buNone/>
            </a:pPr>
            <a:r>
              <a:rPr lang="en-US" dirty="0"/>
              <a:t>&lt;div&gt;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534988">
              <a:buNone/>
            </a:pPr>
            <a:r>
              <a:rPr lang="en-US" dirty="0"/>
              <a:t>&lt;p&gt;</a:t>
            </a:r>
            <a:r>
              <a:rPr lang="ru-RU" dirty="0"/>
              <a:t>Подпись рисунка</a:t>
            </a:r>
            <a:r>
              <a:rPr lang="en-US" dirty="0"/>
              <a:t>&lt;/p&gt;</a:t>
            </a:r>
          </a:p>
          <a:p>
            <a:pPr marL="0" indent="0">
              <a:buNone/>
            </a:pPr>
            <a:r>
              <a:rPr lang="en-US" dirty="0"/>
              <a:t>&lt;/div&gt;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07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 такое объединение может быть малопонятным для просматривающего код, поэтому в </a:t>
            </a:r>
            <a:r>
              <a:rPr lang="en-US" dirty="0"/>
              <a:t>HTML5 </a:t>
            </a:r>
            <a:r>
              <a:rPr lang="ru-RU" dirty="0"/>
              <a:t>была введена пара </a:t>
            </a:r>
            <a:r>
              <a:rPr lang="en-US" dirty="0" err="1"/>
              <a:t>figure+figcaption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&lt;figure&gt;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534988">
              <a:buNone/>
            </a:pPr>
            <a:r>
              <a:rPr lang="en-US" dirty="0"/>
              <a:t>&lt;</a:t>
            </a:r>
            <a:r>
              <a:rPr lang="en-US" dirty="0" err="1"/>
              <a:t>figcaption</a:t>
            </a:r>
            <a:r>
              <a:rPr lang="en-US" dirty="0"/>
              <a:t>&gt;</a:t>
            </a:r>
            <a:r>
              <a:rPr lang="ru-RU" dirty="0"/>
              <a:t>Подпись рисунка</a:t>
            </a:r>
            <a:r>
              <a:rPr lang="en-US" dirty="0"/>
              <a:t>&lt;</a:t>
            </a:r>
            <a:r>
              <a:rPr lang="en-US" dirty="0" err="1"/>
              <a:t>figcaption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&lt;/figure&gt;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67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omplete List Audio/Video File Formats for Your Applications">
            <a:extLst>
              <a:ext uri="{FF2B5EF4-FFF2-40B4-BE49-F238E27FC236}">
                <a16:creationId xmlns:a16="http://schemas.microsoft.com/office/drawing/2014/main" id="{6E9BB00C-F25F-4782-9CB7-BCEF457AA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" t="15874" r="51982" b="14532"/>
          <a:stretch/>
        </p:blipFill>
        <p:spPr bwMode="auto">
          <a:xfrm>
            <a:off x="312233" y="1583473"/>
            <a:ext cx="3441919" cy="264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chnical Info Digital audio file formats explained.">
            <a:extLst>
              <a:ext uri="{FF2B5EF4-FFF2-40B4-BE49-F238E27FC236}">
                <a16:creationId xmlns:a16="http://schemas.microsoft.com/office/drawing/2014/main" id="{3CFF895F-14F5-4CB1-8AC5-1E018B24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665" y="3852269"/>
            <a:ext cx="4765380" cy="282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C5B6ED-3393-4174-8A6E-C1E6963E2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867" y="1583473"/>
            <a:ext cx="4248743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4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982AE0-E239-4784-949B-C95247696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045" y="2152185"/>
            <a:ext cx="6387910" cy="31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Сравнение WebP с популярными декодерами PNG">
            <a:extLst>
              <a:ext uri="{FF2B5EF4-FFF2-40B4-BE49-F238E27FC236}">
                <a16:creationId xmlns:a16="http://schemas.microsoft.com/office/drawing/2014/main" id="{F7B8DE03-CDC3-43A8-82BA-7C31C2C5A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123030"/>
            <a:ext cx="6105254" cy="349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равнение WEBP с JPG / Блог с перчинкой">
            <a:extLst>
              <a:ext uri="{FF2B5EF4-FFF2-40B4-BE49-F238E27FC236}">
                <a16:creationId xmlns:a16="http://schemas.microsoft.com/office/drawing/2014/main" id="{B113D816-6C1D-40C5-A995-33453B2DE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971" y="205716"/>
            <a:ext cx="4408449" cy="275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PEG Vs. Google's WebP">
            <a:extLst>
              <a:ext uri="{FF2B5EF4-FFF2-40B4-BE49-F238E27FC236}">
                <a16:creationId xmlns:a16="http://schemas.microsoft.com/office/drawing/2014/main" id="{25F18606-2F2F-4864-8E21-0F62359CB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749675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76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7203A6-1C10-484E-B76F-78017618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0" y="2415641"/>
            <a:ext cx="12041420" cy="31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8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При размещении изображений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en-US" dirty="0"/>
              <a:t>picture</a:t>
            </a:r>
            <a:r>
              <a:rPr lang="ru-RU" dirty="0"/>
              <a:t> можно указывать несколько источников разных типов через </a:t>
            </a:r>
            <a:r>
              <a:rPr lang="en-US" dirty="0"/>
              <a:t>source</a:t>
            </a:r>
            <a:r>
              <a:rPr lang="ru-RU" dirty="0"/>
              <a:t>, браузер пользователя выберет наиболее подходящий или покажет содержимое </a:t>
            </a: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&gt;, </a:t>
            </a:r>
            <a:r>
              <a:rPr lang="ru-RU" dirty="0"/>
              <a:t>если ни один из форматов не поддерживается: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&lt;picture&gt;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srcset</a:t>
            </a:r>
            <a:r>
              <a:rPr lang="en-US" dirty="0"/>
              <a:t>="</a:t>
            </a:r>
            <a:r>
              <a:rPr lang="en-US" dirty="0" err="1"/>
              <a:t>image.avif</a:t>
            </a:r>
            <a:r>
              <a:rPr lang="en-US" dirty="0"/>
              <a:t>" type="image/</a:t>
            </a:r>
            <a:r>
              <a:rPr lang="en-US" dirty="0" err="1"/>
              <a:t>avif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srcset</a:t>
            </a:r>
            <a:r>
              <a:rPr lang="en-US" dirty="0"/>
              <a:t>="</a:t>
            </a:r>
            <a:r>
              <a:rPr lang="en-US" dirty="0" err="1"/>
              <a:t>image.webp</a:t>
            </a:r>
            <a:r>
              <a:rPr lang="en-US" dirty="0"/>
              <a:t>" type="image/</a:t>
            </a:r>
            <a:r>
              <a:rPr lang="en-US" dirty="0" err="1"/>
              <a:t>webp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="image.jpg"/&gt;</a:t>
            </a:r>
          </a:p>
          <a:p>
            <a:pPr marL="0" indent="0">
              <a:buNone/>
            </a:pPr>
            <a:r>
              <a:rPr lang="en-US" dirty="0"/>
              <a:t>&lt;/picture&gt;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628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Аргумент </a:t>
            </a:r>
            <a:r>
              <a:rPr lang="en-US" dirty="0"/>
              <a:t>type </a:t>
            </a:r>
            <a:r>
              <a:rPr lang="ru-RU" dirty="0"/>
              <a:t>должен иметь значение формата выбранного медиафайла, чтобы браузер понимал, поддерживается ли он</a:t>
            </a:r>
          </a:p>
          <a:p>
            <a:r>
              <a:rPr lang="ru-RU" dirty="0"/>
              <a:t>Примеры форматов: </a:t>
            </a:r>
            <a:r>
              <a:rPr lang="en-US" dirty="0"/>
              <a:t>video/mp4</a:t>
            </a:r>
            <a:r>
              <a:rPr lang="ru-RU" dirty="0"/>
              <a:t>, </a:t>
            </a:r>
            <a:r>
              <a:rPr lang="en-US" dirty="0"/>
              <a:t>video/</a:t>
            </a:r>
            <a:r>
              <a:rPr lang="en-US" dirty="0" err="1"/>
              <a:t>webm</a:t>
            </a:r>
            <a:r>
              <a:rPr lang="en-US" dirty="0"/>
              <a:t>, video/</a:t>
            </a:r>
            <a:r>
              <a:rPr lang="en-US" dirty="0" err="1"/>
              <a:t>ogg</a:t>
            </a:r>
            <a:r>
              <a:rPr lang="en-US" dirty="0"/>
              <a:t>, audio/mp3, audio/</a:t>
            </a:r>
            <a:r>
              <a:rPr lang="en-US" dirty="0" err="1"/>
              <a:t>ogg</a:t>
            </a:r>
            <a:r>
              <a:rPr lang="en-US" dirty="0"/>
              <a:t>, audio/</a:t>
            </a:r>
            <a:r>
              <a:rPr lang="en-US" dirty="0" err="1"/>
              <a:t>aac</a:t>
            </a:r>
            <a:r>
              <a:rPr lang="en-US" dirty="0"/>
              <a:t>, image/</a:t>
            </a:r>
            <a:r>
              <a:rPr lang="en-US" dirty="0" err="1"/>
              <a:t>avif</a:t>
            </a:r>
            <a:r>
              <a:rPr lang="en-US" dirty="0"/>
              <a:t>, image/</a:t>
            </a:r>
            <a:r>
              <a:rPr lang="en-US" dirty="0" err="1"/>
              <a:t>webp</a:t>
            </a:r>
            <a:r>
              <a:rPr lang="en-US" dirty="0"/>
              <a:t>, image/gif, image/</a:t>
            </a:r>
            <a:r>
              <a:rPr lang="en-US" dirty="0" err="1"/>
              <a:t>png</a:t>
            </a:r>
            <a:r>
              <a:rPr lang="en-US" dirty="0"/>
              <a:t>, image/</a:t>
            </a:r>
            <a:r>
              <a:rPr lang="en-US" dirty="0" err="1"/>
              <a:t>svg+xml</a:t>
            </a:r>
            <a:r>
              <a:rPr lang="en-US" dirty="0"/>
              <a:t>, image/jpeg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367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VP9 encoding/decoding performance vs. HEVC/H.264 | Ronald S. Bultje">
            <a:extLst>
              <a:ext uri="{FF2B5EF4-FFF2-40B4-BE49-F238E27FC236}">
                <a16:creationId xmlns:a16="http://schemas.microsoft.com/office/drawing/2014/main" id="{72353551-BFD0-43CA-8636-0E98E9139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686" y="1444090"/>
            <a:ext cx="7090627" cy="516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885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аналогии</a:t>
            </a:r>
            <a:r>
              <a:rPr lang="en-US" dirty="0"/>
              <a:t> </a:t>
            </a:r>
            <a:r>
              <a:rPr lang="ru-RU" dirty="0"/>
              <a:t>с</a:t>
            </a:r>
            <a:r>
              <a:rPr lang="en-US" dirty="0"/>
              <a:t> picture</a:t>
            </a:r>
            <a:r>
              <a:rPr lang="ru-RU" dirty="0"/>
              <a:t> можно указывать несколько источников для видео, браузер покажет содержимое </a:t>
            </a:r>
            <a:r>
              <a:rPr lang="en-US" dirty="0"/>
              <a:t>&lt;p&gt;, </a:t>
            </a:r>
            <a:r>
              <a:rPr lang="ru-RU" dirty="0"/>
              <a:t>если ни один из форматов не поддерживается: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&lt;video controls&gt;</a:t>
            </a:r>
          </a:p>
          <a:p>
            <a:pPr marL="0" indent="0">
              <a:buNone/>
            </a:pPr>
            <a:r>
              <a:rPr lang="en-US" dirty="0"/>
              <a:t>	&lt;source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 err="1"/>
              <a:t>video.webm</a:t>
            </a:r>
            <a:r>
              <a:rPr lang="en-US" dirty="0"/>
              <a:t>" type="video/</a:t>
            </a:r>
            <a:r>
              <a:rPr lang="en-US" dirty="0" err="1"/>
              <a:t>webm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</a:t>
            </a:r>
            <a:r>
              <a:rPr lang="en-US" dirty="0"/>
              <a:t>="video.mp4" type="video/mp4"/&gt;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&lt;p&gt;Браузер не поддерживает </a:t>
            </a:r>
            <a:r>
              <a:rPr lang="ru-RU" dirty="0" err="1"/>
              <a:t>webm</a:t>
            </a:r>
            <a:r>
              <a:rPr lang="ru-RU" dirty="0"/>
              <a:t> или </a:t>
            </a:r>
            <a:r>
              <a:rPr lang="en-US" dirty="0"/>
              <a:t>mp4</a:t>
            </a:r>
            <a:r>
              <a:rPr lang="ru-RU" dirty="0"/>
              <a:t>&lt;/p&gt;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&lt;/video&gt;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258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100" name="Picture 4" descr="undefined">
            <a:extLst>
              <a:ext uri="{FF2B5EF4-FFF2-40B4-BE49-F238E27FC236}">
                <a16:creationId xmlns:a16="http://schemas.microsoft.com/office/drawing/2014/main" id="{60592CA0-77E9-48B7-8092-F0124FE02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496" y="1378816"/>
            <a:ext cx="7274157" cy="540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611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мультимедиа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Аналогично </a:t>
            </a:r>
            <a:r>
              <a:rPr lang="en-US" dirty="0"/>
              <a:t>video </a:t>
            </a:r>
            <a:r>
              <a:rPr lang="ru-RU" dirty="0"/>
              <a:t>можно указывать несколько источников </a:t>
            </a:r>
            <a:r>
              <a:rPr lang="en-US" dirty="0"/>
              <a:t>audio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&lt;audio controls&gt;</a:t>
            </a:r>
          </a:p>
          <a:p>
            <a:pPr marL="0" indent="0">
              <a:buNone/>
            </a:pPr>
            <a:r>
              <a:rPr lang="en-US" dirty="0"/>
              <a:t>	&lt;source </a:t>
            </a:r>
            <a:r>
              <a:rPr lang="en-US" dirty="0" err="1"/>
              <a:t>src</a:t>
            </a:r>
            <a:r>
              <a:rPr lang="en-US" dirty="0"/>
              <a:t>="audio.ogg" type="audio/</a:t>
            </a:r>
            <a:r>
              <a:rPr lang="en-US" dirty="0" err="1"/>
              <a:t>ogg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&lt;source </a:t>
            </a:r>
            <a:r>
              <a:rPr lang="en-US" dirty="0" err="1"/>
              <a:t>src</a:t>
            </a:r>
            <a:r>
              <a:rPr lang="en-US" dirty="0"/>
              <a:t>="audio.mp3" type="audio/mp3"/&gt;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&lt;p&gt;Браузер не поддерживает </a:t>
            </a:r>
            <a:r>
              <a:rPr lang="en-US" dirty="0" err="1"/>
              <a:t>ogg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mp3 (</a:t>
            </a:r>
            <a:r>
              <a:rPr lang="ru-RU" dirty="0" err="1"/>
              <a:t>лолшто</a:t>
            </a:r>
            <a:r>
              <a:rPr lang="ru-RU" dirty="0"/>
              <a:t>)&lt;/p&gt;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&lt;/audio&gt;</a:t>
            </a:r>
          </a:p>
          <a:p>
            <a:r>
              <a:rPr lang="ru-RU" dirty="0"/>
              <a:t>Формат </a:t>
            </a:r>
            <a:r>
              <a:rPr lang="en-US" dirty="0" err="1"/>
              <a:t>aac</a:t>
            </a:r>
            <a:r>
              <a:rPr lang="en-US" dirty="0"/>
              <a:t>, </a:t>
            </a:r>
            <a:r>
              <a:rPr lang="ru-RU" dirty="0"/>
              <a:t>имеет проблемы</a:t>
            </a:r>
            <a:r>
              <a:rPr lang="en-US" dirty="0"/>
              <a:t>/</a:t>
            </a:r>
            <a:r>
              <a:rPr lang="ru-RU" dirty="0"/>
              <a:t>особенности с поддержкой, за исключением </a:t>
            </a:r>
            <a:r>
              <a:rPr lang="en-US" dirty="0"/>
              <a:t>Safari</a:t>
            </a:r>
            <a:r>
              <a:rPr lang="ru-RU" dirty="0"/>
              <a:t> и современных версий </a:t>
            </a:r>
            <a:r>
              <a:rPr lang="en-US" dirty="0"/>
              <a:t>Chrome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033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F3B6B-5671-4A5E-9B7D-0E3180D8F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Прицепить после </a:t>
            </a:r>
            <a:r>
              <a:rPr lang="en-US" dirty="0"/>
              <a:t>iframe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9F980B-05EE-4B31-B6CE-2F669C5A5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68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Расширенный </a:t>
            </a:r>
            <a:r>
              <a:rPr lang="en-US" dirty="0"/>
              <a:t>HTML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умолчанию вызываемый </a:t>
            </a:r>
            <a:r>
              <a:rPr lang="en-US" dirty="0"/>
              <a:t>iframe </a:t>
            </a:r>
            <a:r>
              <a:rPr lang="ru-RU" dirty="0"/>
              <a:t>ресурс может иметь слишком много прав (выполнять скрипты и т.д.)</a:t>
            </a:r>
          </a:p>
          <a:p>
            <a:r>
              <a:rPr lang="ru-RU" dirty="0"/>
              <a:t>Чтобы ограничить права </a:t>
            </a:r>
            <a:r>
              <a:rPr lang="en-US" dirty="0"/>
              <a:t>iframe </a:t>
            </a:r>
            <a:r>
              <a:rPr lang="ru-RU" dirty="0"/>
              <a:t>нужно в его тег добавить аргумент </a:t>
            </a:r>
            <a:r>
              <a:rPr lang="en-US" dirty="0"/>
              <a:t>sandbox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72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F3B6B-5671-4A5E-9B7D-0E3180D8F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ru-RU" dirty="0"/>
              <a:t>продолжение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9F980B-05EE-4B31-B6CE-2F669C5A5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62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2" name="Picture 2" descr="three boxes sat inside one another. From outside to in they are labelled margin, border and padding">
            <a:extLst>
              <a:ext uri="{FF2B5EF4-FFF2-40B4-BE49-F238E27FC236}">
                <a16:creationId xmlns:a16="http://schemas.microsoft.com/office/drawing/2014/main" id="{2B560B88-0E0C-4338-83AC-9C15C3A74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253" y="1440657"/>
            <a:ext cx="6615494" cy="518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337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7CF46B-E351-4769-A665-A8E159071B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173"/>
          <a:stretch/>
        </p:blipFill>
        <p:spPr>
          <a:xfrm>
            <a:off x="2152649" y="1027906"/>
            <a:ext cx="7886700" cy="3556426"/>
          </a:xfrm>
          <a:prstGeom prst="rect">
            <a:avLst/>
          </a:prstGeom>
        </p:spPr>
      </p:pic>
      <p:pic>
        <p:nvPicPr>
          <p:cNvPr id="6148" name="Picture 4" descr="CSS Displays and Positioning 101 — Inline-blocks and Floats | by Rutger  McKenna | Analytics Vidhya | Medium">
            <a:extLst>
              <a:ext uri="{FF2B5EF4-FFF2-40B4-BE49-F238E27FC236}">
                <a16:creationId xmlns:a16="http://schemas.microsoft.com/office/drawing/2014/main" id="{90FAB050-9581-43B2-9D2B-904FCAFB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397" y="4574555"/>
            <a:ext cx="6909203" cy="191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0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6A5ADC-73B7-43C4-830D-6F84BC73D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254" y="2816479"/>
            <a:ext cx="7913772" cy="122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13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</a:t>
            </a:r>
            <a:r>
              <a:rPr lang="ru-RU" dirty="0"/>
              <a:t>– меняет тип элемента (</a:t>
            </a:r>
            <a:r>
              <a:rPr lang="en-US" dirty="0"/>
              <a:t>block – </a:t>
            </a:r>
            <a:r>
              <a:rPr lang="ru-RU" dirty="0"/>
              <a:t>блочный, можно применять отступы и легче задавать положение на странице), </a:t>
            </a:r>
            <a:r>
              <a:rPr lang="en-US" dirty="0"/>
              <a:t>inline – </a:t>
            </a:r>
            <a:r>
              <a:rPr lang="ru-RU" dirty="0"/>
              <a:t>строковый (как текст), </a:t>
            </a:r>
            <a:r>
              <a:rPr lang="en-US" dirty="0"/>
              <a:t>block-inline – </a:t>
            </a:r>
            <a:r>
              <a:rPr lang="ru-RU" dirty="0"/>
              <a:t>комбинация первых, </a:t>
            </a:r>
            <a:r>
              <a:rPr lang="en-US" dirty="0"/>
              <a:t>none –</a:t>
            </a:r>
            <a:r>
              <a:rPr lang="ru-RU" dirty="0"/>
              <a:t> не отображать</a:t>
            </a:r>
          </a:p>
          <a:p>
            <a:r>
              <a:rPr lang="en-US" dirty="0"/>
              <a:t>margin – </a:t>
            </a:r>
            <a:r>
              <a:rPr lang="ru-RU" dirty="0"/>
              <a:t>расстояние от границы блока до внешних элементов в %</a:t>
            </a:r>
            <a:endParaRPr lang="en-US" dirty="0"/>
          </a:p>
          <a:p>
            <a:r>
              <a:rPr lang="en-US" dirty="0"/>
              <a:t>padding – </a:t>
            </a:r>
            <a:r>
              <a:rPr lang="ru-RU" dirty="0"/>
              <a:t>расстояние от контента до границы блока в %</a:t>
            </a:r>
            <a:endParaRPr lang="en-US" dirty="0"/>
          </a:p>
          <a:p>
            <a:r>
              <a:rPr lang="en-US" dirty="0"/>
              <a:t>border – </a:t>
            </a:r>
            <a:r>
              <a:rPr lang="ru-RU" dirty="0"/>
              <a:t>параметры границы блока</a:t>
            </a:r>
            <a:r>
              <a:rPr lang="en-US" dirty="0"/>
              <a:t> (</a:t>
            </a:r>
            <a:r>
              <a:rPr lang="ru-RU" dirty="0"/>
              <a:t>цвет и тип</a:t>
            </a:r>
            <a:r>
              <a:rPr lang="en-US" dirty="0"/>
              <a:t> – black solid)</a:t>
            </a:r>
          </a:p>
          <a:p>
            <a:r>
              <a:rPr lang="en-US" dirty="0"/>
              <a:t>background-color – </a:t>
            </a:r>
            <a:r>
              <a:rPr lang="ru-RU" dirty="0"/>
              <a:t>цвет фона блока</a:t>
            </a:r>
          </a:p>
          <a:p>
            <a:r>
              <a:rPr lang="en-US" dirty="0"/>
              <a:t>width</a:t>
            </a:r>
            <a:r>
              <a:rPr lang="ru-RU" dirty="0"/>
              <a:t>, </a:t>
            </a:r>
            <a:r>
              <a:rPr lang="en-US" dirty="0"/>
              <a:t>height – </a:t>
            </a:r>
            <a:r>
              <a:rPr lang="ru-RU" dirty="0"/>
              <a:t>ширина и высота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54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4694E-DEAD-4087-B02F-E2CB9D1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A689-5C5A-490E-A621-93D98470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font-size</a:t>
            </a:r>
            <a:r>
              <a:rPr lang="ru-RU" dirty="0"/>
              <a:t> – размер шрифта</a:t>
            </a:r>
          </a:p>
          <a:p>
            <a:r>
              <a:rPr lang="en-US" dirty="0"/>
              <a:t>font-family</a:t>
            </a:r>
            <a:r>
              <a:rPr lang="ru-RU" dirty="0"/>
              <a:t> – тип шрифта (семейство), может загружаться по ссылке через </a:t>
            </a:r>
            <a:r>
              <a:rPr lang="en-US" dirty="0"/>
              <a:t>link </a:t>
            </a:r>
            <a:r>
              <a:rPr lang="ru-RU" dirty="0"/>
              <a:t>в </a:t>
            </a:r>
            <a:r>
              <a:rPr lang="en-US" dirty="0"/>
              <a:t>head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D7A691-390D-4DB3-81C2-77788EC1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961" y="3429000"/>
            <a:ext cx="7336078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027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1955</Words>
  <Application>Microsoft Office PowerPoint</Application>
  <PresentationFormat>Широкоэкранный</PresentationFormat>
  <Paragraphs>133</Paragraphs>
  <Slides>21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Продолжение по оформлению страниц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Работа с мультимедиа</vt:lpstr>
      <vt:lpstr>Прицепить после iframe</vt:lpstr>
      <vt:lpstr>Расширенный HTML</vt:lpstr>
      <vt:lpstr>CSS продолжение</vt:lpstr>
      <vt:lpstr>CSS</vt:lpstr>
      <vt:lpstr>CSS</vt:lpstr>
      <vt:lpstr>CSS</vt:lpstr>
      <vt:lpstr>CSS</vt:lpstr>
      <vt:lpstr>CSS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Продолжение по CSS</dc:title>
  <dc:creator>andrey</dc:creator>
  <cp:lastModifiedBy>andrey</cp:lastModifiedBy>
  <cp:revision>62</cp:revision>
  <dcterms:created xsi:type="dcterms:W3CDTF">2024-07-18T06:21:18Z</dcterms:created>
  <dcterms:modified xsi:type="dcterms:W3CDTF">2024-07-18T09:45:07Z</dcterms:modified>
</cp:coreProperties>
</file>