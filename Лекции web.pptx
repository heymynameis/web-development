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6"/>
  </p:notesMasterIdLst>
  <p:sldIdLst>
    <p:sldId id="271" r:id="rId2"/>
    <p:sldId id="256" r:id="rId3"/>
    <p:sldId id="264" r:id="rId4"/>
    <p:sldId id="257" r:id="rId5"/>
    <p:sldId id="258" r:id="rId6"/>
    <p:sldId id="260" r:id="rId7"/>
    <p:sldId id="259" r:id="rId8"/>
    <p:sldId id="261" r:id="rId9"/>
    <p:sldId id="262" r:id="rId10"/>
    <p:sldId id="263" r:id="rId11"/>
    <p:sldId id="267" r:id="rId12"/>
    <p:sldId id="268" r:id="rId13"/>
    <p:sldId id="265" r:id="rId14"/>
    <p:sldId id="270" r:id="rId15"/>
    <p:sldId id="272" r:id="rId16"/>
    <p:sldId id="269" r:id="rId17"/>
    <p:sldId id="266" r:id="rId18"/>
    <p:sldId id="297" r:id="rId19"/>
    <p:sldId id="273" r:id="rId20"/>
    <p:sldId id="274" r:id="rId21"/>
    <p:sldId id="278" r:id="rId22"/>
    <p:sldId id="279" r:id="rId23"/>
    <p:sldId id="277" r:id="rId24"/>
    <p:sldId id="275" r:id="rId25"/>
    <p:sldId id="276" r:id="rId26"/>
    <p:sldId id="280" r:id="rId27"/>
    <p:sldId id="289" r:id="rId28"/>
    <p:sldId id="281" r:id="rId29"/>
    <p:sldId id="282" r:id="rId30"/>
    <p:sldId id="290" r:id="rId31"/>
    <p:sldId id="283" r:id="rId32"/>
    <p:sldId id="284" r:id="rId33"/>
    <p:sldId id="286" r:id="rId34"/>
    <p:sldId id="285" r:id="rId35"/>
    <p:sldId id="287" r:id="rId36"/>
    <p:sldId id="288" r:id="rId37"/>
    <p:sldId id="308" r:id="rId38"/>
    <p:sldId id="298" r:id="rId39"/>
    <p:sldId id="299" r:id="rId40"/>
    <p:sldId id="302" r:id="rId41"/>
    <p:sldId id="309" r:id="rId42"/>
    <p:sldId id="303" r:id="rId43"/>
    <p:sldId id="292" r:id="rId44"/>
    <p:sldId id="371" r:id="rId45"/>
    <p:sldId id="305" r:id="rId46"/>
    <p:sldId id="306" r:id="rId47"/>
    <p:sldId id="301" r:id="rId48"/>
    <p:sldId id="304" r:id="rId49"/>
    <p:sldId id="307" r:id="rId50"/>
    <p:sldId id="293" r:id="rId51"/>
    <p:sldId id="294" r:id="rId52"/>
    <p:sldId id="296" r:id="rId53"/>
    <p:sldId id="310" r:id="rId54"/>
    <p:sldId id="311" r:id="rId55"/>
    <p:sldId id="291" r:id="rId56"/>
    <p:sldId id="315" r:id="rId57"/>
    <p:sldId id="316" r:id="rId58"/>
    <p:sldId id="313" r:id="rId59"/>
    <p:sldId id="314" r:id="rId60"/>
    <p:sldId id="317" r:id="rId61"/>
    <p:sldId id="318" r:id="rId62"/>
    <p:sldId id="319" r:id="rId63"/>
    <p:sldId id="320" r:id="rId64"/>
    <p:sldId id="321" r:id="rId65"/>
    <p:sldId id="322" r:id="rId66"/>
    <p:sldId id="323" r:id="rId67"/>
    <p:sldId id="324" r:id="rId68"/>
    <p:sldId id="325" r:id="rId69"/>
    <p:sldId id="326" r:id="rId70"/>
    <p:sldId id="327" r:id="rId71"/>
    <p:sldId id="329" r:id="rId72"/>
    <p:sldId id="353" r:id="rId73"/>
    <p:sldId id="354" r:id="rId74"/>
    <p:sldId id="355" r:id="rId75"/>
    <p:sldId id="356" r:id="rId76"/>
    <p:sldId id="357" r:id="rId77"/>
    <p:sldId id="358" r:id="rId78"/>
    <p:sldId id="359" r:id="rId79"/>
    <p:sldId id="360" r:id="rId80"/>
    <p:sldId id="361" r:id="rId81"/>
    <p:sldId id="362" r:id="rId82"/>
    <p:sldId id="363" r:id="rId83"/>
    <p:sldId id="364" r:id="rId84"/>
    <p:sldId id="365" r:id="rId85"/>
    <p:sldId id="330" r:id="rId86"/>
    <p:sldId id="312" r:id="rId87"/>
    <p:sldId id="333" r:id="rId88"/>
    <p:sldId id="334" r:id="rId89"/>
    <p:sldId id="335" r:id="rId90"/>
    <p:sldId id="336" r:id="rId91"/>
    <p:sldId id="338" r:id="rId92"/>
    <p:sldId id="340" r:id="rId93"/>
    <p:sldId id="341" r:id="rId94"/>
    <p:sldId id="342" r:id="rId95"/>
    <p:sldId id="343" r:id="rId96"/>
    <p:sldId id="344" r:id="rId97"/>
    <p:sldId id="347" r:id="rId98"/>
    <p:sldId id="348" r:id="rId99"/>
    <p:sldId id="349" r:id="rId100"/>
    <p:sldId id="350" r:id="rId101"/>
    <p:sldId id="351" r:id="rId102"/>
    <p:sldId id="352" r:id="rId103"/>
    <p:sldId id="385" r:id="rId104"/>
    <p:sldId id="366" r:id="rId105"/>
    <p:sldId id="367" r:id="rId106"/>
    <p:sldId id="372" r:id="rId107"/>
    <p:sldId id="373" r:id="rId108"/>
    <p:sldId id="374" r:id="rId109"/>
    <p:sldId id="369" r:id="rId110"/>
    <p:sldId id="380" r:id="rId111"/>
    <p:sldId id="377" r:id="rId112"/>
    <p:sldId id="378" r:id="rId113"/>
    <p:sldId id="379" r:id="rId114"/>
    <p:sldId id="382" r:id="rId115"/>
    <p:sldId id="381" r:id="rId116"/>
    <p:sldId id="383" r:id="rId117"/>
    <p:sldId id="384" r:id="rId118"/>
    <p:sldId id="368" r:id="rId119"/>
    <p:sldId id="370" r:id="rId120"/>
    <p:sldId id="376" r:id="rId121"/>
    <p:sldId id="300" r:id="rId122"/>
    <p:sldId id="375" r:id="rId123"/>
    <p:sldId id="346" r:id="rId124"/>
    <p:sldId id="345" r:id="rId1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HTML" id="{E332C352-C516-483D-A145-BFC8A2A59FD9}">
          <p14:sldIdLst>
            <p14:sldId id="271"/>
            <p14:sldId id="256"/>
            <p14:sldId id="264"/>
            <p14:sldId id="257"/>
            <p14:sldId id="258"/>
            <p14:sldId id="260"/>
            <p14:sldId id="259"/>
            <p14:sldId id="261"/>
            <p14:sldId id="262"/>
            <p14:sldId id="263"/>
            <p14:sldId id="267"/>
            <p14:sldId id="268"/>
            <p14:sldId id="265"/>
            <p14:sldId id="270"/>
            <p14:sldId id="272"/>
            <p14:sldId id="269"/>
            <p14:sldId id="266"/>
            <p14:sldId id="297"/>
            <p14:sldId id="273"/>
            <p14:sldId id="274"/>
            <p14:sldId id="278"/>
            <p14:sldId id="279"/>
            <p14:sldId id="277"/>
            <p14:sldId id="275"/>
            <p14:sldId id="276"/>
            <p14:sldId id="280"/>
            <p14:sldId id="289"/>
            <p14:sldId id="281"/>
            <p14:sldId id="282"/>
            <p14:sldId id="290"/>
            <p14:sldId id="283"/>
            <p14:sldId id="284"/>
            <p14:sldId id="286"/>
            <p14:sldId id="285"/>
            <p14:sldId id="287"/>
            <p14:sldId id="288"/>
            <p14:sldId id="308"/>
            <p14:sldId id="298"/>
            <p14:sldId id="299"/>
            <p14:sldId id="302"/>
            <p14:sldId id="309"/>
            <p14:sldId id="303"/>
            <p14:sldId id="292"/>
            <p14:sldId id="371"/>
            <p14:sldId id="305"/>
            <p14:sldId id="306"/>
            <p14:sldId id="301"/>
            <p14:sldId id="304"/>
            <p14:sldId id="307"/>
            <p14:sldId id="293"/>
            <p14:sldId id="294"/>
            <p14:sldId id="296"/>
          </p14:sldIdLst>
        </p14:section>
        <p14:section name="2. Оформление страниц" id="{47AF4C80-82E2-405B-B4CD-9827B4F36DB0}">
          <p14:sldIdLst>
            <p14:sldId id="310"/>
            <p14:sldId id="311"/>
            <p14:sldId id="291"/>
            <p14:sldId id="315"/>
            <p14:sldId id="316"/>
            <p14:sldId id="313"/>
            <p14:sldId id="314"/>
            <p14:sldId id="317"/>
            <p14:sldId id="318"/>
            <p14:sldId id="319"/>
            <p14:sldId id="320"/>
            <p14:sldId id="321"/>
            <p14:sldId id="322"/>
            <p14:sldId id="323"/>
            <p14:sldId id="324"/>
            <p14:sldId id="325"/>
            <p14:sldId id="326"/>
            <p14:sldId id="327"/>
            <p14:sldId id="329"/>
            <p14:sldId id="353"/>
            <p14:sldId id="354"/>
            <p14:sldId id="355"/>
            <p14:sldId id="356"/>
            <p14:sldId id="357"/>
            <p14:sldId id="358"/>
            <p14:sldId id="359"/>
            <p14:sldId id="360"/>
            <p14:sldId id="361"/>
            <p14:sldId id="362"/>
            <p14:sldId id="363"/>
            <p14:sldId id="364"/>
            <p14:sldId id="365"/>
            <p14:sldId id="330"/>
            <p14:sldId id="312"/>
            <p14:sldId id="333"/>
            <p14:sldId id="334"/>
            <p14:sldId id="335"/>
            <p14:sldId id="336"/>
            <p14:sldId id="338"/>
            <p14:sldId id="340"/>
            <p14:sldId id="341"/>
            <p14:sldId id="342"/>
            <p14:sldId id="343"/>
            <p14:sldId id="344"/>
            <p14:sldId id="347"/>
            <p14:sldId id="348"/>
            <p14:sldId id="349"/>
            <p14:sldId id="350"/>
            <p14:sldId id="351"/>
            <p14:sldId id="352"/>
            <p14:sldId id="385"/>
            <p14:sldId id="366"/>
            <p14:sldId id="367"/>
            <p14:sldId id="372"/>
            <p14:sldId id="373"/>
            <p14:sldId id="374"/>
            <p14:sldId id="369"/>
            <p14:sldId id="380"/>
            <p14:sldId id="377"/>
            <p14:sldId id="378"/>
            <p14:sldId id="379"/>
            <p14:sldId id="382"/>
            <p14:sldId id="381"/>
            <p14:sldId id="383"/>
            <p14:sldId id="384"/>
            <p14:sldId id="368"/>
            <p14:sldId id="370"/>
            <p14:sldId id="376"/>
          </p14:sldIdLst>
        </p14:section>
        <p14:section name="3. JS" id="{E61333FD-BAF8-4612-90A9-96E29D7D228A}">
          <p14:sldIdLst>
            <p14:sldId id="300"/>
            <p14:sldId id="375"/>
            <p14:sldId id="346"/>
            <p14:sldId id="3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75446" autoAdjust="0"/>
  </p:normalViewPr>
  <p:slideViewPr>
    <p:cSldViewPr snapToGrid="0">
      <p:cViewPr varScale="1">
        <p:scale>
          <a:sx n="46" d="100"/>
          <a:sy n="46" d="100"/>
        </p:scale>
        <p:origin x="122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4EB71-2346-4C48-B272-BF0F73815E6C}" type="datetimeFigureOut">
              <a:rPr lang="ru-RU" smtClean="0"/>
              <a:t>30.07.2024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AC21F4-998D-4BCD-B9E5-CFA879D290F7}" type="slidenum">
              <a:rPr lang="ru-RU" smtClean="0"/>
              <a:t>‹#›</a:t>
            </a:fld>
            <a:endParaRPr lang="ru-RU"/>
          </a:p>
        </p:txBody>
      </p:sp>
    </p:spTree>
    <p:extLst>
      <p:ext uri="{BB962C8B-B14F-4D97-AF65-F5344CB8AC3E}">
        <p14:creationId xmlns:p14="http://schemas.microsoft.com/office/powerpoint/2010/main" val="3995269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validator.w3.org/"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Начнем с описания структуры курса. Как вы знаете, большую часть программных продуктов можно поделить на фронт и </a:t>
            </a:r>
            <a:r>
              <a:rPr lang="ru-RU" dirty="0" err="1"/>
              <a:t>бэкэнд</a:t>
            </a:r>
            <a:r>
              <a:rPr lang="ru-RU" dirty="0"/>
              <a:t> части, веб-программирование не исключение. Начнем мы с вами с простого, с </a:t>
            </a:r>
            <a:r>
              <a:rPr lang="ru-RU" dirty="0" err="1"/>
              <a:t>фронтэнда</a:t>
            </a:r>
            <a:r>
              <a:rPr lang="ru-RU" dirty="0"/>
              <a:t>, рассмотрим возможности </a:t>
            </a:r>
            <a:r>
              <a:rPr lang="en-US" dirty="0"/>
              <a:t>HTML </a:t>
            </a:r>
            <a:r>
              <a:rPr lang="ru-RU" dirty="0"/>
              <a:t>и </a:t>
            </a:r>
            <a:r>
              <a:rPr lang="en-US" dirty="0"/>
              <a:t>CSS </a:t>
            </a:r>
            <a:r>
              <a:rPr lang="ru-RU" dirty="0"/>
              <a:t>для ручной верстки страниц. Полученные в рамках этой части курса навыки пригодятся вам не только при создании сайтов или веб-приложений, если еще не касались данной тематики, некоторые виды приложений используют для формирования интерфейсов </a:t>
            </a:r>
            <a:r>
              <a:rPr lang="en-US" dirty="0"/>
              <a:t>XML</a:t>
            </a:r>
            <a:r>
              <a:rPr lang="ru-RU" dirty="0"/>
              <a:t>, </a:t>
            </a:r>
            <a:r>
              <a:rPr lang="en-US" dirty="0"/>
              <a:t>CSS, </a:t>
            </a:r>
            <a:r>
              <a:rPr lang="ru-RU" dirty="0"/>
              <a:t>даже </a:t>
            </a:r>
            <a:r>
              <a:rPr lang="en-US" dirty="0"/>
              <a:t>HTML</a:t>
            </a:r>
            <a:r>
              <a:rPr lang="ru-RU" dirty="0"/>
              <a:t>, однажды усвоив стандартизированную логику верстки электронных страниц вы сможете легко разбираться в побочных применениях подобных технологий. С бэкендом ситуация спорная, поскольку вы видите, что заявлены 3 различных языка программирования, тогда как, в целом, можно воспользоваться лишь одним для реализации, плюс-минус, одинакового уровня динамических страниц. Тогда зачем 3? А потому, что </a:t>
            </a:r>
            <a:r>
              <a:rPr lang="en-US" dirty="0"/>
              <a:t>JS</a:t>
            </a:r>
            <a:r>
              <a:rPr lang="ru-RU" dirty="0"/>
              <a:t>, очевидно, самый популярный язык, для него существует множество готовых скриптов, можно назвать его стандартом индустрии, если бы не совместимость. Существует мнение, что </a:t>
            </a:r>
            <a:r>
              <a:rPr lang="en-US" dirty="0"/>
              <a:t>PHP </a:t>
            </a:r>
            <a:r>
              <a:rPr lang="ru-RU" dirty="0"/>
              <a:t>отживает свой век, но порядка 80% интернет-ресурсов так или иначе его используют, даже </a:t>
            </a:r>
            <a:r>
              <a:rPr lang="en-US" dirty="0"/>
              <a:t>WordPress, </a:t>
            </a:r>
            <a:r>
              <a:rPr lang="ru-RU" dirty="0"/>
              <a:t>самая распространенная система управления сайтами, читай движок. В то же время, </a:t>
            </a:r>
            <a:r>
              <a:rPr lang="en-US" dirty="0"/>
              <a:t>JS, </a:t>
            </a:r>
            <a:r>
              <a:rPr lang="ru-RU" dirty="0"/>
              <a:t>и особенно использующая его платформа </a:t>
            </a:r>
            <a:r>
              <a:rPr lang="en-US" dirty="0"/>
              <a:t>Node.js</a:t>
            </a:r>
            <a:r>
              <a:rPr lang="ru-RU" dirty="0"/>
              <a:t>, выигрывает по производительности. </a:t>
            </a:r>
            <a:r>
              <a:rPr lang="en-US" dirty="0"/>
              <a:t>Python </a:t>
            </a:r>
            <a:r>
              <a:rPr lang="ru-RU" dirty="0"/>
              <a:t>же является, пожалуй, самым простым языком для создания динамических </a:t>
            </a:r>
            <a:r>
              <a:rPr lang="en-US" dirty="0"/>
              <a:t>web-</a:t>
            </a:r>
            <a:r>
              <a:rPr lang="ru-RU" dirty="0"/>
              <a:t>страниц и приложений. Большинство хостингов сейчас поддерживают все из озвученных языков для </a:t>
            </a:r>
            <a:r>
              <a:rPr lang="ru-RU" dirty="0" err="1"/>
              <a:t>бэкэнда</a:t>
            </a:r>
            <a:r>
              <a:rPr lang="ru-RU" dirty="0"/>
              <a:t>, но в зависимости от ситуации (нужен ли проект для старой платформы, важна ли производительность или требуется как можно быстрее осуществить разработку не очень масштабного проекта), веб-разработчик должен самостоятельно выбирать тот или иной инструмент, хотя и для большинства задач достаточно лишь </a:t>
            </a:r>
            <a:r>
              <a:rPr lang="en-US" dirty="0"/>
              <a:t>Node.js. </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a:t>
            </a:fld>
            <a:endParaRPr lang="ru-RU"/>
          </a:p>
        </p:txBody>
      </p:sp>
    </p:spTree>
    <p:extLst>
      <p:ext uri="{BB962C8B-B14F-4D97-AF65-F5344CB8AC3E}">
        <p14:creationId xmlns:p14="http://schemas.microsoft.com/office/powerpoint/2010/main" val="2619424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HTML </a:t>
            </a:r>
            <a:r>
              <a:rPr lang="ru-RU" dirty="0"/>
              <a:t>(</a:t>
            </a:r>
            <a:r>
              <a:rPr lang="en-US" dirty="0" err="1"/>
              <a:t>HyperText</a:t>
            </a:r>
            <a:r>
              <a:rPr lang="en-US" dirty="0"/>
              <a:t> Markup Language</a:t>
            </a:r>
            <a:r>
              <a:rPr lang="ru-RU" dirty="0"/>
              <a:t>) </a:t>
            </a:r>
            <a:r>
              <a:rPr lang="en-US" dirty="0"/>
              <a:t>– </a:t>
            </a:r>
            <a:r>
              <a:rPr lang="ru-RU" dirty="0"/>
              <a:t>гипертекстовый язык разметки</a:t>
            </a:r>
            <a:r>
              <a:rPr lang="en-US" dirty="0"/>
              <a:t> </a:t>
            </a:r>
            <a:r>
              <a:rPr lang="ru-RU" dirty="0"/>
              <a:t>документов. Документ </a:t>
            </a:r>
            <a:r>
              <a:rPr lang="en-US" dirty="0"/>
              <a:t>HTML</a:t>
            </a:r>
            <a:r>
              <a:rPr lang="ru-RU" dirty="0"/>
              <a:t> содержит теги, описывающие отдельные блоки страницы, в том числе интерактивные. Не является языком программирования, код страницы интерпретируется браузером или др. программой как макет страницы</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a:p>
            <a:r>
              <a:rPr lang="ru-RU" dirty="0"/>
              <a:t> </a:t>
            </a:r>
          </a:p>
        </p:txBody>
      </p:sp>
      <p:sp>
        <p:nvSpPr>
          <p:cNvPr id="4" name="Номер слайда 3"/>
          <p:cNvSpPr>
            <a:spLocks noGrp="1"/>
          </p:cNvSpPr>
          <p:nvPr>
            <p:ph type="sldNum" sz="quarter" idx="5"/>
          </p:nvPr>
        </p:nvSpPr>
        <p:spPr/>
        <p:txBody>
          <a:bodyPr/>
          <a:lstStyle/>
          <a:p>
            <a:fld id="{99AC21F4-998D-4BCD-B9E5-CFA879D290F7}" type="slidenum">
              <a:rPr lang="ru-RU" smtClean="0"/>
              <a:t>4</a:t>
            </a:fld>
            <a:endParaRPr lang="ru-RU"/>
          </a:p>
        </p:txBody>
      </p:sp>
    </p:spTree>
    <p:extLst>
      <p:ext uri="{BB962C8B-B14F-4D97-AF65-F5344CB8AC3E}">
        <p14:creationId xmlns:p14="http://schemas.microsoft.com/office/powerpoint/2010/main" val="1953648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Что же значит язык разметки? Строки такого языка будут содержать не отдельные команды, вызов функций или операции присвоения переменным значений, а описание отдельных частей структуры страницы. Эти части описываются с помощью тегов, конструкций с стандартизированными именами, заключенными в треугольные скобки. Если тег парный, то в промежутке между открывающим и закрывающим тегом располагается какой-то контент. Закрывающий тег будет совпадать по названию с открывающим, но содержать слэш в начале. В данном примере все теги парные, </a:t>
            </a:r>
            <a:r>
              <a:rPr lang="en-US" dirty="0"/>
              <a:t>html</a:t>
            </a:r>
            <a:r>
              <a:rPr lang="ru-RU" dirty="0"/>
              <a:t> задает область определения структуры всей страницы, </a:t>
            </a:r>
            <a:r>
              <a:rPr lang="en-US" dirty="0"/>
              <a:t>head –</a:t>
            </a:r>
            <a:r>
              <a:rPr lang="ru-RU" dirty="0"/>
              <a:t> параметры заголовка, </a:t>
            </a:r>
            <a:r>
              <a:rPr lang="en-US" dirty="0"/>
              <a:t>title </a:t>
            </a:r>
            <a:r>
              <a:rPr lang="ru-RU" dirty="0"/>
              <a:t>– сам заголовок, </a:t>
            </a:r>
            <a:r>
              <a:rPr lang="en-US" dirty="0"/>
              <a:t>body – </a:t>
            </a:r>
            <a:r>
              <a:rPr lang="ru-RU" dirty="0"/>
              <a:t>тело документа, отображаемое на странице, </a:t>
            </a:r>
            <a:r>
              <a:rPr lang="en-US" dirty="0"/>
              <a:t>p – </a:t>
            </a:r>
            <a:r>
              <a:rPr lang="ru-RU" dirty="0"/>
              <a:t>параграф текста, отображаемый в теле. </a:t>
            </a:r>
          </a:p>
        </p:txBody>
      </p:sp>
      <p:sp>
        <p:nvSpPr>
          <p:cNvPr id="4" name="Номер слайда 3"/>
          <p:cNvSpPr>
            <a:spLocks noGrp="1"/>
          </p:cNvSpPr>
          <p:nvPr>
            <p:ph type="sldNum" sz="quarter" idx="5"/>
          </p:nvPr>
        </p:nvSpPr>
        <p:spPr/>
        <p:txBody>
          <a:bodyPr/>
          <a:lstStyle/>
          <a:p>
            <a:fld id="{99AC21F4-998D-4BCD-B9E5-CFA879D290F7}" type="slidenum">
              <a:rPr lang="ru-RU" smtClean="0"/>
              <a:t>5</a:t>
            </a:fld>
            <a:endParaRPr lang="ru-RU"/>
          </a:p>
        </p:txBody>
      </p:sp>
    </p:spTree>
    <p:extLst>
      <p:ext uri="{BB962C8B-B14F-4D97-AF65-F5344CB8AC3E}">
        <p14:creationId xmlns:p14="http://schemas.microsoft.com/office/powerpoint/2010/main" val="3299146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Подробнее зафиксируем структурные особенности </a:t>
            </a:r>
            <a:r>
              <a:rPr lang="en-US" dirty="0"/>
              <a:t>HTML </a:t>
            </a:r>
            <a:r>
              <a:rPr lang="ru-RU" dirty="0"/>
              <a:t>позднее, а пока лишь запишем, что Элементарные единицы кода </a:t>
            </a:r>
            <a:r>
              <a:rPr lang="en-US" dirty="0"/>
              <a:t>HTML – </a:t>
            </a:r>
            <a:r>
              <a:rPr lang="ru-RU" dirty="0"/>
              <a:t>теги, ограниченные </a:t>
            </a:r>
            <a:r>
              <a:rPr lang="en-US" dirty="0"/>
              <a:t>&lt;&gt; </a:t>
            </a:r>
            <a:r>
              <a:rPr lang="ru-RU" dirty="0"/>
              <a:t>элементы, могут быть парными (открывающему </a:t>
            </a:r>
            <a:r>
              <a:rPr lang="en-US" dirty="0"/>
              <a:t>&lt;</a:t>
            </a:r>
            <a:r>
              <a:rPr lang="ru-RU" dirty="0"/>
              <a:t>тег</a:t>
            </a:r>
            <a:r>
              <a:rPr lang="en-US" dirty="0"/>
              <a:t>&gt; </a:t>
            </a:r>
            <a:r>
              <a:rPr lang="ru-RU" dirty="0"/>
              <a:t>соответствует закрывающий </a:t>
            </a:r>
            <a:r>
              <a:rPr lang="en-US" dirty="0"/>
              <a:t>&lt;/</a:t>
            </a:r>
            <a:r>
              <a:rPr lang="ru-RU" dirty="0"/>
              <a:t>тег</a:t>
            </a:r>
            <a:r>
              <a:rPr lang="en-US" dirty="0"/>
              <a:t>&gt;) </a:t>
            </a:r>
            <a:r>
              <a:rPr lang="ru-RU" dirty="0"/>
              <a:t>или одинарными</a:t>
            </a:r>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6</a:t>
            </a:fld>
            <a:endParaRPr lang="ru-RU"/>
          </a:p>
        </p:txBody>
      </p:sp>
    </p:spTree>
    <p:extLst>
      <p:ext uri="{BB962C8B-B14F-4D97-AF65-F5344CB8AC3E}">
        <p14:creationId xmlns:p14="http://schemas.microsoft.com/office/powerpoint/2010/main" val="1169558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Если вы уже пробовали создавать сайты на голом </a:t>
            </a:r>
            <a:r>
              <a:rPr lang="en-US" dirty="0"/>
              <a:t>HTML</a:t>
            </a:r>
            <a:r>
              <a:rPr lang="ru-RU" dirty="0"/>
              <a:t> в школе, то, скорее всего, работали с </a:t>
            </a:r>
            <a:r>
              <a:rPr lang="en-US" dirty="0"/>
              <a:t>HTML4. </a:t>
            </a:r>
            <a:r>
              <a:rPr lang="ru-RU" dirty="0"/>
              <a:t>Она до сих пор поддерживается браузерами, но с 2014 года основной является </a:t>
            </a:r>
            <a:r>
              <a:rPr lang="en-US" dirty="0"/>
              <a:t>HTML5. </a:t>
            </a:r>
            <a:r>
              <a:rPr lang="ru-RU" dirty="0"/>
              <a:t>В рамках курса мы познакомимся со структурой кода на обеих этих версиях, поскольку многие обучающие материалы, которые, при наличии интереса, вы самостоятельно будете изучать дома, опираются на </a:t>
            </a:r>
            <a:r>
              <a:rPr lang="en-US" dirty="0"/>
              <a:t>HTML4. </a:t>
            </a:r>
            <a:r>
              <a:rPr lang="ru-RU" dirty="0"/>
              <a:t>Все дело, конечно же, в его распространенности на протяжении крайне длительного времени. Тем не менее, знание его основ может помочь не только для понимания старых обучающих материалов, но и для реальных проектов. Некоторые заказчики могут потребовать от вас разработать проект на старой версии. К примеру, заказчик имеет, что сейчас довольно распространено, устаревшую версию какого-то встраиваемого оборудования, будь то банкомат, информационное табло, меню заказов или что-то иное. И эта железка, выпущенная в мезозое, совершенное не переваривает </a:t>
            </a:r>
            <a:r>
              <a:rPr lang="en-US" dirty="0"/>
              <a:t>HTML5,</a:t>
            </a:r>
            <a:r>
              <a:rPr lang="ru-RU" dirty="0"/>
              <a:t> менять он ее не хочет, поскольку такие системы стоят от десятков до нескольких сотен </a:t>
            </a:r>
            <a:r>
              <a:rPr lang="ru-RU" dirty="0" err="1"/>
              <a:t>килорублей</a:t>
            </a:r>
            <a:r>
              <a:rPr lang="ru-RU" dirty="0"/>
              <a:t>, а вам за приложение для этой системы предлагает неплохую сумму.</a:t>
            </a:r>
          </a:p>
        </p:txBody>
      </p:sp>
      <p:sp>
        <p:nvSpPr>
          <p:cNvPr id="4" name="Номер слайда 3"/>
          <p:cNvSpPr>
            <a:spLocks noGrp="1"/>
          </p:cNvSpPr>
          <p:nvPr>
            <p:ph type="sldNum" sz="quarter" idx="5"/>
          </p:nvPr>
        </p:nvSpPr>
        <p:spPr/>
        <p:txBody>
          <a:bodyPr/>
          <a:lstStyle/>
          <a:p>
            <a:fld id="{99AC21F4-998D-4BCD-B9E5-CFA879D290F7}" type="slidenum">
              <a:rPr lang="ru-RU" smtClean="0"/>
              <a:t>7</a:t>
            </a:fld>
            <a:endParaRPr lang="ru-RU"/>
          </a:p>
        </p:txBody>
      </p:sp>
    </p:spTree>
    <p:extLst>
      <p:ext uri="{BB962C8B-B14F-4D97-AF65-F5344CB8AC3E}">
        <p14:creationId xmlns:p14="http://schemas.microsoft.com/office/powerpoint/2010/main" val="1539377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Истоком </a:t>
            </a:r>
            <a:r>
              <a:rPr lang="en-US" dirty="0"/>
              <a:t>HTML </a:t>
            </a:r>
            <a:r>
              <a:rPr lang="ru-RU" dirty="0"/>
              <a:t>является </a:t>
            </a:r>
            <a:r>
              <a:rPr lang="en-US" dirty="0"/>
              <a:t>SGML</a:t>
            </a:r>
            <a:r>
              <a:rPr lang="ru-RU" dirty="0"/>
              <a:t> – </a:t>
            </a:r>
            <a:r>
              <a:rPr lang="en-US" dirty="0"/>
              <a:t>S</a:t>
            </a:r>
            <a:r>
              <a:rPr lang="ru-RU" dirty="0" err="1"/>
              <a:t>tandard</a:t>
            </a:r>
            <a:r>
              <a:rPr lang="ru-RU" dirty="0"/>
              <a:t> </a:t>
            </a:r>
            <a:r>
              <a:rPr lang="ru-RU" dirty="0" err="1"/>
              <a:t>Generalized</a:t>
            </a:r>
            <a:r>
              <a:rPr lang="ru-RU" dirty="0"/>
              <a:t> </a:t>
            </a:r>
            <a:r>
              <a:rPr lang="ru-RU" dirty="0" err="1"/>
              <a:t>Markup</a:t>
            </a:r>
            <a:r>
              <a:rPr lang="ru-RU" dirty="0"/>
              <a:t> Language — (стандартный обобщённый язык разметки) — метаязык, на котором можно определять язык разметки для документов</a:t>
            </a:r>
            <a:r>
              <a:rPr lang="en-US" dirty="0"/>
              <a:t>. </a:t>
            </a:r>
            <a:r>
              <a:rPr lang="ru-RU" dirty="0"/>
              <a:t>Из него также произошел </a:t>
            </a:r>
            <a:r>
              <a:rPr lang="en-US" dirty="0"/>
              <a:t>XML, </a:t>
            </a:r>
            <a:r>
              <a:rPr lang="ru-RU" dirty="0"/>
              <a:t>часто используемый и по сей день. Запишем также, что SGML – прародитель HTML4 и XML, содержит общие правила для создания электронных документов. Весь этот принцип тегов пошел именно отсюда, нам же важно знать лишь то, что </a:t>
            </a:r>
            <a:r>
              <a:rPr lang="en-US" dirty="0"/>
              <a:t>HTML4 </a:t>
            </a:r>
            <a:r>
              <a:rPr lang="ru-RU" dirty="0"/>
              <a:t>и </a:t>
            </a:r>
            <a:r>
              <a:rPr lang="en-US" dirty="0"/>
              <a:t>XML </a:t>
            </a:r>
            <a:r>
              <a:rPr lang="ru-RU" dirty="0"/>
              <a:t>близкие родственники, и поскольку </a:t>
            </a:r>
            <a:r>
              <a:rPr lang="en-US" dirty="0"/>
              <a:t>web-</a:t>
            </a:r>
            <a:r>
              <a:rPr lang="ru-RU" dirty="0"/>
              <a:t>разработчик должен уметь работать с ними обоими, стоит учитывать данную взаимосвязь. </a:t>
            </a:r>
            <a:r>
              <a:rPr lang="en-US" dirty="0"/>
              <a:t>XML</a:t>
            </a:r>
            <a:r>
              <a:rPr lang="ru-RU" dirty="0"/>
              <a:t> – </a:t>
            </a:r>
            <a:r>
              <a:rPr lang="en-US" dirty="0" err="1"/>
              <a:t>eXtensible</a:t>
            </a:r>
            <a:r>
              <a:rPr lang="en-US" dirty="0"/>
              <a:t> Markup Language</a:t>
            </a:r>
            <a:r>
              <a:rPr lang="ru-RU" dirty="0"/>
              <a:t> – расширенный язык разметки, используемый для хранения и обмена данными между приложениями (наряду с </a:t>
            </a:r>
            <a:r>
              <a:rPr lang="en-US" dirty="0"/>
              <a:t>JSON </a:t>
            </a:r>
            <a:r>
              <a:rPr lang="ru-RU" dirty="0"/>
              <a:t>и </a:t>
            </a:r>
            <a:r>
              <a:rPr lang="en-US" dirty="0"/>
              <a:t>CSV) </a:t>
            </a:r>
            <a:r>
              <a:rPr lang="ru-RU" dirty="0"/>
              <a:t>и верстки документов (</a:t>
            </a:r>
            <a:r>
              <a:rPr lang="en-US" dirty="0"/>
              <a:t>Word, FB2, …). </a:t>
            </a:r>
            <a:r>
              <a:rPr lang="ru-RU" dirty="0"/>
              <a:t>На слайде приведен пример </a:t>
            </a:r>
            <a:r>
              <a:rPr lang="en-US" dirty="0"/>
              <a:t>SGML – </a:t>
            </a:r>
            <a:r>
              <a:rPr lang="ru-RU" dirty="0"/>
              <a:t>здесь создается блок заметки типа пример, содержащий текст, часть которого выделена наклонным начертанием (</a:t>
            </a:r>
            <a:r>
              <a:rPr lang="en-US" dirty="0"/>
              <a:t>italic).</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8</a:t>
            </a:fld>
            <a:endParaRPr lang="ru-RU"/>
          </a:p>
        </p:txBody>
      </p:sp>
    </p:spTree>
    <p:extLst>
      <p:ext uri="{BB962C8B-B14F-4D97-AF65-F5344CB8AC3E}">
        <p14:creationId xmlns:p14="http://schemas.microsoft.com/office/powerpoint/2010/main" val="1316934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Также на карте развития</a:t>
            </a:r>
            <a:r>
              <a:rPr lang="en-US" dirty="0"/>
              <a:t> HTML </a:t>
            </a:r>
            <a:r>
              <a:rPr lang="ru-RU" dirty="0"/>
              <a:t>вы могли заметить </a:t>
            </a:r>
            <a:r>
              <a:rPr lang="en-US" dirty="0"/>
              <a:t>XHTML, </a:t>
            </a:r>
            <a:r>
              <a:rPr lang="ru-RU" dirty="0"/>
              <a:t>о котором мы не сказали пока ни слова. Дело в том, что </a:t>
            </a:r>
            <a:r>
              <a:rPr lang="en-US" dirty="0"/>
              <a:t>HTML4 </a:t>
            </a:r>
            <a:r>
              <a:rPr lang="ru-RU" dirty="0"/>
              <a:t>и его предшественники имели недостаток в виде разного отображения страниц в разных браузерах, каждый разработчик своего браузера внедрял особенности интерпретации кода </a:t>
            </a:r>
            <a:r>
              <a:rPr lang="en-US" dirty="0"/>
              <a:t>HTML</a:t>
            </a:r>
            <a:r>
              <a:rPr lang="ru-RU" dirty="0"/>
              <a:t>, из-за чего спроектированные под конкретный браузер страницы отображались в нем лучше, чем в других, ну а </a:t>
            </a:r>
            <a:r>
              <a:rPr lang="en-US" dirty="0"/>
              <a:t>web-</a:t>
            </a:r>
            <a:r>
              <a:rPr lang="ru-RU" dirty="0"/>
              <a:t>разработчику приходилось создавать различные версии страниц под различные браузеры. Положить конец этому безобразию и был призван </a:t>
            </a:r>
            <a:r>
              <a:rPr lang="en-US" dirty="0"/>
              <a:t>XHTML extensible hypertext markup language — </a:t>
            </a:r>
            <a:r>
              <a:rPr lang="ru-RU" dirty="0"/>
              <a:t>расширяемый язык гипертекстовой разметки – основанный на </a:t>
            </a:r>
            <a:r>
              <a:rPr lang="en-US" dirty="0"/>
              <a:t>XML </a:t>
            </a:r>
            <a:r>
              <a:rPr lang="ru-RU" dirty="0"/>
              <a:t>язык разметки </a:t>
            </a:r>
            <a:r>
              <a:rPr lang="en-US" dirty="0"/>
              <a:t>web-</a:t>
            </a:r>
            <a:r>
              <a:rPr lang="ru-RU" dirty="0"/>
              <a:t>страниц. В </a:t>
            </a:r>
            <a:r>
              <a:rPr lang="en-US" dirty="0"/>
              <a:t>XML, </a:t>
            </a:r>
            <a:r>
              <a:rPr lang="ru-RU" dirty="0"/>
              <a:t>в отличие от </a:t>
            </a:r>
            <a:r>
              <a:rPr lang="en-US" dirty="0"/>
              <a:t>HTML4, </a:t>
            </a:r>
            <a:r>
              <a:rPr lang="ru-RU" dirty="0"/>
              <a:t>не допускалась коррекция или пропуск ошибок в коде браузером, из-за чего разработчику как страницы, так и браузера, приходилось использовать общие правила, заложенные в данном языке. С выходом </a:t>
            </a:r>
            <a:r>
              <a:rPr lang="en-US" dirty="0"/>
              <a:t>HTML5 </a:t>
            </a:r>
            <a:r>
              <a:rPr lang="ru-RU" dirty="0"/>
              <a:t>данный проект был свернут и ныне встречается на некоторых сайтах в исходном коде, но распространен слабо. Сама структура основных блоков </a:t>
            </a:r>
            <a:r>
              <a:rPr lang="en-US" dirty="0"/>
              <a:t>XHTML </a:t>
            </a:r>
            <a:r>
              <a:rPr lang="ru-RU" dirty="0"/>
              <a:t>повторяет </a:t>
            </a:r>
            <a:r>
              <a:rPr lang="en-US" dirty="0"/>
              <a:t>HTML4.</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9</a:t>
            </a:fld>
            <a:endParaRPr lang="ru-RU"/>
          </a:p>
        </p:txBody>
      </p:sp>
    </p:spTree>
    <p:extLst>
      <p:ext uri="{BB962C8B-B14F-4D97-AF65-F5344CB8AC3E}">
        <p14:creationId xmlns:p14="http://schemas.microsoft.com/office/powerpoint/2010/main" val="3272713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Запишем себе все вышеописанное вкратце: </a:t>
            </a:r>
            <a:r>
              <a:rPr lang="en-US" dirty="0"/>
              <a:t>XHTML – </a:t>
            </a:r>
            <a:r>
              <a:rPr lang="ru-RU" dirty="0"/>
              <a:t>основанная на </a:t>
            </a:r>
            <a:r>
              <a:rPr lang="en-US" dirty="0"/>
              <a:t>XML </a:t>
            </a:r>
            <a:r>
              <a:rPr lang="ru-RU" dirty="0"/>
              <a:t>реализация </a:t>
            </a:r>
            <a:r>
              <a:rPr lang="en-US" dirty="0"/>
              <a:t>HTML4-</a:t>
            </a:r>
            <a:r>
              <a:rPr lang="ru-RU" dirty="0"/>
              <a:t>подобного языка со строгим отношением к ошибкам кода, потерявший актуальность с выходом </a:t>
            </a:r>
            <a:r>
              <a:rPr lang="en-US" dirty="0"/>
              <a:t>HTML5, </a:t>
            </a:r>
            <a:r>
              <a:rPr lang="ru-RU" dirty="0"/>
              <a:t>но иногда встречающийся</a:t>
            </a:r>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10</a:t>
            </a:fld>
            <a:endParaRPr lang="ru-RU"/>
          </a:p>
        </p:txBody>
      </p:sp>
    </p:spTree>
    <p:extLst>
      <p:ext uri="{BB962C8B-B14F-4D97-AF65-F5344CB8AC3E}">
        <p14:creationId xmlns:p14="http://schemas.microsoft.com/office/powerpoint/2010/main" val="114537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Поскольку </a:t>
            </a:r>
            <a:r>
              <a:rPr lang="en-US" dirty="0"/>
              <a:t>HTML </a:t>
            </a:r>
            <a:r>
              <a:rPr lang="ru-RU" dirty="0"/>
              <a:t>допускает от пользователя ошибки в составлении структуры документа, существуют инструменты для проверки верности верстки или валидации.</a:t>
            </a:r>
          </a:p>
        </p:txBody>
      </p:sp>
      <p:sp>
        <p:nvSpPr>
          <p:cNvPr id="4" name="Номер слайда 3"/>
          <p:cNvSpPr>
            <a:spLocks noGrp="1"/>
          </p:cNvSpPr>
          <p:nvPr>
            <p:ph type="sldNum" sz="quarter" idx="5"/>
          </p:nvPr>
        </p:nvSpPr>
        <p:spPr/>
        <p:txBody>
          <a:bodyPr/>
          <a:lstStyle/>
          <a:p>
            <a:fld id="{99AC21F4-998D-4BCD-B9E5-CFA879D290F7}" type="slidenum">
              <a:rPr lang="ru-RU" smtClean="0"/>
              <a:t>11</a:t>
            </a:fld>
            <a:endParaRPr lang="ru-RU"/>
          </a:p>
        </p:txBody>
      </p:sp>
    </p:spTree>
    <p:extLst>
      <p:ext uri="{BB962C8B-B14F-4D97-AF65-F5344CB8AC3E}">
        <p14:creationId xmlns:p14="http://schemas.microsoft.com/office/powerpoint/2010/main" val="926441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Запишем, что Валидация HTML-документа предназначена для выявления ошибок в синтаксисе веб-страницы и расхождений со спецификацией HTML программой-валидатором</a:t>
            </a:r>
            <a:endParaRPr lang="en-US" dirty="0"/>
          </a:p>
          <a:p>
            <a:r>
              <a:rPr lang="ru-RU" dirty="0"/>
              <a:t>Примеры валидаторов: </a:t>
            </a:r>
            <a:r>
              <a:rPr lang="en-US" dirty="0"/>
              <a:t>Tidy, </a:t>
            </a:r>
            <a:r>
              <a:rPr lang="en-US" dirty="0">
                <a:hlinkClick r:id="rId3"/>
              </a:rPr>
              <a:t>https://validator.w3.org/</a:t>
            </a:r>
            <a:r>
              <a:rPr lang="en-US" dirty="0"/>
              <a:t> </a:t>
            </a:r>
            <a:endParaRPr lang="ru-RU" dirty="0"/>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12</a:t>
            </a:fld>
            <a:endParaRPr lang="ru-RU"/>
          </a:p>
        </p:txBody>
      </p:sp>
    </p:spTree>
    <p:extLst>
      <p:ext uri="{BB962C8B-B14F-4D97-AF65-F5344CB8AC3E}">
        <p14:creationId xmlns:p14="http://schemas.microsoft.com/office/powerpoint/2010/main" val="2525335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000000"/>
                </a:solidFill>
                <a:effectLst/>
                <a:latin typeface="Arial" panose="020B0604020202020204" pitchFamily="34" charset="0"/>
              </a:rPr>
              <a:t>Теги бывают двух типов — одиночные и парные (контейнеры). Одиночный тег используется самостоятельно, а парный может включать внутри себя другие теги или текст. У тегов допустимы различные атрибуты, которые разделяются между собой пробелом. Впрочем, есть теги без всяких дополнительных атрибутов. Условно атрибуты можно подразделить на обязательные, они непременно должны присутствовать, и необязательные, их добавление зависит от цели применения тега. Здесь на первом скриншоте приведен пример парного тега параграфа, на втором – одиночного тега изображения, а конкретный атрибут выделен на третьем скриншоте</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14</a:t>
            </a:fld>
            <a:endParaRPr lang="ru-RU"/>
          </a:p>
        </p:txBody>
      </p:sp>
    </p:spTree>
    <p:extLst>
      <p:ext uri="{BB962C8B-B14F-4D97-AF65-F5344CB8AC3E}">
        <p14:creationId xmlns:p14="http://schemas.microsoft.com/office/powerpoint/2010/main" val="2637915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000000"/>
                </a:solidFill>
                <a:effectLst/>
                <a:latin typeface="Arial" panose="020B0604020202020204" pitchFamily="34" charset="0"/>
              </a:rPr>
              <a:t>Запишем себе кратко, </a:t>
            </a:r>
            <a:r>
              <a:rPr lang="ru-RU" dirty="0"/>
              <a:t>Теги могут содержать атрибуты, меняющие параметры форматирования содержимого тега:</a:t>
            </a:r>
          </a:p>
          <a:p>
            <a:pPr indent="309563"/>
            <a:r>
              <a:rPr lang="ru-RU" dirty="0"/>
              <a:t>&lt;тег атрибут1="значение" атрибут2="значение"&gt;</a:t>
            </a:r>
          </a:p>
          <a:p>
            <a:pPr indent="309563"/>
            <a:r>
              <a:rPr lang="ru-RU" dirty="0"/>
              <a:t>&lt;тег атрибут1="значение" атрибут2="значение"&gt;...&lt;/тег&gt;</a:t>
            </a:r>
          </a:p>
          <a:p>
            <a:r>
              <a:rPr lang="ru-RU" dirty="0"/>
              <a:t>Парные теги также называют контейнерами</a:t>
            </a:r>
            <a:endParaRPr lang="en-US" dirty="0"/>
          </a:p>
          <a:p>
            <a:r>
              <a:rPr lang="ru-RU" dirty="0"/>
              <a:t>Порядок атрибутов не важен</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15</a:t>
            </a:fld>
            <a:endParaRPr lang="ru-RU"/>
          </a:p>
        </p:txBody>
      </p:sp>
    </p:spTree>
    <p:extLst>
      <p:ext uri="{BB962C8B-B14F-4D97-AF65-F5344CB8AC3E}">
        <p14:creationId xmlns:p14="http://schemas.microsoft.com/office/powerpoint/2010/main" val="47062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000000"/>
                </a:solidFill>
                <a:effectLst/>
                <a:latin typeface="Arial" panose="020B0604020202020204" pitchFamily="34" charset="0"/>
              </a:rPr>
              <a:t>Подробнее остановимся на структуре, или, как ее иногда называют, анатомией </a:t>
            </a:r>
            <a:r>
              <a:rPr lang="en-US" b="0" i="0" dirty="0">
                <a:solidFill>
                  <a:srgbClr val="000000"/>
                </a:solidFill>
                <a:effectLst/>
                <a:latin typeface="Arial" panose="020B0604020202020204" pitchFamily="34" charset="0"/>
              </a:rPr>
              <a:t>HTML </a:t>
            </a:r>
            <a:r>
              <a:rPr lang="ru-RU" b="0" i="0" dirty="0">
                <a:solidFill>
                  <a:srgbClr val="000000"/>
                </a:solidFill>
                <a:effectLst/>
                <a:latin typeface="Arial" panose="020B0604020202020204" pitchFamily="34" charset="0"/>
              </a:rPr>
              <a:t>документа. Зафиксируем себе следующую базовую структуру.</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16</a:t>
            </a:fld>
            <a:endParaRPr lang="ru-RU"/>
          </a:p>
        </p:txBody>
      </p:sp>
    </p:spTree>
    <p:extLst>
      <p:ext uri="{BB962C8B-B14F-4D97-AF65-F5344CB8AC3E}">
        <p14:creationId xmlns:p14="http://schemas.microsoft.com/office/powerpoint/2010/main" val="2463597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000000"/>
                </a:solidFill>
                <a:effectLst/>
                <a:latin typeface="Arial" panose="020B0604020202020204" pitchFamily="34" charset="0"/>
              </a:rPr>
              <a:t>Рассмотрим отдельные элементы такого документа. </a:t>
            </a:r>
            <a:r>
              <a:rPr lang="en-US" dirty="0"/>
              <a:t>&lt;!DOCTYPE html&gt;</a:t>
            </a:r>
            <a:r>
              <a:rPr lang="ru-RU" dirty="0"/>
              <a:t> - указание типа документа, требуется для корректной проверки ошибок валидатором или браузером. Ранее требовалось указывать не просто </a:t>
            </a:r>
            <a:r>
              <a:rPr lang="en-US" dirty="0"/>
              <a:t>html </a:t>
            </a:r>
            <a:r>
              <a:rPr lang="ru-RU" dirty="0"/>
              <a:t>в качестве типа, но конкретную версию </a:t>
            </a:r>
            <a:r>
              <a:rPr lang="en-US" dirty="0"/>
              <a:t>html </a:t>
            </a:r>
            <a:r>
              <a:rPr lang="ru-RU" dirty="0"/>
              <a:t>и даже ссылку на используемый стандарт верстки. С выходом </a:t>
            </a:r>
            <a:r>
              <a:rPr lang="en-US" dirty="0"/>
              <a:t>html5 </a:t>
            </a:r>
            <a:r>
              <a:rPr lang="ru-RU" dirty="0"/>
              <a:t>эта необходимость отпала, при указании такого тега безо всяких ссылок и версий валидатор поймет, что используется современный стандарт. Запишем также, что Если не указать, могут быть использованы устаревшие стандарты при проверке ошибок, для </a:t>
            </a:r>
            <a:r>
              <a:rPr lang="en-US" dirty="0"/>
              <a:t>html5</a:t>
            </a:r>
            <a:r>
              <a:rPr lang="ru-RU" dirty="0"/>
              <a:t> следует указывать этот тег.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Документ отражается последовательной обработкой всех тегов по порядку. Это важное правило, об особенностях работы с которым мы поговорим ниже. Пока просто скажем, что браузер или другой </a:t>
            </a:r>
            <a:r>
              <a:rPr lang="ru-RU" dirty="0" err="1"/>
              <a:t>просмотрщик</a:t>
            </a:r>
            <a:r>
              <a:rPr lang="ru-RU" dirty="0"/>
              <a:t> </a:t>
            </a:r>
            <a:r>
              <a:rPr lang="en-US" dirty="0"/>
              <a:t>HTML </a:t>
            </a:r>
            <a:r>
              <a:rPr lang="ru-RU" dirty="0"/>
              <a:t>заходит по очереди во все структурные части документов (такие как </a:t>
            </a:r>
            <a:r>
              <a:rPr lang="en-US" dirty="0"/>
              <a:t>head </a:t>
            </a:r>
            <a:r>
              <a:rPr lang="ru-RU" dirty="0"/>
              <a:t>и </a:t>
            </a:r>
            <a:r>
              <a:rPr lang="en-US" dirty="0"/>
              <a:t>body) </a:t>
            </a:r>
            <a:r>
              <a:rPr lang="ru-RU" dirty="0"/>
              <a:t>и </a:t>
            </a:r>
            <a:r>
              <a:rPr lang="ru-RU" dirty="0" err="1"/>
              <a:t>отрисовывает</a:t>
            </a:r>
            <a:r>
              <a:rPr lang="ru-RU" dirty="0"/>
              <a:t> документ интерпретацией тегов от самого верхнего к самому нижнему (конечно же, с учетом вложенных тегов, если имеются). В зафиксированном примере сначала будут обработаны две строки </a:t>
            </a:r>
            <a:r>
              <a:rPr lang="en-US" dirty="0"/>
              <a:t>head, </a:t>
            </a:r>
            <a:r>
              <a:rPr lang="ru-RU" dirty="0"/>
              <a:t>затем единственная строка </a:t>
            </a:r>
            <a:r>
              <a:rPr lang="en-US" dirty="0"/>
              <a:t>body.</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17</a:t>
            </a:fld>
            <a:endParaRPr lang="ru-RU"/>
          </a:p>
        </p:txBody>
      </p:sp>
    </p:spTree>
    <p:extLst>
      <p:ext uri="{BB962C8B-B14F-4D97-AF65-F5344CB8AC3E}">
        <p14:creationId xmlns:p14="http://schemas.microsoft.com/office/powerpoint/2010/main" val="235975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000000"/>
                </a:solidFill>
                <a:effectLst/>
                <a:latin typeface="Arial" panose="020B0604020202020204" pitchFamily="34" charset="0"/>
              </a:rPr>
              <a:t>На слайде приведено сравнение </a:t>
            </a:r>
            <a:r>
              <a:rPr lang="en-US" b="0" i="0" dirty="0">
                <a:solidFill>
                  <a:srgbClr val="000000"/>
                </a:solidFill>
                <a:effectLst/>
                <a:latin typeface="Arial" panose="020B0604020202020204" pitchFamily="34" charset="0"/>
              </a:rPr>
              <a:t>doctype </a:t>
            </a:r>
            <a:r>
              <a:rPr lang="ru-RU" b="0" i="0" dirty="0">
                <a:solidFill>
                  <a:srgbClr val="000000"/>
                </a:solidFill>
                <a:effectLst/>
                <a:latin typeface="Arial" panose="020B0604020202020204" pitchFamily="34" charset="0"/>
              </a:rPr>
              <a:t>тегов для разных </a:t>
            </a:r>
            <a:r>
              <a:rPr lang="ru-RU" b="0" i="0" dirty="0" err="1">
                <a:solidFill>
                  <a:srgbClr val="000000"/>
                </a:solidFill>
                <a:effectLst/>
                <a:latin typeface="Arial" panose="020B0604020202020204" pitchFamily="34" charset="0"/>
              </a:rPr>
              <a:t>станадартов</a:t>
            </a:r>
            <a:r>
              <a:rPr lang="ru-RU" b="0" i="0" dirty="0">
                <a:solidFill>
                  <a:srgbClr val="000000"/>
                </a:solidFill>
                <a:effectLst/>
                <a:latin typeface="Arial" panose="020B0604020202020204" pitchFamily="34" charset="0"/>
              </a:rPr>
              <a:t>. Как видим, с выходом </a:t>
            </a:r>
            <a:r>
              <a:rPr lang="en-US" b="0" i="0" dirty="0">
                <a:solidFill>
                  <a:srgbClr val="000000"/>
                </a:solidFill>
                <a:effectLst/>
                <a:latin typeface="Arial" panose="020B0604020202020204" pitchFamily="34" charset="0"/>
              </a:rPr>
              <a:t>htl5 </a:t>
            </a:r>
            <a:r>
              <a:rPr lang="ru-RU" b="0" i="0" dirty="0">
                <a:solidFill>
                  <a:srgbClr val="000000"/>
                </a:solidFill>
                <a:effectLst/>
                <a:latin typeface="Arial" panose="020B0604020202020204" pitchFamily="34" charset="0"/>
              </a:rPr>
              <a:t>все стало намного проще</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18</a:t>
            </a:fld>
            <a:endParaRPr lang="ru-RU"/>
          </a:p>
        </p:txBody>
      </p:sp>
    </p:spTree>
    <p:extLst>
      <p:ext uri="{BB962C8B-B14F-4D97-AF65-F5344CB8AC3E}">
        <p14:creationId xmlns:p14="http://schemas.microsoft.com/office/powerpoint/2010/main" val="214954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&lt;html&gt;&lt;/html&gt;</a:t>
            </a:r>
            <a:r>
              <a:rPr lang="ru-RU" dirty="0"/>
              <a:t> - корневой элемент страницы </a:t>
            </a:r>
            <a:r>
              <a:rPr lang="en-US" dirty="0"/>
              <a:t>html. </a:t>
            </a:r>
            <a:r>
              <a:rPr lang="ru-RU" dirty="0"/>
              <a:t>Все прочие теги и весь контент должен располагаться в нем</a:t>
            </a:r>
          </a:p>
        </p:txBody>
      </p:sp>
      <p:sp>
        <p:nvSpPr>
          <p:cNvPr id="4" name="Номер слайда 3"/>
          <p:cNvSpPr>
            <a:spLocks noGrp="1"/>
          </p:cNvSpPr>
          <p:nvPr>
            <p:ph type="sldNum" sz="quarter" idx="5"/>
          </p:nvPr>
        </p:nvSpPr>
        <p:spPr/>
        <p:txBody>
          <a:bodyPr/>
          <a:lstStyle/>
          <a:p>
            <a:fld id="{99AC21F4-998D-4BCD-B9E5-CFA879D290F7}" type="slidenum">
              <a:rPr lang="ru-RU" smtClean="0"/>
              <a:t>19</a:t>
            </a:fld>
            <a:endParaRPr lang="ru-RU"/>
          </a:p>
        </p:txBody>
      </p:sp>
    </p:spTree>
    <p:extLst>
      <p:ext uri="{BB962C8B-B14F-4D97-AF65-F5344CB8AC3E}">
        <p14:creationId xmlns:p14="http://schemas.microsoft.com/office/powerpoint/2010/main" val="3796763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&lt;head&gt;&lt;/head&gt;</a:t>
            </a:r>
            <a:r>
              <a:rPr lang="ru-RU" dirty="0"/>
              <a:t> - контейнер для содержимого веб-документа, не являющегося контентом – скрипты, заголовок страницы на вкладке в браузере, ключевые слова и описание страницы, стили </a:t>
            </a:r>
            <a:r>
              <a:rPr lang="en-US" dirty="0"/>
              <a:t>CSS </a:t>
            </a:r>
            <a:r>
              <a:rPr lang="ru-RU" dirty="0"/>
              <a:t>и др.</a:t>
            </a:r>
          </a:p>
        </p:txBody>
      </p:sp>
      <p:sp>
        <p:nvSpPr>
          <p:cNvPr id="4" name="Номер слайда 3"/>
          <p:cNvSpPr>
            <a:spLocks noGrp="1"/>
          </p:cNvSpPr>
          <p:nvPr>
            <p:ph type="sldNum" sz="quarter" idx="5"/>
          </p:nvPr>
        </p:nvSpPr>
        <p:spPr/>
        <p:txBody>
          <a:bodyPr/>
          <a:lstStyle/>
          <a:p>
            <a:fld id="{99AC21F4-998D-4BCD-B9E5-CFA879D290F7}" type="slidenum">
              <a:rPr lang="ru-RU" smtClean="0"/>
              <a:t>20</a:t>
            </a:fld>
            <a:endParaRPr lang="ru-RU"/>
          </a:p>
        </p:txBody>
      </p:sp>
    </p:spTree>
    <p:extLst>
      <p:ext uri="{BB962C8B-B14F-4D97-AF65-F5344CB8AC3E}">
        <p14:creationId xmlns:p14="http://schemas.microsoft.com/office/powerpoint/2010/main" val="271082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&lt;meta charset="utf-8"&gt;</a:t>
            </a:r>
            <a:r>
              <a:rPr lang="ru-RU" dirty="0"/>
              <a:t> - </a:t>
            </a:r>
            <a:r>
              <a:rPr lang="ru-RU" dirty="0" err="1"/>
              <a:t>метатег</a:t>
            </a:r>
            <a:r>
              <a:rPr lang="ru-RU" dirty="0"/>
              <a:t>, используется для передачи сведений браузеру информации обо всем документе (тип документа, ключевые слова, заголовки, …), в данном примере – кодировку текста. Курсивом здесь представлен пример </a:t>
            </a:r>
            <a:r>
              <a:rPr lang="ru-RU" dirty="0" err="1"/>
              <a:t>метатега</a:t>
            </a:r>
            <a:r>
              <a:rPr lang="ru-RU" dirty="0"/>
              <a:t>, который записывать мы не будем, содержащий ключевые слова для поисковой</a:t>
            </a:r>
            <a:r>
              <a:rPr lang="en-US" dirty="0"/>
              <a:t> </a:t>
            </a:r>
            <a:r>
              <a:rPr lang="ru-RU" dirty="0"/>
              <a:t>системы </a:t>
            </a:r>
            <a:r>
              <a:rPr lang="en-US" dirty="0" err="1"/>
              <a:t>duckduckgo</a:t>
            </a:r>
            <a:r>
              <a:rPr lang="en-US" dirty="0"/>
              <a:t>.</a:t>
            </a:r>
          </a:p>
        </p:txBody>
      </p:sp>
      <p:sp>
        <p:nvSpPr>
          <p:cNvPr id="4" name="Номер слайда 3"/>
          <p:cNvSpPr>
            <a:spLocks noGrp="1"/>
          </p:cNvSpPr>
          <p:nvPr>
            <p:ph type="sldNum" sz="quarter" idx="5"/>
          </p:nvPr>
        </p:nvSpPr>
        <p:spPr/>
        <p:txBody>
          <a:bodyPr/>
          <a:lstStyle/>
          <a:p>
            <a:fld id="{99AC21F4-998D-4BCD-B9E5-CFA879D290F7}" type="slidenum">
              <a:rPr lang="ru-RU" smtClean="0"/>
              <a:t>21</a:t>
            </a:fld>
            <a:endParaRPr lang="ru-RU"/>
          </a:p>
        </p:txBody>
      </p:sp>
    </p:spTree>
    <p:extLst>
      <p:ext uri="{BB962C8B-B14F-4D97-AF65-F5344CB8AC3E}">
        <p14:creationId xmlns:p14="http://schemas.microsoft.com/office/powerpoint/2010/main" val="1000910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&lt;title&gt;&lt;/title&gt; -</a:t>
            </a:r>
            <a:r>
              <a:rPr lang="ru-RU" dirty="0"/>
              <a:t> заголовок страницы, отображается как </a:t>
            </a:r>
            <a:r>
              <a:rPr lang="ru-RU" dirty="0" err="1"/>
              <a:t>загловок</a:t>
            </a:r>
            <a:r>
              <a:rPr lang="ru-RU" dirty="0"/>
              <a:t> вкладки в браузере, при сохранении страницы в закладки и т.п.</a:t>
            </a:r>
            <a:endParaRPr lang="ru-RU" i="1" dirty="0"/>
          </a:p>
        </p:txBody>
      </p:sp>
      <p:sp>
        <p:nvSpPr>
          <p:cNvPr id="4" name="Номер слайда 3"/>
          <p:cNvSpPr>
            <a:spLocks noGrp="1"/>
          </p:cNvSpPr>
          <p:nvPr>
            <p:ph type="sldNum" sz="quarter" idx="5"/>
          </p:nvPr>
        </p:nvSpPr>
        <p:spPr/>
        <p:txBody>
          <a:bodyPr/>
          <a:lstStyle/>
          <a:p>
            <a:fld id="{99AC21F4-998D-4BCD-B9E5-CFA879D290F7}" type="slidenum">
              <a:rPr lang="ru-RU" smtClean="0"/>
              <a:t>22</a:t>
            </a:fld>
            <a:endParaRPr lang="ru-RU"/>
          </a:p>
        </p:txBody>
      </p:sp>
    </p:spTree>
    <p:extLst>
      <p:ext uri="{BB962C8B-B14F-4D97-AF65-F5344CB8AC3E}">
        <p14:creationId xmlns:p14="http://schemas.microsoft.com/office/powerpoint/2010/main" val="2244451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&lt;body&gt;&lt;/body&gt; - </a:t>
            </a:r>
            <a:r>
              <a:rPr lang="ru-RU" dirty="0"/>
              <a:t>основное содержимое страницы – текст, медиафайлы, таблицы, скрипты и т.д.</a:t>
            </a:r>
          </a:p>
          <a:p>
            <a:r>
              <a:rPr lang="ru-RU" dirty="0"/>
              <a:t>Можно обратить внимание, что ранее мы уже сказали о том, что для скриптов предназначен </a:t>
            </a:r>
            <a:r>
              <a:rPr lang="en-US" dirty="0"/>
              <a:t>head, </a:t>
            </a:r>
            <a:r>
              <a:rPr lang="ru-RU" dirty="0"/>
              <a:t>так почему здесь говорим о том, что его можно разместить в </a:t>
            </a:r>
            <a:r>
              <a:rPr lang="en-US" dirty="0"/>
              <a:t>body?</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23</a:t>
            </a:fld>
            <a:endParaRPr lang="ru-RU"/>
          </a:p>
        </p:txBody>
      </p:sp>
    </p:spTree>
    <p:extLst>
      <p:ext uri="{BB962C8B-B14F-4D97-AF65-F5344CB8AC3E}">
        <p14:creationId xmlns:p14="http://schemas.microsoft.com/office/powerpoint/2010/main" val="3738432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Все дело в скорости и приоритете скриптов. Дело в том, что скрипты также подключаются тегами</a:t>
            </a:r>
            <a:r>
              <a:rPr lang="en-US" dirty="0"/>
              <a:t>. </a:t>
            </a:r>
            <a:r>
              <a:rPr lang="ru-RU" dirty="0"/>
              <a:t>Как было сказано выше, страница </a:t>
            </a:r>
            <a:r>
              <a:rPr lang="ru-RU" dirty="0" err="1"/>
              <a:t>отрисовывается</a:t>
            </a:r>
            <a:r>
              <a:rPr lang="ru-RU" dirty="0"/>
              <a:t> последовательным выполнением тегов, значит</a:t>
            </a:r>
            <a:r>
              <a:rPr lang="en-US" dirty="0"/>
              <a:t> </a:t>
            </a:r>
            <a:r>
              <a:rPr lang="ru-RU" dirty="0"/>
              <a:t>визуальные элементы страницы, которые содержатся в </a:t>
            </a:r>
            <a:r>
              <a:rPr lang="en-US" dirty="0"/>
              <a:t>body,</a:t>
            </a:r>
            <a:r>
              <a:rPr lang="ru-RU" dirty="0"/>
              <a:t> со скриптом в </a:t>
            </a:r>
            <a:r>
              <a:rPr lang="en-US" dirty="0"/>
              <a:t>head </a:t>
            </a:r>
            <a:r>
              <a:rPr lang="ru-RU" dirty="0"/>
              <a:t>не начнут </a:t>
            </a:r>
            <a:r>
              <a:rPr lang="ru-RU" dirty="0" err="1"/>
              <a:t>отрисовываться</a:t>
            </a:r>
            <a:r>
              <a:rPr lang="ru-RU" dirty="0"/>
              <a:t>, пока не будет загружен скрипт. Во время загрузки скриптов, которые бывают тяжеловесными, особенно для старых устройств, пользователь будет видеть пустую страницу, что не очень хорошо. Поэтому часто рекомендуют вставлять теги скриптов в конец </a:t>
            </a:r>
            <a:r>
              <a:rPr lang="en-US" dirty="0"/>
              <a:t>body, </a:t>
            </a:r>
            <a:r>
              <a:rPr lang="ru-RU" dirty="0"/>
              <a:t>чтобы вносимый скриптами интерактивный функционал подгружался уже после того, как перед пользователем будет находиться готовая к взаимодействию страница. В то же время, если ваши скрипты существенно меняют оформление страницы, может быть логичным оставить их именно в </a:t>
            </a:r>
            <a:r>
              <a:rPr lang="en-US" dirty="0"/>
              <a:t>head, </a:t>
            </a:r>
            <a:r>
              <a:rPr lang="ru-RU" dirty="0"/>
              <a:t>чтобы в процессе </a:t>
            </a:r>
            <a:r>
              <a:rPr lang="ru-RU" dirty="0" err="1"/>
              <a:t>прогрузки</a:t>
            </a:r>
            <a:r>
              <a:rPr lang="ru-RU" dirty="0"/>
              <a:t> страницы пользователю не приходилось наблюдать постоянно меняющийся интерфейс. </a:t>
            </a:r>
          </a:p>
        </p:txBody>
      </p:sp>
      <p:sp>
        <p:nvSpPr>
          <p:cNvPr id="4" name="Номер слайда 3"/>
          <p:cNvSpPr>
            <a:spLocks noGrp="1"/>
          </p:cNvSpPr>
          <p:nvPr>
            <p:ph type="sldNum" sz="quarter" idx="5"/>
          </p:nvPr>
        </p:nvSpPr>
        <p:spPr/>
        <p:txBody>
          <a:bodyPr/>
          <a:lstStyle/>
          <a:p>
            <a:fld id="{99AC21F4-998D-4BCD-B9E5-CFA879D290F7}" type="slidenum">
              <a:rPr lang="ru-RU" smtClean="0"/>
              <a:t>24</a:t>
            </a:fld>
            <a:endParaRPr lang="ru-RU"/>
          </a:p>
        </p:txBody>
      </p:sp>
    </p:spTree>
    <p:extLst>
      <p:ext uri="{BB962C8B-B14F-4D97-AF65-F5344CB8AC3E}">
        <p14:creationId xmlns:p14="http://schemas.microsoft.com/office/powerpoint/2010/main" val="39399306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Кратко запишем все описанное. Теги скриптов в большинстве случаев рекомендуют размещать в конце </a:t>
            </a:r>
            <a:r>
              <a:rPr lang="en-US" dirty="0"/>
              <a:t>body</a:t>
            </a:r>
            <a:r>
              <a:rPr lang="ru-RU" dirty="0"/>
              <a:t>, чтобы браузер обрабатывал их после того, как вывел основной контент страницы и пользователь получил доступ к нему как можно быстрее, пока в фоне подгружаются скрипты</a:t>
            </a:r>
          </a:p>
          <a:p>
            <a:r>
              <a:rPr lang="ru-RU" dirty="0"/>
              <a:t>Если скрипты легковесны и существенно влияют на оформление страницы – стоит размещать их теги в </a:t>
            </a:r>
            <a:r>
              <a:rPr lang="en-US" dirty="0"/>
              <a:t>head, </a:t>
            </a:r>
            <a:r>
              <a:rPr lang="ru-RU" dirty="0"/>
              <a:t>но необходимо проверить скорость загрузки перед публикацией. Какая-нибудь анимация снега из 00х в честь нового года поверх контента страницы</a:t>
            </a:r>
            <a:r>
              <a:rPr lang="en-US" dirty="0"/>
              <a:t> </a:t>
            </a:r>
            <a:r>
              <a:rPr lang="ru-RU" dirty="0"/>
              <a:t>или активация реакции на кнопку авторизации вряд ли ошарашит пользователя, появившись после загрузки страницы, а вот смена форм, цветов, расположения и т.д. блоков страницы может негативно сказаться на восприятии.</a:t>
            </a:r>
          </a:p>
        </p:txBody>
      </p:sp>
      <p:sp>
        <p:nvSpPr>
          <p:cNvPr id="4" name="Номер слайда 3"/>
          <p:cNvSpPr>
            <a:spLocks noGrp="1"/>
          </p:cNvSpPr>
          <p:nvPr>
            <p:ph type="sldNum" sz="quarter" idx="5"/>
          </p:nvPr>
        </p:nvSpPr>
        <p:spPr/>
        <p:txBody>
          <a:bodyPr/>
          <a:lstStyle/>
          <a:p>
            <a:fld id="{99AC21F4-998D-4BCD-B9E5-CFA879D290F7}" type="slidenum">
              <a:rPr lang="ru-RU" smtClean="0"/>
              <a:t>25</a:t>
            </a:fld>
            <a:endParaRPr lang="ru-RU"/>
          </a:p>
        </p:txBody>
      </p:sp>
    </p:spTree>
    <p:extLst>
      <p:ext uri="{BB962C8B-B14F-4D97-AF65-F5344CB8AC3E}">
        <p14:creationId xmlns:p14="http://schemas.microsoft.com/office/powerpoint/2010/main" val="3659808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&lt;</a:t>
            </a:r>
            <a:r>
              <a:rPr lang="ru-RU" dirty="0" err="1"/>
              <a:t>img</a:t>
            </a:r>
            <a:r>
              <a:rPr lang="ru-RU" dirty="0"/>
              <a:t> </a:t>
            </a:r>
            <a:r>
              <a:rPr lang="ru-RU" dirty="0" err="1"/>
              <a:t>src</a:t>
            </a:r>
            <a:r>
              <a:rPr lang="ru-RU" dirty="0"/>
              <a:t>="</a:t>
            </a:r>
            <a:r>
              <a:rPr lang="ru-RU" dirty="0" err="1"/>
              <a:t>img</a:t>
            </a:r>
            <a:r>
              <a:rPr lang="ru-RU" dirty="0"/>
              <a:t>/img.png" </a:t>
            </a:r>
            <a:r>
              <a:rPr lang="ru-RU" dirty="0" err="1"/>
              <a:t>alt</a:t>
            </a:r>
            <a:r>
              <a:rPr lang="ru-RU" dirty="0"/>
              <a:t>="Изображение" /&gt; - добавляет на страницу изображение.</a:t>
            </a:r>
          </a:p>
          <a:p>
            <a:r>
              <a:rPr lang="ru-RU" dirty="0"/>
              <a:t>Атрибуты:</a:t>
            </a:r>
          </a:p>
          <a:p>
            <a:r>
              <a:rPr lang="ru-RU" dirty="0" err="1"/>
              <a:t>src</a:t>
            </a:r>
            <a:r>
              <a:rPr lang="ru-RU" dirty="0"/>
              <a:t> – путь к файлу</a:t>
            </a: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err="1"/>
              <a:t>alt</a:t>
            </a:r>
            <a:r>
              <a:rPr lang="ru-RU" dirty="0"/>
              <a:t> – текст, отображаемый вместо изображения, если файл недоступен или включен режим для слабовидящих и т.п.</a:t>
            </a:r>
            <a:r>
              <a:rPr lang="en-US" dirty="0"/>
              <a:t> </a:t>
            </a:r>
            <a:r>
              <a:rPr lang="ru-RU" dirty="0"/>
              <a:t>Такой текст называют пояснительным и рекомендуется описывать в нем конкретное содержимое изображения, чтобы пользователь мог понять, что должно выводиться на странице, даже если файл изображения отсутствует. </a:t>
            </a:r>
            <a:r>
              <a:rPr lang="en-US" dirty="0"/>
              <a:t>title –</a:t>
            </a:r>
            <a:r>
              <a:rPr lang="ru-RU" dirty="0"/>
              <a:t> текст, отображаемый при наведении мышью на изображение.</a:t>
            </a:r>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26</a:t>
            </a:fld>
            <a:endParaRPr lang="ru-RU"/>
          </a:p>
        </p:txBody>
      </p:sp>
    </p:spTree>
    <p:extLst>
      <p:ext uri="{BB962C8B-B14F-4D97-AF65-F5344CB8AC3E}">
        <p14:creationId xmlns:p14="http://schemas.microsoft.com/office/powerpoint/2010/main" val="24145664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height="10" – </a:t>
            </a:r>
            <a:r>
              <a:rPr lang="ru-RU" dirty="0"/>
              <a:t>высота изображения в пикселах</a:t>
            </a:r>
          </a:p>
          <a:p>
            <a:r>
              <a:rPr lang="en-US" dirty="0"/>
              <a:t>width="10" – </a:t>
            </a:r>
            <a:r>
              <a:rPr lang="ru-RU" dirty="0"/>
              <a:t>ширина изображения в пикселах</a:t>
            </a:r>
          </a:p>
          <a:p>
            <a:r>
              <a:rPr lang="ru-RU" dirty="0"/>
              <a:t>Если указана только </a:t>
            </a:r>
            <a:r>
              <a:rPr lang="ru-RU" dirty="0" err="1"/>
              <a:t>height</a:t>
            </a:r>
            <a:r>
              <a:rPr lang="ru-RU" dirty="0"/>
              <a:t>/</a:t>
            </a:r>
            <a:r>
              <a:rPr lang="ru-RU" dirty="0" err="1"/>
              <a:t>width</a:t>
            </a:r>
            <a:r>
              <a:rPr lang="ru-RU" dirty="0"/>
              <a:t> – второй из параметров берется таким, чтобы сохранить исходные пропорции изображения</a:t>
            </a:r>
          </a:p>
          <a:p>
            <a:r>
              <a:rPr lang="en-US" dirty="0"/>
              <a:t>decoding</a:t>
            </a:r>
            <a:r>
              <a:rPr lang="ru-RU" dirty="0"/>
              <a:t>=</a:t>
            </a:r>
            <a:r>
              <a:rPr lang="en-US" dirty="0"/>
              <a:t>"</a:t>
            </a:r>
            <a:r>
              <a:rPr lang="ru-RU" dirty="0"/>
              <a:t>тип</a:t>
            </a:r>
            <a:r>
              <a:rPr lang="en-US" dirty="0"/>
              <a:t>"</a:t>
            </a:r>
            <a:r>
              <a:rPr lang="ru-RU" dirty="0"/>
              <a:t> – декодирование разных типов: </a:t>
            </a:r>
            <a:r>
              <a:rPr lang="en-US" dirty="0"/>
              <a:t>sync – </a:t>
            </a:r>
            <a:r>
              <a:rPr lang="ru-RU" dirty="0"/>
              <a:t>синхронно с загрузкой остального контента, </a:t>
            </a:r>
            <a:r>
              <a:rPr lang="en-US" dirty="0"/>
              <a:t>async – </a:t>
            </a:r>
            <a:r>
              <a:rPr lang="ru-RU" dirty="0"/>
              <a:t>асинхронно (в фоне параллельно другим элементам), </a:t>
            </a:r>
            <a:r>
              <a:rPr lang="en-US" dirty="0"/>
              <a:t>auto </a:t>
            </a:r>
            <a:r>
              <a:rPr lang="ru-RU" dirty="0"/>
              <a:t>– решает браузер</a:t>
            </a:r>
          </a:p>
          <a:p>
            <a:r>
              <a:rPr lang="en-US" dirty="0"/>
              <a:t>loading</a:t>
            </a:r>
            <a:r>
              <a:rPr lang="ru-RU" dirty="0"/>
              <a:t>=</a:t>
            </a:r>
            <a:r>
              <a:rPr lang="en-US" dirty="0"/>
              <a:t>"</a:t>
            </a:r>
            <a:r>
              <a:rPr lang="ru-RU" dirty="0"/>
              <a:t>тип</a:t>
            </a:r>
            <a:r>
              <a:rPr lang="en-US" dirty="0"/>
              <a:t>" – </a:t>
            </a:r>
            <a:r>
              <a:rPr lang="ru-RU" dirty="0"/>
              <a:t>загрузка, если тип </a:t>
            </a:r>
            <a:r>
              <a:rPr lang="en-US" dirty="0"/>
              <a:t>eager – </a:t>
            </a:r>
            <a:r>
              <a:rPr lang="ru-RU" dirty="0"/>
              <a:t>сразу же, независимо от того, в области ли оно просмотра, </a:t>
            </a:r>
            <a:r>
              <a:rPr lang="en-US" dirty="0"/>
              <a:t>lazy – </a:t>
            </a:r>
            <a:r>
              <a:rPr lang="ru-RU" dirty="0"/>
              <a:t>при приближении области просмотра к изображению</a:t>
            </a:r>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27</a:t>
            </a:fld>
            <a:endParaRPr lang="ru-RU"/>
          </a:p>
        </p:txBody>
      </p:sp>
    </p:spTree>
    <p:extLst>
      <p:ext uri="{BB962C8B-B14F-4D97-AF65-F5344CB8AC3E}">
        <p14:creationId xmlns:p14="http://schemas.microsoft.com/office/powerpoint/2010/main" val="906157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&lt;h1&gt;Главный заголовок&lt;/h1&gt;</a:t>
            </a:r>
          </a:p>
          <a:p>
            <a:r>
              <a:rPr lang="ru-RU" dirty="0"/>
              <a:t>&lt;h2&gt;Заголовок верхнего уровня&lt;/h2&gt;</a:t>
            </a:r>
          </a:p>
          <a:p>
            <a:r>
              <a:rPr lang="ru-RU" dirty="0"/>
              <a:t>&lt;h3&gt;Подзаголовок&lt;/h3&gt;</a:t>
            </a:r>
          </a:p>
          <a:p>
            <a:r>
              <a:rPr lang="ru-RU" dirty="0"/>
              <a:t>&lt;h4&gt;Под-подзаголовок&lt;/h4&gt;</a:t>
            </a:r>
          </a:p>
          <a:p>
            <a:r>
              <a:rPr lang="ru-RU" dirty="0"/>
              <a:t>Доступны 6 уровней заголовков, рекомендуется использовать не более 4</a:t>
            </a:r>
            <a:endParaRPr lang="en-US" dirty="0"/>
          </a:p>
          <a:p>
            <a:r>
              <a:rPr lang="ru-RU" dirty="0"/>
              <a:t>Браузер способен отобразить страницу с отдельными тегами, даже без </a:t>
            </a:r>
            <a:r>
              <a:rPr lang="ru-RU" dirty="0" err="1"/>
              <a:t>html</a:t>
            </a:r>
            <a:r>
              <a:rPr lang="ru-RU" dirty="0"/>
              <a:t>, </a:t>
            </a:r>
            <a:r>
              <a:rPr lang="ru-RU" dirty="0" err="1"/>
              <a:t>body</a:t>
            </a:r>
            <a:r>
              <a:rPr lang="ru-RU" dirty="0"/>
              <a:t> (как 4 строки выше), в этом случае браузер сам исправляет ошибку, подставляя эти теги при рендере. Тем самым, представленный здесь пример страницы с заголовками есть документ с расширением </a:t>
            </a:r>
            <a:r>
              <a:rPr lang="en-US" dirty="0"/>
              <a:t>.html,</a:t>
            </a:r>
            <a:r>
              <a:rPr lang="ru-RU" dirty="0"/>
              <a:t> содержащий только приведенные 4 тега.</a:t>
            </a:r>
            <a:endParaRPr lang="en-US" dirty="0"/>
          </a:p>
          <a:p>
            <a:r>
              <a:rPr lang="ru-RU" dirty="0"/>
              <a:t>Заголовки важны по двум причинам: большинство пользователей при открытии сайта обращают внимание, в первую очередь, на заголовки и поисковые системы при индексации также учитывают их в первую очередь.</a:t>
            </a:r>
          </a:p>
        </p:txBody>
      </p:sp>
      <p:sp>
        <p:nvSpPr>
          <p:cNvPr id="4" name="Номер слайда 3"/>
          <p:cNvSpPr>
            <a:spLocks noGrp="1"/>
          </p:cNvSpPr>
          <p:nvPr>
            <p:ph type="sldNum" sz="quarter" idx="5"/>
          </p:nvPr>
        </p:nvSpPr>
        <p:spPr/>
        <p:txBody>
          <a:bodyPr/>
          <a:lstStyle/>
          <a:p>
            <a:fld id="{99AC21F4-998D-4BCD-B9E5-CFA879D290F7}" type="slidenum">
              <a:rPr lang="ru-RU" smtClean="0"/>
              <a:t>28</a:t>
            </a:fld>
            <a:endParaRPr lang="ru-RU"/>
          </a:p>
        </p:txBody>
      </p:sp>
    </p:spTree>
    <p:extLst>
      <p:ext uri="{BB962C8B-B14F-4D97-AF65-F5344CB8AC3E}">
        <p14:creationId xmlns:p14="http://schemas.microsoft.com/office/powerpoint/2010/main" val="422471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&lt;p&gt;текст&lt;/p&gt; - одиночный абзац текста с переносом строки в конце</a:t>
            </a:r>
          </a:p>
          <a:p>
            <a:r>
              <a:rPr lang="ru-RU" dirty="0"/>
              <a:t>&lt;</a:t>
            </a:r>
            <a:r>
              <a:rPr lang="ru-RU" dirty="0" err="1"/>
              <a:t>ul</a:t>
            </a:r>
            <a:r>
              <a:rPr lang="ru-RU" dirty="0"/>
              <a:t>&gt;&lt;/</a:t>
            </a:r>
            <a:r>
              <a:rPr lang="ru-RU" dirty="0" err="1"/>
              <a:t>ul</a:t>
            </a:r>
            <a:r>
              <a:rPr lang="ru-RU" dirty="0"/>
              <a:t>&gt; - ненумерованный список</a:t>
            </a:r>
          </a:p>
          <a:p>
            <a:r>
              <a:rPr lang="ru-RU" dirty="0"/>
              <a:t>&lt;</a:t>
            </a:r>
            <a:r>
              <a:rPr lang="ru-RU" dirty="0" err="1"/>
              <a:t>ol</a:t>
            </a:r>
            <a:r>
              <a:rPr lang="ru-RU" dirty="0"/>
              <a:t>&gt;&lt;/</a:t>
            </a:r>
            <a:r>
              <a:rPr lang="ru-RU" dirty="0" err="1"/>
              <a:t>ol</a:t>
            </a:r>
            <a:r>
              <a:rPr lang="ru-RU" dirty="0"/>
              <a:t>&gt; - нумерованный список</a:t>
            </a:r>
          </a:p>
          <a:p>
            <a:r>
              <a:rPr lang="ru-RU" dirty="0"/>
              <a:t>&lt;</a:t>
            </a:r>
            <a:r>
              <a:rPr lang="ru-RU" dirty="0" err="1"/>
              <a:t>li</a:t>
            </a:r>
            <a:r>
              <a:rPr lang="ru-RU" dirty="0"/>
              <a:t>&gt;&lt;/</a:t>
            </a:r>
            <a:r>
              <a:rPr lang="ru-RU" dirty="0" err="1"/>
              <a:t>li</a:t>
            </a:r>
            <a:r>
              <a:rPr lang="ru-RU" dirty="0"/>
              <a:t>&gt; - элементы списка, вложены в &lt;</a:t>
            </a:r>
            <a:r>
              <a:rPr lang="ru-RU" dirty="0" err="1"/>
              <a:t>ul</a:t>
            </a:r>
            <a:r>
              <a:rPr lang="ru-RU" dirty="0"/>
              <a:t>&gt; или &lt;</a:t>
            </a:r>
            <a:r>
              <a:rPr lang="ru-RU" dirty="0" err="1"/>
              <a:t>ol</a:t>
            </a:r>
            <a:r>
              <a:rPr lang="ru-RU" dirty="0"/>
              <a:t>&gt;</a:t>
            </a:r>
          </a:p>
        </p:txBody>
      </p:sp>
      <p:sp>
        <p:nvSpPr>
          <p:cNvPr id="4" name="Номер слайда 3"/>
          <p:cNvSpPr>
            <a:spLocks noGrp="1"/>
          </p:cNvSpPr>
          <p:nvPr>
            <p:ph type="sldNum" sz="quarter" idx="5"/>
          </p:nvPr>
        </p:nvSpPr>
        <p:spPr/>
        <p:txBody>
          <a:bodyPr/>
          <a:lstStyle/>
          <a:p>
            <a:fld id="{99AC21F4-998D-4BCD-B9E5-CFA879D290F7}" type="slidenum">
              <a:rPr lang="ru-RU" smtClean="0"/>
              <a:t>29</a:t>
            </a:fld>
            <a:endParaRPr lang="ru-RU"/>
          </a:p>
        </p:txBody>
      </p:sp>
    </p:spTree>
    <p:extLst>
      <p:ext uri="{BB962C8B-B14F-4D97-AF65-F5344CB8AC3E}">
        <p14:creationId xmlns:p14="http://schemas.microsoft.com/office/powerpoint/2010/main" val="19836506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Теги для форматирования текста</a:t>
            </a:r>
            <a:endParaRPr lang="en-US" dirty="0"/>
          </a:p>
          <a:p>
            <a:r>
              <a:rPr lang="en-US" dirty="0"/>
              <a:t>&lt;</a:t>
            </a:r>
            <a:r>
              <a:rPr lang="en-US" dirty="0" err="1"/>
              <a:t>i</a:t>
            </a:r>
            <a:r>
              <a:rPr lang="en-US" dirty="0"/>
              <a:t>&gt;&lt;/</a:t>
            </a:r>
            <a:r>
              <a:rPr lang="en-US" dirty="0" err="1"/>
              <a:t>i</a:t>
            </a:r>
            <a:r>
              <a:rPr lang="en-US" dirty="0"/>
              <a:t>&gt; </a:t>
            </a:r>
            <a:r>
              <a:rPr lang="ru-RU" dirty="0"/>
              <a:t>- курсив</a:t>
            </a:r>
          </a:p>
          <a:p>
            <a:r>
              <a:rPr lang="en-US" dirty="0"/>
              <a:t>&lt;b&gt;&lt;/b&gt; -</a:t>
            </a:r>
            <a:r>
              <a:rPr lang="ru-RU" dirty="0"/>
              <a:t> полужирный</a:t>
            </a:r>
            <a:endParaRPr lang="en-US" dirty="0"/>
          </a:p>
          <a:p>
            <a:r>
              <a:rPr lang="ru-RU" dirty="0"/>
              <a:t>Теги нижнего подчеркивания </a:t>
            </a:r>
            <a:r>
              <a:rPr lang="en-US" dirty="0"/>
              <a:t>u</a:t>
            </a:r>
            <a:r>
              <a:rPr lang="ru-RU" dirty="0"/>
              <a:t> считаются устаревшими с выходом </a:t>
            </a:r>
            <a:r>
              <a:rPr lang="en-US" dirty="0"/>
              <a:t>html5, </a:t>
            </a:r>
            <a:r>
              <a:rPr lang="ru-RU" dirty="0"/>
              <a:t>рекомендуется оформлять текст стилями </a:t>
            </a:r>
            <a:r>
              <a:rPr lang="en-US" dirty="0"/>
              <a:t>CSS.</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30</a:t>
            </a:fld>
            <a:endParaRPr lang="ru-RU"/>
          </a:p>
        </p:txBody>
      </p:sp>
    </p:spTree>
    <p:extLst>
      <p:ext uri="{BB962C8B-B14F-4D97-AF65-F5344CB8AC3E}">
        <p14:creationId xmlns:p14="http://schemas.microsoft.com/office/powerpoint/2010/main" val="4144781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&lt;a </a:t>
            </a:r>
            <a:r>
              <a:rPr lang="en-US" dirty="0" err="1"/>
              <a:t>href</a:t>
            </a:r>
            <a:r>
              <a:rPr lang="en-US" dirty="0"/>
              <a:t>="</a:t>
            </a:r>
            <a:r>
              <a:rPr lang="ru-RU" dirty="0"/>
              <a:t>ссылка</a:t>
            </a:r>
            <a:r>
              <a:rPr lang="en-US" dirty="0"/>
              <a:t>“&gt;</a:t>
            </a:r>
            <a:r>
              <a:rPr lang="ru-RU" dirty="0"/>
              <a:t>текст ссылки</a:t>
            </a:r>
            <a:r>
              <a:rPr lang="en-US" dirty="0"/>
              <a:t>&lt;/a&gt;</a:t>
            </a:r>
            <a:r>
              <a:rPr lang="ru-RU" dirty="0"/>
              <a:t> - </a:t>
            </a:r>
            <a:r>
              <a:rPr lang="ru-RU" dirty="0" err="1"/>
              <a:t>кликабельная</a:t>
            </a:r>
            <a:r>
              <a:rPr lang="ru-RU" dirty="0"/>
              <a:t> гиперссылка по заключенному в контейнер тексту, аргумент </a:t>
            </a:r>
            <a:r>
              <a:rPr lang="en-US" dirty="0" err="1"/>
              <a:t>href</a:t>
            </a:r>
            <a:r>
              <a:rPr lang="en-US" dirty="0"/>
              <a:t> – </a:t>
            </a:r>
            <a:r>
              <a:rPr lang="ru-RU" dirty="0"/>
              <a:t>ссылка. </a:t>
            </a:r>
            <a:r>
              <a:rPr lang="en-US" dirty="0"/>
              <a:t>A </a:t>
            </a:r>
            <a:r>
              <a:rPr lang="ru-RU" dirty="0"/>
              <a:t>здесь означает </a:t>
            </a:r>
            <a:r>
              <a:rPr lang="en-US" dirty="0"/>
              <a:t>anchor </a:t>
            </a:r>
            <a:r>
              <a:rPr lang="ru-RU" dirty="0"/>
              <a:t>или якорь, а </a:t>
            </a:r>
            <a:r>
              <a:rPr lang="en-US" dirty="0" err="1"/>
              <a:t>href</a:t>
            </a:r>
            <a:r>
              <a:rPr lang="en-US" dirty="0"/>
              <a:t> – hypertext reference – </a:t>
            </a:r>
            <a:r>
              <a:rPr lang="ru-RU" dirty="0"/>
              <a:t>гипертекстовая ссылка.</a:t>
            </a:r>
          </a:p>
        </p:txBody>
      </p:sp>
      <p:sp>
        <p:nvSpPr>
          <p:cNvPr id="4" name="Номер слайда 3"/>
          <p:cNvSpPr>
            <a:spLocks noGrp="1"/>
          </p:cNvSpPr>
          <p:nvPr>
            <p:ph type="sldNum" sz="quarter" idx="5"/>
          </p:nvPr>
        </p:nvSpPr>
        <p:spPr/>
        <p:txBody>
          <a:bodyPr/>
          <a:lstStyle/>
          <a:p>
            <a:fld id="{99AC21F4-998D-4BCD-B9E5-CFA879D290F7}" type="slidenum">
              <a:rPr lang="ru-RU" smtClean="0"/>
              <a:t>31</a:t>
            </a:fld>
            <a:endParaRPr lang="ru-RU"/>
          </a:p>
        </p:txBody>
      </p:sp>
    </p:spTree>
    <p:extLst>
      <p:ext uri="{BB962C8B-B14F-4D97-AF65-F5344CB8AC3E}">
        <p14:creationId xmlns:p14="http://schemas.microsoft.com/office/powerpoint/2010/main" val="3934594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 задании ссылки важно указывать протокол доступа к ресурсу. Если вы не укажите </a:t>
            </a:r>
            <a:r>
              <a:rPr lang="en-US" dirty="0"/>
              <a:t>https:// </a:t>
            </a:r>
            <a:r>
              <a:rPr lang="ru-RU" dirty="0"/>
              <a:t>перед адресом страницы, будет подставлен локальный протокол </a:t>
            </a:r>
            <a:r>
              <a:rPr lang="en-US" dirty="0"/>
              <a:t>file://, </a:t>
            </a:r>
            <a:r>
              <a:rPr lang="ru-RU" dirty="0"/>
              <a:t>то есть в данном примере клик по ссылке будет означать открытие файла с именем </a:t>
            </a:r>
            <a:r>
              <a:rPr lang="en-US" dirty="0"/>
              <a:t>ok.ru</a:t>
            </a:r>
            <a:r>
              <a:rPr lang="ru-RU" dirty="0"/>
              <a:t>, который находится в той же папке, что и </a:t>
            </a:r>
            <a:r>
              <a:rPr lang="en-US" dirty="0"/>
              <a:t>html </a:t>
            </a:r>
            <a:r>
              <a:rPr lang="ru-RU" dirty="0"/>
              <a:t>документ со ссылкой. Если файла нет, вы увидите сообщение об ошибке.</a:t>
            </a:r>
          </a:p>
        </p:txBody>
      </p:sp>
      <p:sp>
        <p:nvSpPr>
          <p:cNvPr id="4" name="Номер слайда 3"/>
          <p:cNvSpPr>
            <a:spLocks noGrp="1"/>
          </p:cNvSpPr>
          <p:nvPr>
            <p:ph type="sldNum" sz="quarter" idx="5"/>
          </p:nvPr>
        </p:nvSpPr>
        <p:spPr/>
        <p:txBody>
          <a:bodyPr/>
          <a:lstStyle/>
          <a:p>
            <a:fld id="{99AC21F4-998D-4BCD-B9E5-CFA879D290F7}" type="slidenum">
              <a:rPr lang="ru-RU" smtClean="0"/>
              <a:t>32</a:t>
            </a:fld>
            <a:endParaRPr lang="ru-RU"/>
          </a:p>
        </p:txBody>
      </p:sp>
    </p:spTree>
    <p:extLst>
      <p:ext uri="{BB962C8B-B14F-4D97-AF65-F5344CB8AC3E}">
        <p14:creationId xmlns:p14="http://schemas.microsoft.com/office/powerpoint/2010/main" val="3028669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Если файл есть – увидите его содержимое, как показано на слайде.</a:t>
            </a:r>
          </a:p>
        </p:txBody>
      </p:sp>
      <p:sp>
        <p:nvSpPr>
          <p:cNvPr id="4" name="Номер слайда 3"/>
          <p:cNvSpPr>
            <a:spLocks noGrp="1"/>
          </p:cNvSpPr>
          <p:nvPr>
            <p:ph type="sldNum" sz="quarter" idx="5"/>
          </p:nvPr>
        </p:nvSpPr>
        <p:spPr/>
        <p:txBody>
          <a:bodyPr/>
          <a:lstStyle/>
          <a:p>
            <a:fld id="{99AC21F4-998D-4BCD-B9E5-CFA879D290F7}" type="slidenum">
              <a:rPr lang="ru-RU" smtClean="0"/>
              <a:t>33</a:t>
            </a:fld>
            <a:endParaRPr lang="ru-RU"/>
          </a:p>
        </p:txBody>
      </p:sp>
    </p:spTree>
    <p:extLst>
      <p:ext uri="{BB962C8B-B14F-4D97-AF65-F5344CB8AC3E}">
        <p14:creationId xmlns:p14="http://schemas.microsoft.com/office/powerpoint/2010/main" val="3438900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Поэтому правильная ссылка на сайт глобальной сети будет выглядеть так, как показано на слайде</a:t>
            </a:r>
          </a:p>
        </p:txBody>
      </p:sp>
      <p:sp>
        <p:nvSpPr>
          <p:cNvPr id="4" name="Номер слайда 3"/>
          <p:cNvSpPr>
            <a:spLocks noGrp="1"/>
          </p:cNvSpPr>
          <p:nvPr>
            <p:ph type="sldNum" sz="quarter" idx="5"/>
          </p:nvPr>
        </p:nvSpPr>
        <p:spPr/>
        <p:txBody>
          <a:bodyPr/>
          <a:lstStyle/>
          <a:p>
            <a:fld id="{99AC21F4-998D-4BCD-B9E5-CFA879D290F7}" type="slidenum">
              <a:rPr lang="ru-RU" smtClean="0"/>
              <a:t>34</a:t>
            </a:fld>
            <a:endParaRPr lang="ru-RU"/>
          </a:p>
        </p:txBody>
      </p:sp>
    </p:spTree>
    <p:extLst>
      <p:ext uri="{BB962C8B-B14F-4D97-AF65-F5344CB8AC3E}">
        <p14:creationId xmlns:p14="http://schemas.microsoft.com/office/powerpoint/2010/main" val="20182848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Запишем кратко озвученное, При указании ссылки нужно указывать протокол в ее начале (</a:t>
            </a:r>
            <a:r>
              <a:rPr lang="en-US" dirty="0"/>
              <a:t>https://</a:t>
            </a:r>
            <a:r>
              <a:rPr lang="ru-RU" dirty="0"/>
              <a:t>, </a:t>
            </a:r>
            <a:r>
              <a:rPr lang="en-US" dirty="0"/>
              <a:t>ftp://), </a:t>
            </a:r>
            <a:r>
              <a:rPr lang="ru-RU" dirty="0"/>
              <a:t>иначе будет подставлен локальный протокол</a:t>
            </a:r>
            <a:r>
              <a:rPr lang="en-US" dirty="0"/>
              <a:t> file:// </a:t>
            </a:r>
            <a:r>
              <a:rPr lang="ru-RU" dirty="0"/>
              <a:t>и браузер попытается открыть локальный файл с именем, указанным в ссылке</a:t>
            </a:r>
          </a:p>
        </p:txBody>
      </p:sp>
      <p:sp>
        <p:nvSpPr>
          <p:cNvPr id="4" name="Номер слайда 3"/>
          <p:cNvSpPr>
            <a:spLocks noGrp="1"/>
          </p:cNvSpPr>
          <p:nvPr>
            <p:ph type="sldNum" sz="quarter" idx="5"/>
          </p:nvPr>
        </p:nvSpPr>
        <p:spPr/>
        <p:txBody>
          <a:bodyPr/>
          <a:lstStyle/>
          <a:p>
            <a:fld id="{99AC21F4-998D-4BCD-B9E5-CFA879D290F7}" type="slidenum">
              <a:rPr lang="ru-RU" smtClean="0"/>
              <a:t>35</a:t>
            </a:fld>
            <a:endParaRPr lang="ru-RU"/>
          </a:p>
        </p:txBody>
      </p:sp>
    </p:spTree>
    <p:extLst>
      <p:ext uri="{BB962C8B-B14F-4D97-AF65-F5344CB8AC3E}">
        <p14:creationId xmlns:p14="http://schemas.microsoft.com/office/powerpoint/2010/main" val="20406897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тег ссылки можно заключить не только текст, например, изображение: </a:t>
            </a:r>
            <a:r>
              <a:rPr lang="pt-BR" dirty="0"/>
              <a:t>&lt;a href="</a:t>
            </a:r>
            <a:r>
              <a:rPr lang="ru-RU" dirty="0"/>
              <a:t>ссылка</a:t>
            </a:r>
            <a:r>
              <a:rPr lang="pt-BR" dirty="0"/>
              <a:t>"&gt;&lt;img src="</a:t>
            </a:r>
            <a:r>
              <a:rPr lang="ru-RU" dirty="0"/>
              <a:t>путь</a:t>
            </a:r>
            <a:r>
              <a:rPr lang="pt-BR" dirty="0"/>
              <a:t>"&gt;&lt;/a&gt;</a:t>
            </a:r>
            <a:r>
              <a:rPr lang="ru-RU" dirty="0"/>
              <a:t>.</a:t>
            </a:r>
            <a:r>
              <a:rPr lang="en-US" dirty="0"/>
              <a:t> </a:t>
            </a:r>
            <a:r>
              <a:rPr lang="ru-RU" dirty="0"/>
              <a:t>На слайде приведен пример страницы с такой ссылкой.</a:t>
            </a:r>
          </a:p>
        </p:txBody>
      </p:sp>
      <p:sp>
        <p:nvSpPr>
          <p:cNvPr id="4" name="Номер слайда 3"/>
          <p:cNvSpPr>
            <a:spLocks noGrp="1"/>
          </p:cNvSpPr>
          <p:nvPr>
            <p:ph type="sldNum" sz="quarter" idx="5"/>
          </p:nvPr>
        </p:nvSpPr>
        <p:spPr/>
        <p:txBody>
          <a:bodyPr/>
          <a:lstStyle/>
          <a:p>
            <a:fld id="{99AC21F4-998D-4BCD-B9E5-CFA879D290F7}" type="slidenum">
              <a:rPr lang="ru-RU" smtClean="0"/>
              <a:t>36</a:t>
            </a:fld>
            <a:endParaRPr lang="ru-RU"/>
          </a:p>
        </p:txBody>
      </p:sp>
    </p:spTree>
    <p:extLst>
      <p:ext uri="{BB962C8B-B14F-4D97-AF65-F5344CB8AC3E}">
        <p14:creationId xmlns:p14="http://schemas.microsoft.com/office/powerpoint/2010/main" val="24794908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a:t>
            </a:r>
            <a:r>
              <a:rPr lang="en-US" dirty="0" err="1"/>
              <a:t>br</a:t>
            </a:r>
            <a:r>
              <a:rPr lang="en-US" dirty="0"/>
              <a:t>&gt; - </a:t>
            </a:r>
            <a:r>
              <a:rPr lang="ru-RU" dirty="0"/>
              <a:t>одиночный тег, добавляющий перенос строки между элементами. К примеру, если вы вставите два изображения подряд, они будут отображаться в ряд. Чтобы перенести второе изображение на новую строку может пригодиться данный тег. Также работает с текстовыми и другими элементами.</a:t>
            </a:r>
          </a:p>
        </p:txBody>
      </p:sp>
      <p:sp>
        <p:nvSpPr>
          <p:cNvPr id="4" name="Номер слайда 3"/>
          <p:cNvSpPr>
            <a:spLocks noGrp="1"/>
          </p:cNvSpPr>
          <p:nvPr>
            <p:ph type="sldNum" sz="quarter" idx="5"/>
          </p:nvPr>
        </p:nvSpPr>
        <p:spPr/>
        <p:txBody>
          <a:bodyPr/>
          <a:lstStyle/>
          <a:p>
            <a:fld id="{99AC21F4-998D-4BCD-B9E5-CFA879D290F7}" type="slidenum">
              <a:rPr lang="ru-RU" smtClean="0"/>
              <a:t>37</a:t>
            </a:fld>
            <a:endParaRPr lang="ru-RU"/>
          </a:p>
        </p:txBody>
      </p:sp>
    </p:spTree>
    <p:extLst>
      <p:ext uri="{BB962C8B-B14F-4D97-AF65-F5344CB8AC3E}">
        <p14:creationId xmlns:p14="http://schemas.microsoft.com/office/powerpoint/2010/main" val="18036236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Данный раздел введен для удобства подачи лекции, по существу же рассмотренные в этой части инструменты также можно считать базовыми для </a:t>
            </a:r>
            <a:r>
              <a:rPr lang="en-US" dirty="0"/>
              <a:t>html </a:t>
            </a:r>
            <a:r>
              <a:rPr lang="ru-RU" dirty="0"/>
              <a:t>верстки. Начнем с таблиц. Запишем, Таблица строится из контейнеров:</a:t>
            </a:r>
          </a:p>
          <a:p>
            <a:r>
              <a:rPr lang="ru-RU" dirty="0"/>
              <a:t>&lt;</a:t>
            </a:r>
            <a:r>
              <a:rPr lang="en-US" dirty="0"/>
              <a:t>table&gt; - </a:t>
            </a:r>
            <a:r>
              <a:rPr lang="ru-RU" dirty="0"/>
              <a:t>таблица</a:t>
            </a:r>
          </a:p>
          <a:p>
            <a:r>
              <a:rPr lang="ru-RU" dirty="0"/>
              <a:t>&lt;</a:t>
            </a:r>
            <a:r>
              <a:rPr lang="en-US" dirty="0"/>
              <a:t>caption&gt; - </a:t>
            </a:r>
            <a:r>
              <a:rPr lang="ru-RU" dirty="0"/>
              <a:t>заголовок над таблицей</a:t>
            </a:r>
          </a:p>
          <a:p>
            <a:r>
              <a:rPr lang="ru-RU" dirty="0"/>
              <a:t>&lt;</a:t>
            </a:r>
            <a:r>
              <a:rPr lang="en-US" dirty="0" err="1"/>
              <a:t>thead</a:t>
            </a:r>
            <a:r>
              <a:rPr lang="en-US" dirty="0"/>
              <a:t>&gt; - </a:t>
            </a:r>
            <a:r>
              <a:rPr lang="ru-RU" dirty="0"/>
              <a:t>заголовок (шапка) таблицы</a:t>
            </a:r>
          </a:p>
          <a:p>
            <a:r>
              <a:rPr lang="ru-RU" dirty="0"/>
              <a:t>&lt;</a:t>
            </a:r>
            <a:r>
              <a:rPr lang="en-US" dirty="0" err="1"/>
              <a:t>tbody</a:t>
            </a:r>
            <a:r>
              <a:rPr lang="en-US" dirty="0"/>
              <a:t>&gt; - </a:t>
            </a:r>
            <a:r>
              <a:rPr lang="ru-RU" dirty="0"/>
              <a:t>основная часть таблицы</a:t>
            </a:r>
          </a:p>
          <a:p>
            <a:r>
              <a:rPr lang="ru-RU" dirty="0"/>
              <a:t>&lt;</a:t>
            </a:r>
            <a:r>
              <a:rPr lang="en-US" dirty="0"/>
              <a:t>tr&gt; - </a:t>
            </a:r>
            <a:r>
              <a:rPr lang="ru-RU" dirty="0"/>
              <a:t>строка таблицы (в т.ч. заголовка)</a:t>
            </a:r>
          </a:p>
          <a:p>
            <a:r>
              <a:rPr lang="ru-RU" dirty="0"/>
              <a:t>&lt;</a:t>
            </a:r>
            <a:r>
              <a:rPr lang="en-US" dirty="0" err="1"/>
              <a:t>th</a:t>
            </a:r>
            <a:r>
              <a:rPr lang="en-US" dirty="0"/>
              <a:t>&gt; - </a:t>
            </a:r>
            <a:r>
              <a:rPr lang="ru-RU" dirty="0"/>
              <a:t>заголовок столбца (в </a:t>
            </a:r>
            <a:r>
              <a:rPr lang="en-US" dirty="0" err="1"/>
              <a:t>thead</a:t>
            </a:r>
            <a:r>
              <a:rPr lang="en-US" dirty="0"/>
              <a:t>)</a:t>
            </a:r>
          </a:p>
          <a:p>
            <a:r>
              <a:rPr lang="en-US" dirty="0"/>
              <a:t>&lt;td&gt; - </a:t>
            </a:r>
            <a:r>
              <a:rPr lang="ru-RU" dirty="0"/>
              <a:t>ячейка таблицы</a:t>
            </a:r>
          </a:p>
        </p:txBody>
      </p:sp>
      <p:sp>
        <p:nvSpPr>
          <p:cNvPr id="4" name="Номер слайда 3"/>
          <p:cNvSpPr>
            <a:spLocks noGrp="1"/>
          </p:cNvSpPr>
          <p:nvPr>
            <p:ph type="sldNum" sz="quarter" idx="5"/>
          </p:nvPr>
        </p:nvSpPr>
        <p:spPr/>
        <p:txBody>
          <a:bodyPr/>
          <a:lstStyle/>
          <a:p>
            <a:fld id="{99AC21F4-998D-4BCD-B9E5-CFA879D290F7}" type="slidenum">
              <a:rPr lang="ru-RU" smtClean="0"/>
              <a:t>39</a:t>
            </a:fld>
            <a:endParaRPr lang="ru-RU"/>
          </a:p>
        </p:txBody>
      </p:sp>
    </p:spTree>
    <p:extLst>
      <p:ext uri="{BB962C8B-B14F-4D97-AF65-F5344CB8AC3E}">
        <p14:creationId xmlns:p14="http://schemas.microsoft.com/office/powerpoint/2010/main" val="32607422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Зафиксируйте себе пример составления таблицы 4х4 с двумя заголовками. Как видим, конечный элемент заголовка – </a:t>
            </a:r>
            <a:r>
              <a:rPr lang="en-US" dirty="0" err="1"/>
              <a:t>th</a:t>
            </a:r>
            <a:r>
              <a:rPr lang="en-US" dirty="0"/>
              <a:t>, </a:t>
            </a:r>
            <a:r>
              <a:rPr lang="ru-RU" dirty="0"/>
              <a:t>а тела таблицы – </a:t>
            </a:r>
            <a:r>
              <a:rPr lang="en-US" dirty="0"/>
              <a:t>td. </a:t>
            </a:r>
            <a:r>
              <a:rPr lang="ru-RU" dirty="0"/>
              <a:t>Оба они являются, по сути, ячейками. </a:t>
            </a:r>
          </a:p>
        </p:txBody>
      </p:sp>
      <p:sp>
        <p:nvSpPr>
          <p:cNvPr id="4" name="Номер слайда 3"/>
          <p:cNvSpPr>
            <a:spLocks noGrp="1"/>
          </p:cNvSpPr>
          <p:nvPr>
            <p:ph type="sldNum" sz="quarter" idx="5"/>
          </p:nvPr>
        </p:nvSpPr>
        <p:spPr/>
        <p:txBody>
          <a:bodyPr/>
          <a:lstStyle/>
          <a:p>
            <a:fld id="{99AC21F4-998D-4BCD-B9E5-CFA879D290F7}" type="slidenum">
              <a:rPr lang="ru-RU" smtClean="0"/>
              <a:t>40</a:t>
            </a:fld>
            <a:endParaRPr lang="ru-RU"/>
          </a:p>
        </p:txBody>
      </p:sp>
    </p:spTree>
    <p:extLst>
      <p:ext uri="{BB962C8B-B14F-4D97-AF65-F5344CB8AC3E}">
        <p14:creationId xmlns:p14="http://schemas.microsoft.com/office/powerpoint/2010/main" val="42650250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Аргументы </a:t>
            </a:r>
            <a:r>
              <a:rPr lang="ru-RU" dirty="0" err="1"/>
              <a:t>width</a:t>
            </a:r>
            <a:r>
              <a:rPr lang="ru-RU" dirty="0"/>
              <a:t>, </a:t>
            </a:r>
            <a:r>
              <a:rPr lang="ru-RU" dirty="0" err="1"/>
              <a:t>height</a:t>
            </a:r>
            <a:r>
              <a:rPr lang="ru-RU" dirty="0"/>
              <a:t> применимы и к тегу </a:t>
            </a:r>
            <a:r>
              <a:rPr lang="ru-RU" dirty="0" err="1"/>
              <a:t>table</a:t>
            </a:r>
            <a:endParaRPr lang="ru-RU" dirty="0"/>
          </a:p>
          <a:p>
            <a:r>
              <a:rPr lang="ru-RU" dirty="0" err="1"/>
              <a:t>width</a:t>
            </a:r>
            <a:r>
              <a:rPr lang="ru-RU" dirty="0"/>
              <a:t>="100%“ растягивает таблицу на всю ширину окна</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border=</a:t>
            </a:r>
            <a:r>
              <a:rPr lang="ru-RU" dirty="0"/>
              <a:t> "</a:t>
            </a:r>
            <a:r>
              <a:rPr lang="ru-RU" dirty="0" err="1"/>
              <a:t>число"добавляет</a:t>
            </a:r>
            <a:r>
              <a:rPr lang="ru-RU" dirty="0"/>
              <a:t> границу к таблице, устаревший тег, рекомендуется использовать </a:t>
            </a:r>
            <a:r>
              <a:rPr lang="en-US" dirty="0"/>
              <a:t>CSS </a:t>
            </a:r>
            <a:r>
              <a:rPr lang="ru-RU" dirty="0"/>
              <a:t>для смены оформления таблиц</a:t>
            </a:r>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41</a:t>
            </a:fld>
            <a:endParaRPr lang="ru-RU"/>
          </a:p>
        </p:txBody>
      </p:sp>
    </p:spTree>
    <p:extLst>
      <p:ext uri="{BB962C8B-B14F-4D97-AF65-F5344CB8AC3E}">
        <p14:creationId xmlns:p14="http://schemas.microsoft.com/office/powerpoint/2010/main" val="28691231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Также в страницы </a:t>
            </a:r>
            <a:r>
              <a:rPr lang="en-US" dirty="0"/>
              <a:t>html </a:t>
            </a:r>
            <a:r>
              <a:rPr lang="ru-RU" dirty="0"/>
              <a:t>можно встраивать другие страницы, регулируя размер рамки, по которой они вставляются. Запишем, </a:t>
            </a:r>
            <a:r>
              <a:rPr lang="en-US" dirty="0"/>
              <a:t>&lt;iframe&gt; </a:t>
            </a:r>
            <a:r>
              <a:rPr lang="ru-RU" dirty="0"/>
              <a:t>- встраивание другой страницы</a:t>
            </a:r>
          </a:p>
          <a:p>
            <a:r>
              <a:rPr lang="ru-RU" dirty="0"/>
              <a:t>Аргументы: </a:t>
            </a:r>
            <a:r>
              <a:rPr lang="en-US" dirty="0"/>
              <a:t>width, height – </a:t>
            </a:r>
            <a:r>
              <a:rPr lang="ru-RU" dirty="0"/>
              <a:t>размер,</a:t>
            </a:r>
            <a:r>
              <a:rPr lang="en-US" dirty="0"/>
              <a:t> </a:t>
            </a:r>
            <a:r>
              <a:rPr lang="en-US" dirty="0" err="1"/>
              <a:t>src</a:t>
            </a:r>
            <a:r>
              <a:rPr lang="en-US" dirty="0"/>
              <a:t> – </a:t>
            </a:r>
            <a:r>
              <a:rPr lang="ru-RU" dirty="0"/>
              <a:t>ссылка на страницу</a:t>
            </a:r>
          </a:p>
          <a:p>
            <a:r>
              <a:rPr lang="ru-RU" dirty="0"/>
              <a:t>Можно использовать для ускорения работы с сайтом, при работе с областью </a:t>
            </a:r>
            <a:r>
              <a:rPr lang="en-US" dirty="0"/>
              <a:t>iframe </a:t>
            </a:r>
            <a:r>
              <a:rPr lang="ru-RU" dirty="0"/>
              <a:t>будет обновляться только ее часть</a:t>
            </a:r>
          </a:p>
          <a:p>
            <a:r>
              <a:rPr lang="ru-RU" dirty="0"/>
              <a:t>Например, меню сайта можно хранить в основной странице, а в ее центре разместить </a:t>
            </a:r>
            <a:r>
              <a:rPr lang="en-US" dirty="0"/>
              <a:t>iframe </a:t>
            </a:r>
            <a:r>
              <a:rPr lang="ru-RU" dirty="0"/>
              <a:t>с основным контентом сайта, и при клике пользователем на элементы </a:t>
            </a:r>
            <a:r>
              <a:rPr lang="en-US" dirty="0"/>
              <a:t>iframe </a:t>
            </a:r>
            <a:r>
              <a:rPr lang="ru-RU" dirty="0"/>
              <a:t>основная часть страницы с меню не будет перезагружена, загружаться будет лишь обновленная страница в </a:t>
            </a:r>
            <a:r>
              <a:rPr lang="en-US" dirty="0"/>
              <a:t>iframe</a:t>
            </a:r>
            <a:endParaRPr lang="ru-RU" dirty="0"/>
          </a:p>
          <a:p>
            <a:r>
              <a:rPr lang="ru-RU" dirty="0"/>
              <a:t>Также зафиксируйте себе пример использования </a:t>
            </a:r>
            <a:r>
              <a:rPr lang="en-US" dirty="0"/>
              <a:t>iframe, </a:t>
            </a:r>
            <a:r>
              <a:rPr lang="ru-RU" dirty="0"/>
              <a:t>здесь мы встраиваем в основную страницу малую рамку с сайтом личного кабинета СамГТУ</a:t>
            </a:r>
          </a:p>
        </p:txBody>
      </p:sp>
      <p:sp>
        <p:nvSpPr>
          <p:cNvPr id="4" name="Номер слайда 3"/>
          <p:cNvSpPr>
            <a:spLocks noGrp="1"/>
          </p:cNvSpPr>
          <p:nvPr>
            <p:ph type="sldNum" sz="quarter" idx="5"/>
          </p:nvPr>
        </p:nvSpPr>
        <p:spPr/>
        <p:txBody>
          <a:bodyPr/>
          <a:lstStyle/>
          <a:p>
            <a:fld id="{99AC21F4-998D-4BCD-B9E5-CFA879D290F7}" type="slidenum">
              <a:rPr lang="ru-RU" smtClean="0"/>
              <a:t>42</a:t>
            </a:fld>
            <a:endParaRPr lang="ru-RU"/>
          </a:p>
        </p:txBody>
      </p:sp>
    </p:spTree>
    <p:extLst>
      <p:ext uri="{BB962C8B-B14F-4D97-AF65-F5344CB8AC3E}">
        <p14:creationId xmlns:p14="http://schemas.microsoft.com/office/powerpoint/2010/main" val="31072647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Результат работы с таким </a:t>
            </a:r>
            <a:r>
              <a:rPr lang="en-US" dirty="0"/>
              <a:t>iframe </a:t>
            </a:r>
            <a:r>
              <a:rPr lang="ru-RU" dirty="0"/>
              <a:t>можете видеть на слайде</a:t>
            </a:r>
          </a:p>
        </p:txBody>
      </p:sp>
      <p:sp>
        <p:nvSpPr>
          <p:cNvPr id="4" name="Номер слайда 3"/>
          <p:cNvSpPr>
            <a:spLocks noGrp="1"/>
          </p:cNvSpPr>
          <p:nvPr>
            <p:ph type="sldNum" sz="quarter" idx="5"/>
          </p:nvPr>
        </p:nvSpPr>
        <p:spPr/>
        <p:txBody>
          <a:bodyPr/>
          <a:lstStyle/>
          <a:p>
            <a:fld id="{99AC21F4-998D-4BCD-B9E5-CFA879D290F7}" type="slidenum">
              <a:rPr lang="ru-RU" smtClean="0"/>
              <a:t>43</a:t>
            </a:fld>
            <a:endParaRPr lang="ru-RU"/>
          </a:p>
        </p:txBody>
      </p:sp>
    </p:spTree>
    <p:extLst>
      <p:ext uri="{BB962C8B-B14F-4D97-AF65-F5344CB8AC3E}">
        <p14:creationId xmlns:p14="http://schemas.microsoft.com/office/powerpoint/2010/main" val="21504333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 умолчанию вызываемый </a:t>
            </a:r>
            <a:r>
              <a:rPr lang="en-US" dirty="0"/>
              <a:t>iframe </a:t>
            </a:r>
            <a:r>
              <a:rPr lang="ru-RU" dirty="0"/>
              <a:t>ресурс может иметь слишком много прав (выполнять скрипты и т.д.). Это дает простор для возможных проблем безопасности, поэтому следует ограничить возможности </a:t>
            </a:r>
            <a:r>
              <a:rPr lang="en-US" dirty="0"/>
              <a:t>iframe. </a:t>
            </a:r>
            <a:r>
              <a:rPr lang="ru-RU" dirty="0"/>
              <a:t>Чтобы ограничить права </a:t>
            </a:r>
            <a:r>
              <a:rPr lang="en-US" dirty="0"/>
              <a:t>iframe </a:t>
            </a:r>
            <a:r>
              <a:rPr lang="ru-RU" dirty="0"/>
              <a:t>нужно в его тег добавить аргумент </a:t>
            </a:r>
            <a:r>
              <a:rPr lang="en-US" dirty="0"/>
              <a:t>sandbox</a:t>
            </a:r>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44</a:t>
            </a:fld>
            <a:endParaRPr lang="ru-RU"/>
          </a:p>
        </p:txBody>
      </p:sp>
    </p:spTree>
    <p:extLst>
      <p:ext uri="{BB962C8B-B14F-4D97-AF65-F5344CB8AC3E}">
        <p14:creationId xmlns:p14="http://schemas.microsoft.com/office/powerpoint/2010/main" val="2989136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&lt;div&gt; -</a:t>
            </a:r>
            <a:r>
              <a:rPr lang="ru-RU" dirty="0"/>
              <a:t> контейнер для отдельного блока страницы, используется, чтобы применять к разным блокам различное оформление, скрипты и т.д. Здесь представлено 2 примера. На обоих содержится лишь параграф с текстом, но во втором (нижнем) к </a:t>
            </a:r>
            <a:r>
              <a:rPr lang="en-US" dirty="0"/>
              <a:t>div </a:t>
            </a:r>
            <a:r>
              <a:rPr lang="ru-RU" dirty="0"/>
              <a:t>применяется стиль </a:t>
            </a:r>
            <a:r>
              <a:rPr lang="en-US" dirty="0"/>
              <a:t>CSS shadowbox, </a:t>
            </a:r>
            <a:r>
              <a:rPr lang="ru-RU" dirty="0"/>
              <a:t>который меняет оформление блока. Очень распространенный инструмент, позволяющий гибко настраивать параметры страницы.</a:t>
            </a:r>
          </a:p>
        </p:txBody>
      </p:sp>
      <p:sp>
        <p:nvSpPr>
          <p:cNvPr id="4" name="Номер слайда 3"/>
          <p:cNvSpPr>
            <a:spLocks noGrp="1"/>
          </p:cNvSpPr>
          <p:nvPr>
            <p:ph type="sldNum" sz="quarter" idx="5"/>
          </p:nvPr>
        </p:nvSpPr>
        <p:spPr/>
        <p:txBody>
          <a:bodyPr/>
          <a:lstStyle/>
          <a:p>
            <a:fld id="{99AC21F4-998D-4BCD-B9E5-CFA879D290F7}" type="slidenum">
              <a:rPr lang="ru-RU" smtClean="0"/>
              <a:t>45</a:t>
            </a:fld>
            <a:endParaRPr lang="ru-RU"/>
          </a:p>
        </p:txBody>
      </p:sp>
    </p:spTree>
    <p:extLst>
      <p:ext uri="{BB962C8B-B14F-4D97-AF65-F5344CB8AC3E}">
        <p14:creationId xmlns:p14="http://schemas.microsoft.com/office/powerpoint/2010/main" val="15494444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&lt;span&gt; -</a:t>
            </a:r>
            <a:r>
              <a:rPr lang="ru-RU" dirty="0"/>
              <a:t> контейнер для присвоения стилей элементом внутри строчных элементов (параграф, ячейка, …). Подобен </a:t>
            </a:r>
            <a:r>
              <a:rPr lang="en-US" dirty="0"/>
              <a:t>div </a:t>
            </a:r>
            <a:r>
              <a:rPr lang="ru-RU" dirty="0"/>
              <a:t>по назначению, но позволяет настраивать оформление отдельных частей текста внутри блока. На слайде приведен пример форматирования первой буквы текста.</a:t>
            </a:r>
          </a:p>
        </p:txBody>
      </p:sp>
      <p:sp>
        <p:nvSpPr>
          <p:cNvPr id="4" name="Номер слайда 3"/>
          <p:cNvSpPr>
            <a:spLocks noGrp="1"/>
          </p:cNvSpPr>
          <p:nvPr>
            <p:ph type="sldNum" sz="quarter" idx="5"/>
          </p:nvPr>
        </p:nvSpPr>
        <p:spPr/>
        <p:txBody>
          <a:bodyPr/>
          <a:lstStyle/>
          <a:p>
            <a:fld id="{99AC21F4-998D-4BCD-B9E5-CFA879D290F7}" type="slidenum">
              <a:rPr lang="ru-RU" smtClean="0"/>
              <a:t>46</a:t>
            </a:fld>
            <a:endParaRPr lang="ru-RU"/>
          </a:p>
        </p:txBody>
      </p:sp>
    </p:spTree>
    <p:extLst>
      <p:ext uri="{BB962C8B-B14F-4D97-AF65-F5344CB8AC3E}">
        <p14:creationId xmlns:p14="http://schemas.microsoft.com/office/powerpoint/2010/main" val="2734612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a:t>
            </a:r>
            <a:r>
              <a:rPr lang="en-US" dirty="0"/>
              <a:t>HTML5 </a:t>
            </a:r>
            <a:r>
              <a:rPr lang="ru-RU" dirty="0"/>
              <a:t>для удобства организации структурных частей </a:t>
            </a:r>
            <a:r>
              <a:rPr lang="en-US" dirty="0"/>
              <a:t>body </a:t>
            </a:r>
            <a:r>
              <a:rPr lang="ru-RU" dirty="0"/>
              <a:t>введены теги контейнеров, разделяющих их по смыслу (сами не меняют форматирование, если использовать без аргументов)</a:t>
            </a:r>
            <a:r>
              <a:rPr lang="en-US" dirty="0"/>
              <a:t>:</a:t>
            </a:r>
            <a:endParaRPr lang="ru-RU" dirty="0"/>
          </a:p>
          <a:p>
            <a:r>
              <a:rPr lang="en-US" dirty="0"/>
              <a:t>&lt;header&gt; - </a:t>
            </a:r>
            <a:r>
              <a:rPr lang="ru-RU" dirty="0"/>
              <a:t>блок в верхней части страницы (меню, заголовок,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&lt;menu&gt; </a:t>
            </a:r>
            <a:r>
              <a:rPr lang="ru-RU"/>
              <a:t>- меню сайта</a:t>
            </a:r>
            <a:endParaRPr lang="ru-RU" dirty="0"/>
          </a:p>
          <a:p>
            <a:r>
              <a:rPr lang="en-US" dirty="0"/>
              <a:t>&lt;article&gt; -</a:t>
            </a:r>
            <a:r>
              <a:rPr lang="ru-RU" dirty="0"/>
              <a:t> содержимое с самодостаточным контентом, к примеру, статья, отзыв и т.д.</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&lt;main&gt; - </a:t>
            </a:r>
            <a:r>
              <a:rPr lang="ru-RU" dirty="0"/>
              <a:t>основное содержимое</a:t>
            </a:r>
          </a:p>
          <a:p>
            <a:r>
              <a:rPr lang="en-US" dirty="0"/>
              <a:t>&lt;aside&gt; - </a:t>
            </a:r>
            <a:r>
              <a:rPr lang="ru-RU" dirty="0"/>
              <a:t>блоки дополнительной информации – реклама, ссылки по теме статьи, …</a:t>
            </a:r>
          </a:p>
        </p:txBody>
      </p:sp>
      <p:sp>
        <p:nvSpPr>
          <p:cNvPr id="4" name="Номер слайда 3"/>
          <p:cNvSpPr>
            <a:spLocks noGrp="1"/>
          </p:cNvSpPr>
          <p:nvPr>
            <p:ph type="sldNum" sz="quarter" idx="5"/>
          </p:nvPr>
        </p:nvSpPr>
        <p:spPr/>
        <p:txBody>
          <a:bodyPr/>
          <a:lstStyle/>
          <a:p>
            <a:fld id="{99AC21F4-998D-4BCD-B9E5-CFA879D290F7}" type="slidenum">
              <a:rPr lang="ru-RU" smtClean="0"/>
              <a:t>47</a:t>
            </a:fld>
            <a:endParaRPr lang="ru-RU"/>
          </a:p>
        </p:txBody>
      </p:sp>
    </p:spTree>
    <p:extLst>
      <p:ext uri="{BB962C8B-B14F-4D97-AF65-F5344CB8AC3E}">
        <p14:creationId xmlns:p14="http://schemas.microsoft.com/office/powerpoint/2010/main" val="27629789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&lt;section&gt;</a:t>
            </a:r>
            <a:r>
              <a:rPr lang="ru-RU" dirty="0"/>
              <a:t> </a:t>
            </a:r>
            <a:r>
              <a:rPr lang="en-US" dirty="0"/>
              <a:t>- </a:t>
            </a:r>
            <a:r>
              <a:rPr lang="ru-RU" dirty="0"/>
              <a:t>отдельный по теме блок страницы</a:t>
            </a:r>
          </a:p>
          <a:p>
            <a:r>
              <a:rPr lang="en-US" dirty="0"/>
              <a:t>&lt;nav&gt; - </a:t>
            </a:r>
            <a:r>
              <a:rPr lang="ru-RU" dirty="0"/>
              <a:t>блок навигации по странице</a:t>
            </a:r>
          </a:p>
          <a:p>
            <a:r>
              <a:rPr lang="en-US" dirty="0"/>
              <a:t>&lt;footer&gt; - </a:t>
            </a:r>
            <a:r>
              <a:rPr lang="ru-RU" dirty="0"/>
              <a:t>контактная и пр. информация, авторские права и т.д., как правило внизу сайте</a:t>
            </a: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Важно понимать, что эти теги сами по себе не влияют на внешний вид помещенных в них частей. Так, </a:t>
            </a:r>
            <a:r>
              <a:rPr lang="en-US" dirty="0"/>
              <a:t>footer </a:t>
            </a:r>
            <a:r>
              <a:rPr lang="ru-RU" dirty="0"/>
              <a:t>не будет располагаться снизу страницы, если разработчик там его не разместит, а </a:t>
            </a:r>
            <a:r>
              <a:rPr lang="en-US" dirty="0"/>
              <a:t>header </a:t>
            </a:r>
            <a:r>
              <a:rPr lang="ru-RU" dirty="0"/>
              <a:t>не станет строкой меню в верхней части страницы, эти контейнеры используются лишь для смыслового разделения, чтобы разработчик или другие, анализирующие код люди понимали, за что отвечает та или иная часть страницы. Можно видеть схожесть между этими контейнерами и </a:t>
            </a:r>
            <a:r>
              <a:rPr lang="en-US" dirty="0"/>
              <a:t>div, </a:t>
            </a:r>
            <a:r>
              <a:rPr lang="ru-RU" dirty="0"/>
              <a:t>по своей сути они ими и являются.</a:t>
            </a:r>
            <a:r>
              <a:rPr lang="en-US" dirty="0"/>
              <a:t> </a:t>
            </a:r>
            <a:r>
              <a:rPr lang="ru-RU" dirty="0"/>
              <a:t>Но для поисковых систем, индексирующих ваш сайт, проще обращать внимание на новые теги, </a:t>
            </a:r>
            <a:r>
              <a:rPr lang="ru-RU" dirty="0" err="1"/>
              <a:t>тк</a:t>
            </a:r>
            <a:r>
              <a:rPr lang="ru-RU" dirty="0"/>
              <a:t> они дают представление о частях страницы – в </a:t>
            </a:r>
            <a:r>
              <a:rPr lang="en-US" dirty="0"/>
              <a:t>article </a:t>
            </a:r>
            <a:r>
              <a:rPr lang="ru-RU" dirty="0"/>
              <a:t>скорее всего будет ответ на вопросительный запрос пользователя, в </a:t>
            </a:r>
            <a:r>
              <a:rPr lang="en-US" dirty="0"/>
              <a:t>footer </a:t>
            </a:r>
            <a:r>
              <a:rPr lang="ru-RU" dirty="0"/>
              <a:t>скорее всего будет информация о контактах и т.д. Поэтому запишем, Преимущество этих контейнеров перед </a:t>
            </a:r>
            <a:r>
              <a:rPr lang="en-US" dirty="0"/>
              <a:t>div </a:t>
            </a:r>
            <a:r>
              <a:rPr lang="ru-RU" dirty="0"/>
              <a:t>в лучшей читаемости кода и большим вниманием поисковиков к </a:t>
            </a:r>
            <a:r>
              <a:rPr lang="en-US" dirty="0"/>
              <a:t>header, footer, …, </a:t>
            </a:r>
            <a:r>
              <a:rPr lang="ru-RU" dirty="0"/>
              <a:t>чем к </a:t>
            </a:r>
            <a:r>
              <a:rPr lang="en-US" dirty="0"/>
              <a:t>div</a:t>
            </a:r>
          </a:p>
        </p:txBody>
      </p:sp>
      <p:sp>
        <p:nvSpPr>
          <p:cNvPr id="4" name="Номер слайда 3"/>
          <p:cNvSpPr>
            <a:spLocks noGrp="1"/>
          </p:cNvSpPr>
          <p:nvPr>
            <p:ph type="sldNum" sz="quarter" idx="5"/>
          </p:nvPr>
        </p:nvSpPr>
        <p:spPr/>
        <p:txBody>
          <a:bodyPr/>
          <a:lstStyle/>
          <a:p>
            <a:fld id="{99AC21F4-998D-4BCD-B9E5-CFA879D290F7}" type="slidenum">
              <a:rPr lang="ru-RU" smtClean="0"/>
              <a:t>48</a:t>
            </a:fld>
            <a:endParaRPr lang="ru-RU"/>
          </a:p>
        </p:txBody>
      </p:sp>
    </p:spTree>
    <p:extLst>
      <p:ext uri="{BB962C8B-B14F-4D97-AF65-F5344CB8AC3E}">
        <p14:creationId xmlns:p14="http://schemas.microsoft.com/office/powerpoint/2010/main" val="27629465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Большим преимуществом </a:t>
            </a:r>
            <a:r>
              <a:rPr lang="en-US" dirty="0"/>
              <a:t>HTML5 </a:t>
            </a:r>
            <a:r>
              <a:rPr lang="ru-RU" dirty="0"/>
              <a:t>является введение тегов для мультимедиа, раньше для его вставки требовались сторонние плееры на </a:t>
            </a:r>
            <a:r>
              <a:rPr lang="en-US" dirty="0"/>
              <a:t>Adobe AIR, Flash</a:t>
            </a:r>
            <a:r>
              <a:rPr lang="ru-RU" dirty="0"/>
              <a:t> или </a:t>
            </a:r>
            <a:r>
              <a:rPr lang="en-US" dirty="0"/>
              <a:t>Microsoft Silverlight, </a:t>
            </a:r>
            <a:r>
              <a:rPr lang="ru-RU" dirty="0"/>
              <a:t>а для векторной графики иные костыли. Итак, запишем, Новые теги для мультимедиа в </a:t>
            </a:r>
            <a:r>
              <a:rPr lang="en-US" dirty="0"/>
              <a:t>HTML5:</a:t>
            </a:r>
          </a:p>
          <a:p>
            <a:r>
              <a:rPr lang="en-US" dirty="0"/>
              <a:t>&lt;</a:t>
            </a:r>
            <a:r>
              <a:rPr lang="en-US" dirty="0" err="1"/>
              <a:t>svg</a:t>
            </a:r>
            <a:r>
              <a:rPr lang="en-US" dirty="0"/>
              <a:t>&gt; - </a:t>
            </a:r>
            <a:r>
              <a:rPr lang="ru-RU" dirty="0"/>
              <a:t>вставка векторных файлов </a:t>
            </a:r>
            <a:r>
              <a:rPr lang="en-US" dirty="0" err="1"/>
              <a:t>svg</a:t>
            </a:r>
            <a:endParaRPr lang="en-US" dirty="0"/>
          </a:p>
          <a:p>
            <a:r>
              <a:rPr lang="en-US" dirty="0"/>
              <a:t>&lt;audio&gt; - </a:t>
            </a:r>
            <a:r>
              <a:rPr lang="ru-RU" dirty="0"/>
              <a:t>вставка аудио</a:t>
            </a:r>
            <a:endParaRPr lang="en-US" dirty="0"/>
          </a:p>
          <a:p>
            <a:r>
              <a:rPr lang="en-US" dirty="0"/>
              <a:t>&lt;video&gt;</a:t>
            </a:r>
            <a:r>
              <a:rPr lang="ru-RU" dirty="0"/>
              <a:t> - вставка видео</a:t>
            </a:r>
          </a:p>
          <a:p>
            <a:r>
              <a:rPr lang="ru-RU" dirty="0"/>
              <a:t>Аргументы </a:t>
            </a:r>
            <a:r>
              <a:rPr lang="ru-RU" dirty="0" err="1"/>
              <a:t>video</a:t>
            </a:r>
            <a:r>
              <a:rPr lang="ru-RU" dirty="0"/>
              <a:t>, </a:t>
            </a:r>
            <a:r>
              <a:rPr lang="ru-RU" dirty="0" err="1"/>
              <a:t>audio</a:t>
            </a:r>
            <a:r>
              <a:rPr lang="ru-RU" dirty="0"/>
              <a:t>:</a:t>
            </a:r>
          </a:p>
          <a:p>
            <a:r>
              <a:rPr lang="ru-RU" dirty="0" err="1"/>
              <a:t>src</a:t>
            </a:r>
            <a:r>
              <a:rPr lang="ru-RU" dirty="0"/>
              <a:t> – источник</a:t>
            </a:r>
          </a:p>
          <a:p>
            <a:r>
              <a:rPr lang="ru-RU" dirty="0" err="1"/>
              <a:t>controls</a:t>
            </a:r>
            <a:r>
              <a:rPr lang="ru-RU" dirty="0"/>
              <a:t> – вывести элементы управления</a:t>
            </a:r>
          </a:p>
          <a:p>
            <a:r>
              <a:rPr lang="ru-RU" dirty="0"/>
              <a:t>Зафиксируйте себе пример кода для добавления видео и аудио на страницу. Пример результата открытия страницы с таким кодом на слайде, в папке со страницей не было медиафайлов, поэтому отображаются пустые файлы.</a:t>
            </a:r>
            <a:endParaRPr lang="en-US" dirty="0"/>
          </a:p>
          <a:p>
            <a:endParaRPr lang="ru-RU" dirty="0"/>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49</a:t>
            </a:fld>
            <a:endParaRPr lang="ru-RU"/>
          </a:p>
        </p:txBody>
      </p:sp>
    </p:spTree>
    <p:extLst>
      <p:ext uri="{BB962C8B-B14F-4D97-AF65-F5344CB8AC3E}">
        <p14:creationId xmlns:p14="http://schemas.microsoft.com/office/powerpoint/2010/main" val="32977903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Еще одно важное для </a:t>
            </a:r>
            <a:r>
              <a:rPr lang="en-US" dirty="0"/>
              <a:t>web-</a:t>
            </a:r>
            <a:r>
              <a:rPr lang="ru-RU" dirty="0"/>
              <a:t>разработчика понятие это </a:t>
            </a:r>
            <a:r>
              <a:rPr lang="en-US" dirty="0"/>
              <a:t>DOM</a:t>
            </a:r>
            <a:r>
              <a:rPr lang="ru-RU" dirty="0"/>
              <a:t> (</a:t>
            </a:r>
            <a:r>
              <a:rPr lang="en-US" dirty="0"/>
              <a:t>document object model) – API, </a:t>
            </a:r>
            <a:r>
              <a:rPr lang="ru-RU" dirty="0"/>
              <a:t>объектная модель документа, результат преобразования кода </a:t>
            </a:r>
            <a:r>
              <a:rPr lang="en-US" dirty="0"/>
              <a:t>html </a:t>
            </a:r>
            <a:r>
              <a:rPr lang="ru-RU" dirty="0"/>
              <a:t>в, условно говоря, древовидную иерархию объектов документа, используется для обращения к элементам документа </a:t>
            </a:r>
            <a:r>
              <a:rPr lang="en-US" dirty="0"/>
              <a:t>JS </a:t>
            </a:r>
            <a:r>
              <a:rPr lang="ru-RU" dirty="0"/>
              <a:t>и др.</a:t>
            </a:r>
          </a:p>
        </p:txBody>
      </p:sp>
      <p:sp>
        <p:nvSpPr>
          <p:cNvPr id="4" name="Номер слайда 3"/>
          <p:cNvSpPr>
            <a:spLocks noGrp="1"/>
          </p:cNvSpPr>
          <p:nvPr>
            <p:ph type="sldNum" sz="quarter" idx="5"/>
          </p:nvPr>
        </p:nvSpPr>
        <p:spPr/>
        <p:txBody>
          <a:bodyPr/>
          <a:lstStyle/>
          <a:p>
            <a:fld id="{99AC21F4-998D-4BCD-B9E5-CFA879D290F7}" type="slidenum">
              <a:rPr lang="ru-RU" smtClean="0"/>
              <a:t>50</a:t>
            </a:fld>
            <a:endParaRPr lang="ru-RU"/>
          </a:p>
        </p:txBody>
      </p:sp>
    </p:spTree>
    <p:extLst>
      <p:ext uri="{BB962C8B-B14F-4D97-AF65-F5344CB8AC3E}">
        <p14:creationId xmlns:p14="http://schemas.microsoft.com/office/powerpoint/2010/main" val="26606850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Условно, говоря потому что это определение не совсем верное. В первом приближении будем опираться на такое представление, как на слайде – из кода </a:t>
            </a:r>
            <a:r>
              <a:rPr lang="en-US" dirty="0"/>
              <a:t>html </a:t>
            </a:r>
            <a:r>
              <a:rPr lang="ru-RU" dirty="0"/>
              <a:t>документа формируется древо объектов, которое передается рендеру для отрисовки страницы.</a:t>
            </a:r>
          </a:p>
        </p:txBody>
      </p:sp>
      <p:sp>
        <p:nvSpPr>
          <p:cNvPr id="4" name="Номер слайда 3"/>
          <p:cNvSpPr>
            <a:spLocks noGrp="1"/>
          </p:cNvSpPr>
          <p:nvPr>
            <p:ph type="sldNum" sz="quarter" idx="5"/>
          </p:nvPr>
        </p:nvSpPr>
        <p:spPr/>
        <p:txBody>
          <a:bodyPr/>
          <a:lstStyle/>
          <a:p>
            <a:fld id="{99AC21F4-998D-4BCD-B9E5-CFA879D290F7}" type="slidenum">
              <a:rPr lang="ru-RU" smtClean="0"/>
              <a:t>51</a:t>
            </a:fld>
            <a:endParaRPr lang="ru-RU"/>
          </a:p>
        </p:txBody>
      </p:sp>
    </p:spTree>
    <p:extLst>
      <p:ext uri="{BB962C8B-B14F-4D97-AF65-F5344CB8AC3E}">
        <p14:creationId xmlns:p14="http://schemas.microsoft.com/office/powerpoint/2010/main" val="16424463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Здесь приведен пример работы со скрытыми элементами – в верхней части слайда есть код страницы, на которой имеется заголовок и скрытый параграф. </a:t>
            </a:r>
            <a:r>
              <a:rPr lang="en-US" dirty="0"/>
              <a:t>DOM</a:t>
            </a:r>
            <a:r>
              <a:rPr lang="ru-RU" dirty="0"/>
              <a:t>, модель которого представлена слева,</a:t>
            </a:r>
            <a:r>
              <a:rPr lang="en-US" dirty="0"/>
              <a:t> </a:t>
            </a:r>
            <a:r>
              <a:rPr lang="ru-RU" dirty="0"/>
              <a:t>видит скрытый элемент, а древо рендера, справа – нет. Это может быть полезно, если какой-то элемент страницы должен выводиться при срабатывании скрипта, который и сменит значение аргумента </a:t>
            </a:r>
            <a:r>
              <a:rPr lang="en-US" dirty="0"/>
              <a:t>style </a:t>
            </a:r>
            <a:r>
              <a:rPr lang="ru-RU" dirty="0"/>
              <a:t>на отображаемый.</a:t>
            </a:r>
          </a:p>
        </p:txBody>
      </p:sp>
      <p:sp>
        <p:nvSpPr>
          <p:cNvPr id="4" name="Номер слайда 3"/>
          <p:cNvSpPr>
            <a:spLocks noGrp="1"/>
          </p:cNvSpPr>
          <p:nvPr>
            <p:ph type="sldNum" sz="quarter" idx="5"/>
          </p:nvPr>
        </p:nvSpPr>
        <p:spPr/>
        <p:txBody>
          <a:bodyPr/>
          <a:lstStyle/>
          <a:p>
            <a:fld id="{99AC21F4-998D-4BCD-B9E5-CFA879D290F7}" type="slidenum">
              <a:rPr lang="ru-RU" smtClean="0"/>
              <a:t>52</a:t>
            </a:fld>
            <a:endParaRPr lang="ru-RU"/>
          </a:p>
        </p:txBody>
      </p:sp>
    </p:spTree>
    <p:extLst>
      <p:ext uri="{BB962C8B-B14F-4D97-AF65-F5344CB8AC3E}">
        <p14:creationId xmlns:p14="http://schemas.microsoft.com/office/powerpoint/2010/main" val="26912890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Как вы знаете, современный интернет рассчитан на различный размер экранов и соотношений сторон устройств, с которых просматривают его ресурсы. Действительно, мало того, что экран компьютера или ноутбука значительно больше по размерам экрана смартфона, так еще имеются явные отличия в пропорциях – для смартфона более подходит вертикальный, вытянутый интерфейс сайта, тогда как для компьютера или ноутбука – горизонтальный, имеющий большую ширину, чем высоту. Тем самым, создавая современную </a:t>
            </a:r>
            <a:r>
              <a:rPr lang="en-US" dirty="0"/>
              <a:t>web-</a:t>
            </a:r>
            <a:r>
              <a:rPr lang="ru-RU" dirty="0"/>
              <a:t>страницу следует учитывать все возможные варианты соотношений сторон и размеров экранов, с которых эта страница будет просмотрена. И если контент с текстовым наполнением мы можем легко вписать в экран аргументом </a:t>
            </a:r>
            <a:r>
              <a:rPr lang="en-US" dirty="0"/>
              <a:t>width</a:t>
            </a:r>
            <a:r>
              <a:rPr lang="ru-RU" dirty="0"/>
              <a:t>, то с изображениями ситуация сложнее.</a:t>
            </a:r>
          </a:p>
        </p:txBody>
      </p:sp>
      <p:sp>
        <p:nvSpPr>
          <p:cNvPr id="4" name="Номер слайда 3"/>
          <p:cNvSpPr>
            <a:spLocks noGrp="1"/>
          </p:cNvSpPr>
          <p:nvPr>
            <p:ph type="sldNum" sz="quarter" idx="5"/>
          </p:nvPr>
        </p:nvSpPr>
        <p:spPr/>
        <p:txBody>
          <a:bodyPr/>
          <a:lstStyle/>
          <a:p>
            <a:fld id="{99AC21F4-998D-4BCD-B9E5-CFA879D290F7}" type="slidenum">
              <a:rPr lang="ru-RU" smtClean="0"/>
              <a:t>55</a:t>
            </a:fld>
            <a:endParaRPr lang="ru-RU"/>
          </a:p>
        </p:txBody>
      </p:sp>
    </p:spTree>
    <p:extLst>
      <p:ext uri="{BB962C8B-B14F-4D97-AF65-F5344CB8AC3E}">
        <p14:creationId xmlns:p14="http://schemas.microsoft.com/office/powerpoint/2010/main" val="36997448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Предположим, что на вашем сайте располагается изображение с общим планом, по центру которого находится человек. На экране ноутбука или компьютера оно отображается во всю страницу и все его части легко разобрать, тогда как на смартфоне человек окажется крайне мелким объектом, из-за чего разглядеть его черты будет проблематично.</a:t>
            </a:r>
          </a:p>
        </p:txBody>
      </p:sp>
      <p:sp>
        <p:nvSpPr>
          <p:cNvPr id="4" name="Номер слайда 3"/>
          <p:cNvSpPr>
            <a:spLocks noGrp="1"/>
          </p:cNvSpPr>
          <p:nvPr>
            <p:ph type="sldNum" sz="quarter" idx="5"/>
          </p:nvPr>
        </p:nvSpPr>
        <p:spPr/>
        <p:txBody>
          <a:bodyPr/>
          <a:lstStyle/>
          <a:p>
            <a:fld id="{99AC21F4-998D-4BCD-B9E5-CFA879D290F7}" type="slidenum">
              <a:rPr lang="ru-RU" smtClean="0"/>
              <a:t>56</a:t>
            </a:fld>
            <a:endParaRPr lang="ru-RU"/>
          </a:p>
        </p:txBody>
      </p:sp>
    </p:spTree>
    <p:extLst>
      <p:ext uri="{BB962C8B-B14F-4D97-AF65-F5344CB8AC3E}">
        <p14:creationId xmlns:p14="http://schemas.microsoft.com/office/powerpoint/2010/main" val="21032952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конкретном примере логичным является обрезать изображение по бокам так, чтобы на смартфоне центральный объект выглядел крупнее. Но, получается, что для компьютеров и смартфонов будут нужны различные изображения?</a:t>
            </a:r>
          </a:p>
        </p:txBody>
      </p:sp>
      <p:sp>
        <p:nvSpPr>
          <p:cNvPr id="4" name="Номер слайда 3"/>
          <p:cNvSpPr>
            <a:spLocks noGrp="1"/>
          </p:cNvSpPr>
          <p:nvPr>
            <p:ph type="sldNum" sz="quarter" idx="5"/>
          </p:nvPr>
        </p:nvSpPr>
        <p:spPr/>
        <p:txBody>
          <a:bodyPr/>
          <a:lstStyle/>
          <a:p>
            <a:fld id="{99AC21F4-998D-4BCD-B9E5-CFA879D290F7}" type="slidenum">
              <a:rPr lang="ru-RU" smtClean="0"/>
              <a:t>57</a:t>
            </a:fld>
            <a:endParaRPr lang="ru-RU"/>
          </a:p>
        </p:txBody>
      </p:sp>
    </p:spTree>
    <p:extLst>
      <p:ext uri="{BB962C8B-B14F-4D97-AF65-F5344CB8AC3E}">
        <p14:creationId xmlns:p14="http://schemas.microsoft.com/office/powerpoint/2010/main" val="26332336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И вот тут некоторые из вас могут сказать – так давайте обрабатывать изображение скриптом </a:t>
            </a:r>
            <a:r>
              <a:rPr lang="en-US" dirty="0"/>
              <a:t>JS</a:t>
            </a:r>
            <a:r>
              <a:rPr lang="ru-RU" dirty="0"/>
              <a:t>. Мощный инструментарий языка действительно дает возможности по масштабированию или кадрированию области с изображением, но нельзя забывать о производительности. Средние значения замеров скорости показывают, что адаптация под экран устройства изображений делает загрузку страницы на 20% медленнее. Когда браузер начинает загружать страницу, он начинает загрузку изображений до того, как главный парсер начал загружать и интерпретировать CSS и </a:t>
            </a:r>
            <a:r>
              <a:rPr lang="en-US" dirty="0"/>
              <a:t>JS</a:t>
            </a:r>
            <a:r>
              <a:rPr lang="ru-RU" dirty="0"/>
              <a:t>. Если скрипт</a:t>
            </a:r>
            <a:r>
              <a:rPr lang="en-US" dirty="0"/>
              <a:t> </a:t>
            </a:r>
            <a:r>
              <a:rPr lang="ru-RU" dirty="0"/>
              <a:t>грузится перед рендером основной страницы – пользователь видит пустой экран на 20% больше возможного времени, если же скрипт вызывается после рендера основного контента – эти 20% времени загрузки пользователь будет видеть исходное изображение без масштабирования, после чего произойдет резкая смена отображаемого контента. Ни один из описанных сценариев не является предпочтительным.</a:t>
            </a:r>
          </a:p>
        </p:txBody>
      </p:sp>
      <p:sp>
        <p:nvSpPr>
          <p:cNvPr id="4" name="Номер слайда 3"/>
          <p:cNvSpPr>
            <a:spLocks noGrp="1"/>
          </p:cNvSpPr>
          <p:nvPr>
            <p:ph type="sldNum" sz="quarter" idx="5"/>
          </p:nvPr>
        </p:nvSpPr>
        <p:spPr/>
        <p:txBody>
          <a:bodyPr/>
          <a:lstStyle/>
          <a:p>
            <a:fld id="{99AC21F4-998D-4BCD-B9E5-CFA879D290F7}" type="slidenum">
              <a:rPr lang="ru-RU" smtClean="0"/>
              <a:t>58</a:t>
            </a:fld>
            <a:endParaRPr lang="ru-RU"/>
          </a:p>
        </p:txBody>
      </p:sp>
    </p:spTree>
    <p:extLst>
      <p:ext uri="{BB962C8B-B14F-4D97-AF65-F5344CB8AC3E}">
        <p14:creationId xmlns:p14="http://schemas.microsoft.com/office/powerpoint/2010/main" val="4175585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Изображения веб-страницы должны быть адаптируемыми к разрешению окна браузера, в первую очередь, к ширине. Масштабирование изображений скриптом вызывает задержку загрузки страницы в среднем на 20%. Лучший выход – воспользоваться несколькими изображениями под разную ширину экрана с помощью техники адаптивных (</a:t>
            </a:r>
            <a:r>
              <a:rPr lang="en-US" dirty="0"/>
              <a:t>responsive, </a:t>
            </a:r>
            <a:r>
              <a:rPr lang="ru-RU" dirty="0"/>
              <a:t>иногда называют гибкими) изображений.</a:t>
            </a:r>
          </a:p>
        </p:txBody>
      </p:sp>
      <p:sp>
        <p:nvSpPr>
          <p:cNvPr id="4" name="Номер слайда 3"/>
          <p:cNvSpPr>
            <a:spLocks noGrp="1"/>
          </p:cNvSpPr>
          <p:nvPr>
            <p:ph type="sldNum" sz="quarter" idx="5"/>
          </p:nvPr>
        </p:nvSpPr>
        <p:spPr/>
        <p:txBody>
          <a:bodyPr/>
          <a:lstStyle/>
          <a:p>
            <a:fld id="{99AC21F4-998D-4BCD-B9E5-CFA879D290F7}" type="slidenum">
              <a:rPr lang="ru-RU" smtClean="0"/>
              <a:t>59</a:t>
            </a:fld>
            <a:endParaRPr lang="ru-RU"/>
          </a:p>
        </p:txBody>
      </p:sp>
    </p:spTree>
    <p:extLst>
      <p:ext uri="{BB962C8B-B14F-4D97-AF65-F5344CB8AC3E}">
        <p14:creationId xmlns:p14="http://schemas.microsoft.com/office/powerpoint/2010/main" val="15837560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3</a:t>
            </a:r>
            <a:r>
              <a:rPr lang="ru-RU" dirty="0"/>
              <a:t> способа создания адаптивных изображений:</a:t>
            </a:r>
          </a:p>
          <a:p>
            <a:r>
              <a:rPr lang="ru-RU" dirty="0"/>
              <a:t>1) векторная графика;</a:t>
            </a:r>
          </a:p>
          <a:p>
            <a:r>
              <a:rPr lang="ru-RU" dirty="0"/>
              <a:t>2) переключение разрешений;</a:t>
            </a:r>
          </a:p>
          <a:p>
            <a:r>
              <a:rPr lang="ru-RU" dirty="0"/>
              <a:t>3) художественное оформление.</a:t>
            </a:r>
          </a:p>
          <a:p>
            <a:r>
              <a:rPr lang="ru-RU" dirty="0"/>
              <a:t>Рассмотрим каждый из них.</a:t>
            </a:r>
          </a:p>
        </p:txBody>
      </p:sp>
      <p:sp>
        <p:nvSpPr>
          <p:cNvPr id="4" name="Номер слайда 3"/>
          <p:cNvSpPr>
            <a:spLocks noGrp="1"/>
          </p:cNvSpPr>
          <p:nvPr>
            <p:ph type="sldNum" sz="quarter" idx="5"/>
          </p:nvPr>
        </p:nvSpPr>
        <p:spPr/>
        <p:txBody>
          <a:bodyPr/>
          <a:lstStyle/>
          <a:p>
            <a:fld id="{99AC21F4-998D-4BCD-B9E5-CFA879D290F7}" type="slidenum">
              <a:rPr lang="ru-RU" smtClean="0"/>
              <a:t>60</a:t>
            </a:fld>
            <a:endParaRPr lang="ru-RU"/>
          </a:p>
        </p:txBody>
      </p:sp>
    </p:spTree>
    <p:extLst>
      <p:ext uri="{BB962C8B-B14F-4D97-AF65-F5344CB8AC3E}">
        <p14:creationId xmlns:p14="http://schemas.microsoft.com/office/powerpoint/2010/main" val="1892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Векторные изображения хранят информацию не в виде отдельных пикселов, но в виде фигур, линий и т.д.</a:t>
            </a:r>
            <a:r>
              <a:rPr lang="en-US" dirty="0"/>
              <a:t>, </a:t>
            </a:r>
            <a:r>
              <a:rPr lang="ru-RU" dirty="0"/>
              <a:t>они масштабируются без потери качества. </a:t>
            </a:r>
            <a:r>
              <a:rPr lang="en-US" dirty="0"/>
              <a:t>&lt;img </a:t>
            </a:r>
            <a:r>
              <a:rPr lang="en-US" dirty="0" err="1"/>
              <a:t>src</a:t>
            </a:r>
            <a:r>
              <a:rPr lang="en-US" dirty="0"/>
              <a:t>="</a:t>
            </a:r>
            <a:r>
              <a:rPr lang="en-US" dirty="0" err="1"/>
              <a:t>picture.svg</a:t>
            </a:r>
            <a:r>
              <a:rPr lang="en-US" dirty="0"/>
              <a:t>"&gt; -</a:t>
            </a:r>
            <a:r>
              <a:rPr lang="ru-RU" dirty="0"/>
              <a:t> добавляет векторное изображение </a:t>
            </a:r>
            <a:r>
              <a:rPr lang="en-US" dirty="0" err="1"/>
              <a:t>svg</a:t>
            </a:r>
            <a:r>
              <a:rPr lang="ru-RU" dirty="0"/>
              <a:t>. Сравнение растрового с векторным изображением приведены на слайде. Изображение слева содержит информацию о пикселах, поэтому при растяжении малой иконки контуры размываются, качество отображения неудовлетворительное. Изображение справа состоит из отдельных цветных прямоугольников и прочих фигур, из-за чего при изменении размера качество его отображения не ухудшается.</a:t>
            </a:r>
          </a:p>
        </p:txBody>
      </p:sp>
      <p:sp>
        <p:nvSpPr>
          <p:cNvPr id="4" name="Номер слайда 3"/>
          <p:cNvSpPr>
            <a:spLocks noGrp="1"/>
          </p:cNvSpPr>
          <p:nvPr>
            <p:ph type="sldNum" sz="quarter" idx="5"/>
          </p:nvPr>
        </p:nvSpPr>
        <p:spPr/>
        <p:txBody>
          <a:bodyPr/>
          <a:lstStyle/>
          <a:p>
            <a:fld id="{99AC21F4-998D-4BCD-B9E5-CFA879D290F7}" type="slidenum">
              <a:rPr lang="ru-RU" smtClean="0"/>
              <a:t>61</a:t>
            </a:fld>
            <a:endParaRPr lang="ru-RU"/>
          </a:p>
        </p:txBody>
      </p:sp>
    </p:spTree>
    <p:extLst>
      <p:ext uri="{BB962C8B-B14F-4D97-AF65-F5344CB8AC3E}">
        <p14:creationId xmlns:p14="http://schemas.microsoft.com/office/powerpoint/2010/main" val="31952952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отображения </a:t>
            </a:r>
            <a:r>
              <a:rPr lang="en-US" dirty="0" err="1"/>
              <a:t>svg</a:t>
            </a:r>
            <a:r>
              <a:rPr lang="en-US" dirty="0"/>
              <a:t> </a:t>
            </a:r>
            <a:r>
              <a:rPr lang="ru-RU" dirty="0"/>
              <a:t>требуется вычисление итогового</a:t>
            </a:r>
            <a:r>
              <a:rPr lang="en-US" dirty="0"/>
              <a:t> </a:t>
            </a:r>
            <a:r>
              <a:rPr lang="ru-RU" dirty="0"/>
              <a:t>изображения, что для сложных изображений может вызывать задержки</a:t>
            </a:r>
            <a:r>
              <a:rPr lang="en-US" dirty="0"/>
              <a:t>. </a:t>
            </a:r>
            <a:r>
              <a:rPr lang="ru-RU" dirty="0"/>
              <a:t>Тегом </a:t>
            </a:r>
            <a:r>
              <a:rPr lang="en-US" dirty="0" err="1"/>
              <a:t>svg</a:t>
            </a:r>
            <a:r>
              <a:rPr lang="en-US" dirty="0"/>
              <a:t> </a:t>
            </a:r>
            <a:r>
              <a:rPr lang="ru-RU" dirty="0"/>
              <a:t>можно добавлять векторное изображение в виде фигур, путей и т.п., в </a:t>
            </a:r>
            <a:r>
              <a:rPr lang="en-US" dirty="0"/>
              <a:t>xml </a:t>
            </a:r>
            <a:r>
              <a:rPr lang="ru-RU" dirty="0"/>
              <a:t>формате (</a:t>
            </a:r>
            <a:r>
              <a:rPr lang="en-US" dirty="0" err="1"/>
              <a:t>svg</a:t>
            </a:r>
            <a:r>
              <a:rPr lang="en-US" dirty="0"/>
              <a:t> – </a:t>
            </a:r>
            <a:r>
              <a:rPr lang="ru-RU" dirty="0"/>
              <a:t>документ</a:t>
            </a:r>
            <a:r>
              <a:rPr lang="en-US" dirty="0"/>
              <a:t> </a:t>
            </a:r>
            <a:r>
              <a:rPr lang="ru-RU" dirty="0"/>
              <a:t>подвида </a:t>
            </a:r>
            <a:r>
              <a:rPr lang="en-US" dirty="0"/>
              <a:t>xml</a:t>
            </a:r>
            <a:r>
              <a:rPr lang="ru-RU" dirty="0"/>
              <a:t>)</a:t>
            </a:r>
            <a:r>
              <a:rPr lang="en-US" dirty="0"/>
              <a:t>. </a:t>
            </a:r>
            <a:r>
              <a:rPr lang="ru-RU" dirty="0"/>
              <a:t>Существуют и другие векторные форматы графики, но для </a:t>
            </a:r>
            <a:r>
              <a:rPr lang="en-US" dirty="0"/>
              <a:t>HTML </a:t>
            </a:r>
            <a:r>
              <a:rPr lang="ru-RU" dirty="0"/>
              <a:t>используют </a:t>
            </a:r>
            <a:r>
              <a:rPr lang="en-US" dirty="0" err="1"/>
              <a:t>svg</a:t>
            </a:r>
            <a:r>
              <a:rPr lang="en-US" dirty="0"/>
              <a:t>.</a:t>
            </a:r>
            <a:r>
              <a:rPr lang="ru-RU" dirty="0"/>
              <a:t> Изображения </a:t>
            </a:r>
            <a:r>
              <a:rPr lang="ru-RU" dirty="0" err="1"/>
              <a:t>svg</a:t>
            </a:r>
            <a:r>
              <a:rPr lang="ru-RU" dirty="0"/>
              <a:t> рекомендуют использовать для схем, иллюстраций, иногда логотипов. Например, на сайтах энциклопедий множество схематичных иллюстраций, карт и т.п. выполняются именно в </a:t>
            </a:r>
            <a:r>
              <a:rPr lang="en-US" dirty="0" err="1"/>
              <a:t>svg</a:t>
            </a:r>
            <a:r>
              <a:rPr lang="en-US" dirty="0"/>
              <a:t> </a:t>
            </a:r>
            <a:r>
              <a:rPr lang="ru-RU" dirty="0"/>
              <a:t>формате.</a:t>
            </a:r>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62</a:t>
            </a:fld>
            <a:endParaRPr lang="ru-RU"/>
          </a:p>
        </p:txBody>
      </p:sp>
    </p:spTree>
    <p:extLst>
      <p:ext uri="{BB962C8B-B14F-4D97-AF65-F5344CB8AC3E}">
        <p14:creationId xmlns:p14="http://schemas.microsoft.com/office/powerpoint/2010/main" val="36033391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Пример формирования </a:t>
            </a:r>
            <a:r>
              <a:rPr lang="en-US" dirty="0" err="1"/>
              <a:t>svg</a:t>
            </a:r>
            <a:r>
              <a:rPr lang="en-US" dirty="0"/>
              <a:t> </a:t>
            </a:r>
            <a:r>
              <a:rPr lang="ru-RU" dirty="0"/>
              <a:t>изображения с черным прямоугольником и синим кругом представлено на слайде. Для задания различных фигур используются свои теги внутри</a:t>
            </a:r>
            <a:r>
              <a:rPr lang="en-US" dirty="0"/>
              <a:t> </a:t>
            </a:r>
            <a:r>
              <a:rPr lang="ru-RU" dirty="0"/>
              <a:t>контейнера </a:t>
            </a:r>
            <a:r>
              <a:rPr lang="en-US" dirty="0" err="1"/>
              <a:t>svg</a:t>
            </a:r>
            <a:r>
              <a:rPr lang="en-US" dirty="0"/>
              <a:t>, </a:t>
            </a:r>
            <a:r>
              <a:rPr lang="ru-RU" dirty="0"/>
              <a:t>у самого же тега </a:t>
            </a:r>
            <a:r>
              <a:rPr lang="en-US" dirty="0" err="1"/>
              <a:t>svg</a:t>
            </a:r>
            <a:r>
              <a:rPr lang="en-US" dirty="0"/>
              <a:t> </a:t>
            </a:r>
            <a:r>
              <a:rPr lang="ru-RU" dirty="0"/>
              <a:t>могут быть аргументы – высота, ширина, возможность анимации и другие. В целом, лучшим выходом является создание </a:t>
            </a:r>
            <a:r>
              <a:rPr lang="en-US" dirty="0" err="1"/>
              <a:t>svg</a:t>
            </a:r>
            <a:r>
              <a:rPr lang="en-US" dirty="0"/>
              <a:t> </a:t>
            </a:r>
            <a:r>
              <a:rPr lang="ru-RU" dirty="0"/>
              <a:t>в специальных редакторах изображений, таких как </a:t>
            </a:r>
            <a:r>
              <a:rPr lang="en-US" dirty="0"/>
              <a:t>Illustrator </a:t>
            </a:r>
            <a:r>
              <a:rPr lang="ru-RU" dirty="0"/>
              <a:t>или </a:t>
            </a:r>
            <a:r>
              <a:rPr lang="en-US" dirty="0" err="1"/>
              <a:t>Inkspace</a:t>
            </a:r>
            <a:r>
              <a:rPr lang="en-US" dirty="0"/>
              <a:t>.</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63</a:t>
            </a:fld>
            <a:endParaRPr lang="ru-RU"/>
          </a:p>
        </p:txBody>
      </p:sp>
    </p:spTree>
    <p:extLst>
      <p:ext uri="{BB962C8B-B14F-4D97-AF65-F5344CB8AC3E}">
        <p14:creationId xmlns:p14="http://schemas.microsoft.com/office/powerpoint/2010/main" val="42019523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Переключение разрешений</a:t>
            </a:r>
            <a:r>
              <a:rPr lang="en-US" dirty="0"/>
              <a:t> </a:t>
            </a:r>
            <a:r>
              <a:rPr lang="ru-RU" dirty="0"/>
              <a:t>изображения в теге </a:t>
            </a:r>
            <a:r>
              <a:rPr lang="en-US" dirty="0"/>
              <a:t>img </a:t>
            </a:r>
            <a:r>
              <a:rPr lang="ru-RU" dirty="0"/>
              <a:t>возможна аргументами </a:t>
            </a:r>
            <a:r>
              <a:rPr lang="en-US" dirty="0" err="1"/>
              <a:t>scrset</a:t>
            </a:r>
            <a:r>
              <a:rPr lang="en-US" dirty="0"/>
              <a:t> </a:t>
            </a:r>
            <a:r>
              <a:rPr lang="ru-RU" dirty="0"/>
              <a:t>и </a:t>
            </a:r>
            <a:r>
              <a:rPr lang="en-US" dirty="0"/>
              <a:t>sizes. </a:t>
            </a:r>
            <a:r>
              <a:rPr lang="ru-RU" dirty="0"/>
              <a:t>Зафиксируем себе пример тега с переключением изображений трех разрешений. Подчеркнутые элементы – аппендиксы, указывающие на ширину, в </a:t>
            </a:r>
            <a:r>
              <a:rPr lang="en-US" dirty="0" err="1"/>
              <a:t>scrset</a:t>
            </a:r>
            <a:r>
              <a:rPr lang="en-US" dirty="0"/>
              <a:t> </a:t>
            </a:r>
            <a:r>
              <a:rPr lang="ru-RU" dirty="0"/>
              <a:t>это </a:t>
            </a:r>
            <a:r>
              <a:rPr lang="en-US" dirty="0"/>
              <a:t>w, </a:t>
            </a:r>
            <a:r>
              <a:rPr lang="ru-RU" dirty="0"/>
              <a:t>в </a:t>
            </a:r>
            <a:r>
              <a:rPr lang="en-US" dirty="0"/>
              <a:t>sizes – px.</a:t>
            </a:r>
            <a:endParaRPr lang="ru-RU" dirty="0"/>
          </a:p>
          <a:p>
            <a:pPr marL="0" indent="0">
              <a:buNone/>
            </a:pPr>
            <a:r>
              <a:rPr lang="en-US" dirty="0"/>
              <a:t>&lt;img  </a:t>
            </a:r>
            <a:r>
              <a:rPr lang="en-US" dirty="0" err="1"/>
              <a:t>scrset</a:t>
            </a:r>
            <a:r>
              <a:rPr lang="en-US" dirty="0"/>
              <a:t>="</a:t>
            </a:r>
            <a:r>
              <a:rPr lang="ru-RU" dirty="0"/>
              <a:t>файл1.</a:t>
            </a:r>
            <a:r>
              <a:rPr lang="en-US" dirty="0"/>
              <a:t>jpg </a:t>
            </a:r>
            <a:r>
              <a:rPr lang="ru-RU" dirty="0"/>
              <a:t>ширина</a:t>
            </a:r>
            <a:r>
              <a:rPr lang="en-US" dirty="0"/>
              <a:t>_</a:t>
            </a:r>
            <a:r>
              <a:rPr lang="ru-RU" dirty="0" err="1"/>
              <a:t>в_пикселах</a:t>
            </a:r>
            <a:r>
              <a:rPr lang="en-US" u="sng" dirty="0"/>
              <a:t>w</a:t>
            </a:r>
            <a:r>
              <a:rPr lang="ru-RU" dirty="0"/>
              <a:t>,</a:t>
            </a:r>
            <a:br>
              <a:rPr lang="ru-RU" dirty="0"/>
            </a:br>
            <a:r>
              <a:rPr lang="ru-RU" dirty="0"/>
              <a:t>		 файл2.</a:t>
            </a:r>
            <a:r>
              <a:rPr lang="en-US" dirty="0"/>
              <a:t>jpg </a:t>
            </a:r>
            <a:r>
              <a:rPr lang="ru-RU" dirty="0"/>
              <a:t>ширина</a:t>
            </a:r>
            <a:r>
              <a:rPr lang="en-US" dirty="0"/>
              <a:t>_</a:t>
            </a:r>
            <a:r>
              <a:rPr lang="ru-RU" dirty="0" err="1"/>
              <a:t>в_пикселах</a:t>
            </a:r>
            <a:r>
              <a:rPr lang="en-US" u="sng" dirty="0"/>
              <a:t>w</a:t>
            </a:r>
            <a:r>
              <a:rPr lang="ru-RU" dirty="0"/>
              <a:t> </a:t>
            </a:r>
            <a:r>
              <a:rPr lang="en-US" dirty="0"/>
              <a:t>" </a:t>
            </a:r>
            <a:br>
              <a:rPr lang="ru-RU" dirty="0"/>
            </a:br>
            <a:r>
              <a:rPr lang="ru-RU" dirty="0"/>
              <a:t>	</a:t>
            </a:r>
            <a:r>
              <a:rPr lang="en-US" dirty="0"/>
              <a:t>sizes="(max-width:</a:t>
            </a:r>
            <a:r>
              <a:rPr lang="ru-RU" dirty="0" err="1"/>
              <a:t>ширина_вьюпорта</a:t>
            </a:r>
            <a:r>
              <a:rPr lang="en-US" u="sng" dirty="0"/>
              <a:t>px</a:t>
            </a:r>
            <a:r>
              <a:rPr lang="en-US" dirty="0"/>
              <a:t>): </a:t>
            </a:r>
            <a:r>
              <a:rPr lang="ru-RU" dirty="0" err="1"/>
              <a:t>ширина_слота</a:t>
            </a:r>
            <a:r>
              <a:rPr lang="en-US" u="sng" dirty="0"/>
              <a:t>px,</a:t>
            </a:r>
            <a:br>
              <a:rPr lang="en-US" u="sng" dirty="0"/>
            </a:br>
            <a:r>
              <a:rPr lang="en-US" dirty="0"/>
              <a:t>		 (max-width:</a:t>
            </a:r>
            <a:r>
              <a:rPr lang="ru-RU" dirty="0" err="1"/>
              <a:t>ширина_вьюпорта</a:t>
            </a:r>
            <a:r>
              <a:rPr lang="en-US" u="sng" dirty="0"/>
              <a:t>px</a:t>
            </a:r>
            <a:r>
              <a:rPr lang="en-US" dirty="0"/>
              <a:t>): </a:t>
            </a:r>
            <a:r>
              <a:rPr lang="ru-RU" dirty="0" err="1"/>
              <a:t>ширина_слота</a:t>
            </a:r>
            <a:r>
              <a:rPr lang="en-US" u="sng" dirty="0"/>
              <a:t>px,</a:t>
            </a:r>
            <a:br>
              <a:rPr lang="en-US" u="sng" dirty="0"/>
            </a:br>
            <a:r>
              <a:rPr lang="en-US" dirty="0"/>
              <a:t>		</a:t>
            </a:r>
            <a:r>
              <a:rPr lang="ru-RU" dirty="0"/>
              <a:t> </a:t>
            </a:r>
            <a:r>
              <a:rPr lang="ru-RU" dirty="0" err="1"/>
              <a:t>ширина_слота</a:t>
            </a:r>
            <a:r>
              <a:rPr lang="en-US" u="sng" dirty="0"/>
              <a:t>px</a:t>
            </a:r>
            <a:r>
              <a:rPr lang="en-US" dirty="0"/>
              <a:t>"</a:t>
            </a:r>
            <a:br>
              <a:rPr lang="en-US" dirty="0"/>
            </a:br>
            <a:r>
              <a:rPr lang="en-US" dirty="0"/>
              <a:t>	</a:t>
            </a:r>
            <a:r>
              <a:rPr lang="en-US" dirty="0" err="1"/>
              <a:t>src</a:t>
            </a:r>
            <a:r>
              <a:rPr lang="en-US" dirty="0"/>
              <a:t>="</a:t>
            </a:r>
            <a:r>
              <a:rPr lang="ru-RU" dirty="0" err="1"/>
              <a:t>файл_по_умолчанию</a:t>
            </a:r>
            <a:r>
              <a:rPr lang="ru-RU" dirty="0"/>
              <a:t>.</a:t>
            </a:r>
            <a:r>
              <a:rPr lang="en-US" dirty="0"/>
              <a:t>jpg"/&gt;</a:t>
            </a:r>
            <a:endParaRPr lang="ru-RU" dirty="0"/>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64</a:t>
            </a:fld>
            <a:endParaRPr lang="ru-RU"/>
          </a:p>
        </p:txBody>
      </p:sp>
    </p:spTree>
    <p:extLst>
      <p:ext uri="{BB962C8B-B14F-4D97-AF65-F5344CB8AC3E}">
        <p14:creationId xmlns:p14="http://schemas.microsoft.com/office/powerpoint/2010/main" val="13983591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Разберем аргументы данного тега и их параметры:</a:t>
            </a:r>
            <a:r>
              <a:rPr lang="en-US" dirty="0"/>
              <a:t> </a:t>
            </a:r>
            <a:r>
              <a:rPr lang="ru-RU" dirty="0" err="1"/>
              <a:t>sr</a:t>
            </a:r>
            <a:r>
              <a:rPr lang="en-US" dirty="0"/>
              <a:t>c</a:t>
            </a:r>
            <a:r>
              <a:rPr lang="ru-RU" dirty="0" err="1"/>
              <a:t>set</a:t>
            </a:r>
            <a:r>
              <a:rPr lang="en-US" dirty="0"/>
              <a:t> – </a:t>
            </a:r>
            <a:r>
              <a:rPr lang="ru-RU" dirty="0"/>
              <a:t>массив ссылок на изображения с указанием их ширины в пикселах; </a:t>
            </a:r>
            <a:r>
              <a:rPr lang="en-US" dirty="0"/>
              <a:t>sizes – </a:t>
            </a:r>
            <a:r>
              <a:rPr lang="ru-RU" dirty="0"/>
              <a:t>так называемые медиа-правила, которые выбирают одно из изображений </a:t>
            </a:r>
            <a:r>
              <a:rPr lang="en-US" dirty="0" err="1"/>
              <a:t>srcset</a:t>
            </a:r>
            <a:r>
              <a:rPr lang="ru-RU" dirty="0"/>
              <a:t>, ширина которого наиболее близка к ширине слота правила; </a:t>
            </a:r>
            <a:r>
              <a:rPr lang="ru-RU" dirty="0" err="1"/>
              <a:t>ширина_вьюпорта</a:t>
            </a:r>
            <a:r>
              <a:rPr lang="ru-RU" dirty="0"/>
              <a:t> – текущая ширина окна браузера; </a:t>
            </a:r>
            <a:r>
              <a:rPr lang="ru-RU" dirty="0" err="1"/>
              <a:t>ширина_слота</a:t>
            </a:r>
            <a:r>
              <a:rPr lang="ru-RU" dirty="0"/>
              <a:t> – задаваемая ширина изображения. </a:t>
            </a:r>
          </a:p>
        </p:txBody>
      </p:sp>
      <p:sp>
        <p:nvSpPr>
          <p:cNvPr id="4" name="Номер слайда 3"/>
          <p:cNvSpPr>
            <a:spLocks noGrp="1"/>
          </p:cNvSpPr>
          <p:nvPr>
            <p:ph type="sldNum" sz="quarter" idx="5"/>
          </p:nvPr>
        </p:nvSpPr>
        <p:spPr/>
        <p:txBody>
          <a:bodyPr/>
          <a:lstStyle/>
          <a:p>
            <a:fld id="{99AC21F4-998D-4BCD-B9E5-CFA879D290F7}" type="slidenum">
              <a:rPr lang="ru-RU" smtClean="0"/>
              <a:t>65</a:t>
            </a:fld>
            <a:endParaRPr lang="ru-RU"/>
          </a:p>
        </p:txBody>
      </p:sp>
    </p:spTree>
    <p:extLst>
      <p:ext uri="{BB962C8B-B14F-4D97-AF65-F5344CB8AC3E}">
        <p14:creationId xmlns:p14="http://schemas.microsoft.com/office/powerpoint/2010/main" val="18151477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Медиа-правила можно читать следующим образом: (</a:t>
            </a:r>
            <a:r>
              <a:rPr lang="en-US" dirty="0"/>
              <a:t>max-width:</a:t>
            </a:r>
            <a:r>
              <a:rPr lang="ru-RU" dirty="0"/>
              <a:t>800</a:t>
            </a:r>
            <a:r>
              <a:rPr lang="en-US" dirty="0"/>
              <a:t>px): </a:t>
            </a:r>
            <a:r>
              <a:rPr lang="ru-RU" dirty="0"/>
              <a:t>800</a:t>
            </a:r>
            <a:r>
              <a:rPr lang="en-US" dirty="0"/>
              <a:t>px</a:t>
            </a:r>
            <a:r>
              <a:rPr lang="ru-RU" dirty="0"/>
              <a:t> = если ширина окна (</a:t>
            </a:r>
            <a:r>
              <a:rPr lang="ru-RU" dirty="0" err="1"/>
              <a:t>вьюпорт</a:t>
            </a:r>
            <a:r>
              <a:rPr lang="ru-RU" dirty="0"/>
              <a:t>) не более 800 пикселов, измени размер области, занимаемой изображением (слот) на 800 пикселов. Аргумент s</a:t>
            </a:r>
            <a:r>
              <a:rPr lang="en-US" dirty="0" err="1"/>
              <a:t>rc</a:t>
            </a:r>
            <a:r>
              <a:rPr lang="ru-RU" dirty="0"/>
              <a:t> – изображение по умолчанию для старых браузеров, которые не понимают медиа-правила.</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66</a:t>
            </a:fld>
            <a:endParaRPr lang="ru-RU"/>
          </a:p>
        </p:txBody>
      </p:sp>
    </p:spTree>
    <p:extLst>
      <p:ext uri="{BB962C8B-B14F-4D97-AF65-F5344CB8AC3E}">
        <p14:creationId xmlns:p14="http://schemas.microsoft.com/office/powerpoint/2010/main" val="16753120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Пример использования этой техники вы видите на слайде, отображение здесь не совсем корректно из-за включенного в </a:t>
            </a:r>
            <a:r>
              <a:rPr lang="en-US" dirty="0"/>
              <a:t>windows </a:t>
            </a:r>
            <a:r>
              <a:rPr lang="ru-RU" dirty="0"/>
              <a:t>общего масштабирования интерфейса, но смена изображений, как можно заметить, происходит корректно.</a:t>
            </a:r>
          </a:p>
        </p:txBody>
      </p:sp>
      <p:sp>
        <p:nvSpPr>
          <p:cNvPr id="4" name="Номер слайда 3"/>
          <p:cNvSpPr>
            <a:spLocks noGrp="1"/>
          </p:cNvSpPr>
          <p:nvPr>
            <p:ph type="sldNum" sz="quarter" idx="5"/>
          </p:nvPr>
        </p:nvSpPr>
        <p:spPr/>
        <p:txBody>
          <a:bodyPr/>
          <a:lstStyle/>
          <a:p>
            <a:fld id="{99AC21F4-998D-4BCD-B9E5-CFA879D290F7}" type="slidenum">
              <a:rPr lang="ru-RU" smtClean="0"/>
              <a:t>67</a:t>
            </a:fld>
            <a:endParaRPr lang="ru-RU"/>
          </a:p>
        </p:txBody>
      </p:sp>
    </p:spTree>
    <p:extLst>
      <p:ext uri="{BB962C8B-B14F-4D97-AF65-F5344CB8AC3E}">
        <p14:creationId xmlns:p14="http://schemas.microsoft.com/office/powerpoint/2010/main" val="34867084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корректной работы адаптивных изображений в мобильных браузерах необходимо в </a:t>
            </a:r>
            <a:r>
              <a:rPr lang="en-US" dirty="0"/>
              <a:t>head </a:t>
            </a:r>
            <a:r>
              <a:rPr lang="ru-RU" dirty="0"/>
              <a:t>указывать тег </a:t>
            </a:r>
            <a:r>
              <a:rPr lang="en-US" dirty="0"/>
              <a:t>&lt;meta name="viewport" content="width=device-width"&gt;</a:t>
            </a:r>
            <a:r>
              <a:rPr lang="ru-RU" dirty="0"/>
              <a:t>. Дело в том, что мобильные браузеры могут грузить страницу с большей шириной </a:t>
            </a:r>
            <a:r>
              <a:rPr lang="ru-RU" dirty="0" err="1"/>
              <a:t>вьюпорта</a:t>
            </a:r>
            <a:r>
              <a:rPr lang="ru-RU" dirty="0"/>
              <a:t>, а затем ужимать результат до реального размера экрана. Данный тег заставляет обойти эту проблему.</a:t>
            </a:r>
          </a:p>
        </p:txBody>
      </p:sp>
      <p:sp>
        <p:nvSpPr>
          <p:cNvPr id="4" name="Номер слайда 3"/>
          <p:cNvSpPr>
            <a:spLocks noGrp="1"/>
          </p:cNvSpPr>
          <p:nvPr>
            <p:ph type="sldNum" sz="quarter" idx="5"/>
          </p:nvPr>
        </p:nvSpPr>
        <p:spPr/>
        <p:txBody>
          <a:bodyPr/>
          <a:lstStyle/>
          <a:p>
            <a:fld id="{99AC21F4-998D-4BCD-B9E5-CFA879D290F7}" type="slidenum">
              <a:rPr lang="ru-RU" smtClean="0"/>
              <a:t>68</a:t>
            </a:fld>
            <a:endParaRPr lang="ru-RU"/>
          </a:p>
        </p:txBody>
      </p:sp>
    </p:spTree>
    <p:extLst>
      <p:ext uri="{BB962C8B-B14F-4D97-AF65-F5344CB8AC3E}">
        <p14:creationId xmlns:p14="http://schemas.microsoft.com/office/powerpoint/2010/main" val="32561041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ручного выбора изображений в зависимости от медиа-условий можно использовать тег </a:t>
            </a:r>
            <a:r>
              <a:rPr lang="en-US" dirty="0"/>
              <a:t>picture</a:t>
            </a:r>
            <a:r>
              <a:rPr lang="ru-RU" dirty="0"/>
              <a:t>. Зафиксируем себе пример использования данного тега:</a:t>
            </a:r>
          </a:p>
          <a:p>
            <a:pPr marL="0" indent="0">
              <a:buNone/>
            </a:pPr>
            <a:r>
              <a:rPr lang="en-US" dirty="0"/>
              <a:t>&lt;picture&gt;</a:t>
            </a:r>
          </a:p>
          <a:p>
            <a:pPr marL="0" indent="0">
              <a:buNone/>
            </a:pPr>
            <a:r>
              <a:rPr lang="en-US" dirty="0"/>
              <a:t>            &lt;source media="(max-width: 800px)" </a:t>
            </a:r>
            <a:r>
              <a:rPr lang="en-US" dirty="0" err="1"/>
              <a:t>srcset</a:t>
            </a:r>
            <a:r>
              <a:rPr lang="en-US" dirty="0"/>
              <a:t>=“</a:t>
            </a:r>
            <a:r>
              <a:rPr lang="ru-RU" dirty="0"/>
              <a:t>файл1</a:t>
            </a:r>
            <a:r>
              <a:rPr lang="en-US" dirty="0"/>
              <a:t>.jpg"/&gt;</a:t>
            </a:r>
          </a:p>
          <a:p>
            <a:pPr marL="0" indent="0">
              <a:buNone/>
            </a:pPr>
            <a:r>
              <a:rPr lang="en-US" dirty="0"/>
              <a:t>            &lt;source media="(max-width: 1200px)" </a:t>
            </a:r>
            <a:r>
              <a:rPr lang="en-US" dirty="0" err="1"/>
              <a:t>srcset</a:t>
            </a:r>
            <a:r>
              <a:rPr lang="en-US" dirty="0"/>
              <a:t>="</a:t>
            </a:r>
            <a:r>
              <a:rPr lang="ru-RU" dirty="0"/>
              <a:t> файл2</a:t>
            </a:r>
            <a:r>
              <a:rPr lang="en-US" dirty="0"/>
              <a:t>.jpg"/&gt;</a:t>
            </a:r>
          </a:p>
          <a:p>
            <a:pPr marL="0" indent="0">
              <a:buNone/>
            </a:pPr>
            <a:r>
              <a:rPr lang="en-US" dirty="0"/>
              <a:t>            &lt;source media="(min-width: 1201px)" </a:t>
            </a:r>
            <a:r>
              <a:rPr lang="en-US" dirty="0" err="1"/>
              <a:t>srcset</a:t>
            </a:r>
            <a:r>
              <a:rPr lang="en-US" dirty="0"/>
              <a:t>="</a:t>
            </a:r>
            <a:r>
              <a:rPr lang="ru-RU" dirty="0"/>
              <a:t> файл3</a:t>
            </a:r>
            <a:r>
              <a:rPr lang="en-US" dirty="0"/>
              <a:t>.jpg"/&gt;</a:t>
            </a:r>
          </a:p>
          <a:p>
            <a:pPr marL="0" indent="0">
              <a:buNone/>
            </a:pPr>
            <a:r>
              <a:rPr lang="en-US" dirty="0"/>
              <a:t>            &lt;img </a:t>
            </a:r>
            <a:r>
              <a:rPr lang="en-US" dirty="0" err="1"/>
              <a:t>src</a:t>
            </a:r>
            <a:r>
              <a:rPr lang="en-US" dirty="0"/>
              <a:t>="</a:t>
            </a:r>
            <a:r>
              <a:rPr lang="ru-RU" dirty="0" err="1"/>
              <a:t>файл_по_умолчанию</a:t>
            </a:r>
            <a:r>
              <a:rPr lang="en-US" dirty="0"/>
              <a:t>.jpg" alt="</a:t>
            </a:r>
            <a:r>
              <a:rPr lang="ru-RU" dirty="0"/>
              <a:t>Описание"/&gt;</a:t>
            </a:r>
          </a:p>
          <a:p>
            <a:pPr marL="0" indent="0">
              <a:buNone/>
            </a:pPr>
            <a:r>
              <a:rPr lang="ru-RU" dirty="0"/>
              <a:t>&lt;/</a:t>
            </a:r>
            <a:r>
              <a:rPr lang="en-US" dirty="0"/>
              <a:t>picture&gt;</a:t>
            </a:r>
          </a:p>
        </p:txBody>
      </p:sp>
      <p:sp>
        <p:nvSpPr>
          <p:cNvPr id="4" name="Номер слайда 3"/>
          <p:cNvSpPr>
            <a:spLocks noGrp="1"/>
          </p:cNvSpPr>
          <p:nvPr>
            <p:ph type="sldNum" sz="quarter" idx="5"/>
          </p:nvPr>
        </p:nvSpPr>
        <p:spPr/>
        <p:txBody>
          <a:bodyPr/>
          <a:lstStyle/>
          <a:p>
            <a:fld id="{99AC21F4-998D-4BCD-B9E5-CFA879D290F7}" type="slidenum">
              <a:rPr lang="ru-RU" smtClean="0"/>
              <a:t>69</a:t>
            </a:fld>
            <a:endParaRPr lang="ru-RU"/>
          </a:p>
        </p:txBody>
      </p:sp>
    </p:spTree>
    <p:extLst>
      <p:ext uri="{BB962C8B-B14F-4D97-AF65-F5344CB8AC3E}">
        <p14:creationId xmlns:p14="http://schemas.microsoft.com/office/powerpoint/2010/main" val="8202374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Внутри контейнера </a:t>
            </a:r>
            <a:r>
              <a:rPr lang="en-US" dirty="0"/>
              <a:t>picture </a:t>
            </a:r>
            <a:r>
              <a:rPr lang="ru-RU" dirty="0"/>
              <a:t>указываются несколько источников изображений </a:t>
            </a:r>
            <a:r>
              <a:rPr lang="en-US" dirty="0"/>
              <a:t>source </a:t>
            </a:r>
            <a:r>
              <a:rPr lang="ru-RU" dirty="0"/>
              <a:t>с соответствующими медиа-правилами. Каждый </a:t>
            </a:r>
            <a:r>
              <a:rPr lang="en-US" dirty="0"/>
              <a:t>source </a:t>
            </a:r>
            <a:r>
              <a:rPr lang="ru-RU" dirty="0"/>
              <a:t>может содержать несколько изображений, так как аргумент источника – </a:t>
            </a:r>
            <a:r>
              <a:rPr lang="en-US" dirty="0" err="1"/>
              <a:t>srcset</a:t>
            </a:r>
            <a:r>
              <a:rPr lang="ru-RU" dirty="0"/>
              <a:t>. Перед закрывающим </a:t>
            </a:r>
            <a:r>
              <a:rPr lang="en-US" dirty="0"/>
              <a:t>&lt;/picture&gt; </a:t>
            </a:r>
            <a:r>
              <a:rPr lang="ru-RU" dirty="0"/>
              <a:t>должен стоять тег </a:t>
            </a:r>
            <a:r>
              <a:rPr lang="en-US" dirty="0"/>
              <a:t>img </a:t>
            </a:r>
            <a:r>
              <a:rPr lang="ru-RU" dirty="0"/>
              <a:t>с изображением по умолчанию, оно используется в устаревших браузерах, не поддерживающих медиа-правила, а также оформления всего блока изображения. </a:t>
            </a:r>
            <a:r>
              <a:rPr lang="ru-RU" dirty="0" err="1"/>
              <a:t>min-width</a:t>
            </a:r>
            <a:r>
              <a:rPr lang="ru-RU" dirty="0"/>
              <a:t> – медиа-правило, выполняемое, если размер экрана не более указанного значения.</a:t>
            </a:r>
          </a:p>
        </p:txBody>
      </p:sp>
      <p:sp>
        <p:nvSpPr>
          <p:cNvPr id="4" name="Номер слайда 3"/>
          <p:cNvSpPr>
            <a:spLocks noGrp="1"/>
          </p:cNvSpPr>
          <p:nvPr>
            <p:ph type="sldNum" sz="quarter" idx="5"/>
          </p:nvPr>
        </p:nvSpPr>
        <p:spPr/>
        <p:txBody>
          <a:bodyPr/>
          <a:lstStyle/>
          <a:p>
            <a:fld id="{99AC21F4-998D-4BCD-B9E5-CFA879D290F7}" type="slidenum">
              <a:rPr lang="ru-RU" smtClean="0"/>
              <a:t>70</a:t>
            </a:fld>
            <a:endParaRPr lang="ru-RU"/>
          </a:p>
        </p:txBody>
      </p:sp>
    </p:spTree>
    <p:extLst>
      <p:ext uri="{BB962C8B-B14F-4D97-AF65-F5344CB8AC3E}">
        <p14:creationId xmlns:p14="http://schemas.microsoft.com/office/powerpoint/2010/main" val="38288534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Рекомендуется использовать </a:t>
            </a:r>
            <a:r>
              <a:rPr lang="en-US" dirty="0"/>
              <a:t>picture </a:t>
            </a:r>
            <a:r>
              <a:rPr lang="ru-RU" dirty="0"/>
              <a:t>только для художественного оформления (</a:t>
            </a:r>
            <a:r>
              <a:rPr lang="en-US" dirty="0"/>
              <a:t>art direction) – </a:t>
            </a:r>
            <a:r>
              <a:rPr lang="ru-RU" dirty="0"/>
              <a:t>использования </a:t>
            </a:r>
            <a:r>
              <a:rPr lang="ru-RU" dirty="0" err="1"/>
              <a:t>кадрированных</a:t>
            </a:r>
            <a:r>
              <a:rPr lang="ru-RU" dirty="0"/>
              <a:t> изображений по строгим правилам. Подход </a:t>
            </a:r>
            <a:r>
              <a:rPr lang="en-US" dirty="0" err="1"/>
              <a:t>scrset+sizes</a:t>
            </a:r>
            <a:r>
              <a:rPr lang="ru-RU" dirty="0"/>
              <a:t> дает возможность браузеру самому выбирать оптимальный размер изображения, из-за чего рекомендуется для переключения разрешений.</a:t>
            </a:r>
          </a:p>
        </p:txBody>
      </p:sp>
      <p:sp>
        <p:nvSpPr>
          <p:cNvPr id="4" name="Номер слайда 3"/>
          <p:cNvSpPr>
            <a:spLocks noGrp="1"/>
          </p:cNvSpPr>
          <p:nvPr>
            <p:ph type="sldNum" sz="quarter" idx="5"/>
          </p:nvPr>
        </p:nvSpPr>
        <p:spPr/>
        <p:txBody>
          <a:bodyPr/>
          <a:lstStyle/>
          <a:p>
            <a:fld id="{99AC21F4-998D-4BCD-B9E5-CFA879D290F7}" type="slidenum">
              <a:rPr lang="ru-RU" smtClean="0"/>
              <a:t>71</a:t>
            </a:fld>
            <a:endParaRPr lang="ru-RU"/>
          </a:p>
        </p:txBody>
      </p:sp>
    </p:spTree>
    <p:extLst>
      <p:ext uri="{BB962C8B-B14F-4D97-AF65-F5344CB8AC3E}">
        <p14:creationId xmlns:p14="http://schemas.microsoft.com/office/powerpoint/2010/main" val="161166620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Приступим к более подробному рассмотрению возможностей оформления изображений в </a:t>
            </a:r>
            <a:r>
              <a:rPr lang="en-US" dirty="0"/>
              <a:t>HTML5. </a:t>
            </a:r>
            <a:r>
              <a:rPr lang="ru-RU" dirty="0"/>
              <a:t>Изображения логичнее размещать с заголовками</a:t>
            </a:r>
            <a:r>
              <a:rPr lang="en-US" dirty="0"/>
              <a:t>. </a:t>
            </a:r>
            <a:r>
              <a:rPr lang="ru-RU" dirty="0"/>
              <a:t>Чтобы было понятно, что заголовок относится к изображению, логично разместить</a:t>
            </a:r>
            <a:r>
              <a:rPr lang="en-US" dirty="0"/>
              <a:t> p </a:t>
            </a:r>
            <a:r>
              <a:rPr lang="ru-RU" dirty="0"/>
              <a:t>и </a:t>
            </a:r>
            <a:r>
              <a:rPr lang="en-US" dirty="0" err="1"/>
              <a:t>img</a:t>
            </a:r>
            <a:r>
              <a:rPr lang="en-US" dirty="0"/>
              <a:t> </a:t>
            </a:r>
            <a:r>
              <a:rPr lang="ru-RU" dirty="0"/>
              <a:t>в одном </a:t>
            </a:r>
            <a:r>
              <a:rPr lang="en-US" dirty="0"/>
              <a:t>div:</a:t>
            </a:r>
          </a:p>
          <a:p>
            <a:pPr marL="0" indent="0">
              <a:buNone/>
            </a:pPr>
            <a:r>
              <a:rPr lang="en-US" dirty="0"/>
              <a:t>&lt;div&gt;</a:t>
            </a:r>
          </a:p>
          <a:p>
            <a:pPr marL="0" indent="534988">
              <a:buNone/>
            </a:pPr>
            <a:r>
              <a:rPr lang="en-US" dirty="0"/>
              <a:t>&lt;</a:t>
            </a:r>
            <a:r>
              <a:rPr lang="en-US" dirty="0" err="1"/>
              <a:t>img</a:t>
            </a:r>
            <a:r>
              <a:rPr lang="en-US" dirty="0"/>
              <a:t> </a:t>
            </a:r>
            <a:r>
              <a:rPr lang="en-US" dirty="0" err="1"/>
              <a:t>src</a:t>
            </a:r>
            <a:r>
              <a:rPr lang="en-US" dirty="0"/>
              <a:t>="image.jpg"/&gt;</a:t>
            </a:r>
          </a:p>
          <a:p>
            <a:pPr marL="0" indent="534988">
              <a:buNone/>
            </a:pPr>
            <a:r>
              <a:rPr lang="en-US" dirty="0"/>
              <a:t>&lt;p&gt;</a:t>
            </a:r>
            <a:r>
              <a:rPr lang="ru-RU" dirty="0"/>
              <a:t>Подпись рисунка</a:t>
            </a:r>
            <a:r>
              <a:rPr lang="en-US" dirty="0"/>
              <a:t>&lt;/p&gt;</a:t>
            </a:r>
          </a:p>
          <a:p>
            <a:pPr marL="0" indent="0">
              <a:buNone/>
            </a:pPr>
            <a:r>
              <a:rPr lang="en-US" dirty="0"/>
              <a:t>&lt;/div&gt;</a:t>
            </a:r>
            <a:endParaRPr lang="ru-RU" dirty="0"/>
          </a:p>
          <a:p>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73</a:t>
            </a:fld>
            <a:endParaRPr lang="ru-RU"/>
          </a:p>
        </p:txBody>
      </p:sp>
    </p:spTree>
    <p:extLst>
      <p:ext uri="{BB962C8B-B14F-4D97-AF65-F5344CB8AC3E}">
        <p14:creationId xmlns:p14="http://schemas.microsoft.com/office/powerpoint/2010/main" val="27142788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Но такое объединение может быть малопонятным для просматривающего код, поэтому в </a:t>
            </a:r>
            <a:r>
              <a:rPr lang="en-US" dirty="0"/>
              <a:t>HTML5 </a:t>
            </a:r>
            <a:r>
              <a:rPr lang="ru-RU" dirty="0"/>
              <a:t>была введена пара </a:t>
            </a:r>
            <a:r>
              <a:rPr lang="en-US" dirty="0" err="1"/>
              <a:t>figure+figcaption</a:t>
            </a:r>
            <a:r>
              <a:rPr lang="en-US" dirty="0"/>
              <a:t>:</a:t>
            </a:r>
          </a:p>
          <a:p>
            <a:pPr marL="0" indent="0">
              <a:buNone/>
            </a:pPr>
            <a:r>
              <a:rPr lang="en-US" dirty="0"/>
              <a:t>&lt;figure&gt;</a:t>
            </a:r>
          </a:p>
          <a:p>
            <a:pPr marL="0" indent="534988">
              <a:buNone/>
            </a:pPr>
            <a:r>
              <a:rPr lang="en-US" dirty="0"/>
              <a:t>&lt;</a:t>
            </a:r>
            <a:r>
              <a:rPr lang="en-US" dirty="0" err="1"/>
              <a:t>img</a:t>
            </a:r>
            <a:r>
              <a:rPr lang="en-US" dirty="0"/>
              <a:t> </a:t>
            </a:r>
            <a:r>
              <a:rPr lang="en-US" dirty="0" err="1"/>
              <a:t>src</a:t>
            </a:r>
            <a:r>
              <a:rPr lang="en-US" dirty="0"/>
              <a:t>="image.jpg"/&gt;</a:t>
            </a:r>
          </a:p>
          <a:p>
            <a:pPr marL="0" indent="534988">
              <a:buNone/>
            </a:pPr>
            <a:r>
              <a:rPr lang="en-US" dirty="0"/>
              <a:t>&lt;</a:t>
            </a:r>
            <a:r>
              <a:rPr lang="en-US" dirty="0" err="1"/>
              <a:t>figcaption</a:t>
            </a:r>
            <a:r>
              <a:rPr lang="en-US" dirty="0"/>
              <a:t>&gt;</a:t>
            </a:r>
            <a:r>
              <a:rPr lang="ru-RU" dirty="0"/>
              <a:t>Подпись рисунка</a:t>
            </a:r>
            <a:r>
              <a:rPr lang="en-US" dirty="0"/>
              <a:t>&lt;</a:t>
            </a:r>
            <a:r>
              <a:rPr lang="en-US" dirty="0" err="1"/>
              <a:t>figcaption</a:t>
            </a:r>
            <a:r>
              <a:rPr lang="en-US" dirty="0"/>
              <a:t>/&gt;</a:t>
            </a:r>
          </a:p>
          <a:p>
            <a:pPr marL="0" indent="0">
              <a:buNone/>
            </a:pPr>
            <a:r>
              <a:rPr lang="en-US" dirty="0"/>
              <a:t>&lt;/figure&gt;</a:t>
            </a:r>
            <a:endParaRPr lang="ru-RU" dirty="0"/>
          </a:p>
          <a:p>
            <a:r>
              <a:rPr lang="ru-RU" dirty="0"/>
              <a:t>Как и ранее, можно заметить, что нововведения </a:t>
            </a:r>
            <a:r>
              <a:rPr lang="en-US" dirty="0"/>
              <a:t>HTML5 </a:t>
            </a:r>
            <a:r>
              <a:rPr lang="ru-RU" dirty="0"/>
              <a:t>во многом касаются улучшения семантики кода для стороннего наблюдателя</a:t>
            </a:r>
          </a:p>
        </p:txBody>
      </p:sp>
      <p:sp>
        <p:nvSpPr>
          <p:cNvPr id="4" name="Номер слайда 3"/>
          <p:cNvSpPr>
            <a:spLocks noGrp="1"/>
          </p:cNvSpPr>
          <p:nvPr>
            <p:ph type="sldNum" sz="quarter" idx="5"/>
          </p:nvPr>
        </p:nvSpPr>
        <p:spPr/>
        <p:txBody>
          <a:bodyPr/>
          <a:lstStyle/>
          <a:p>
            <a:fld id="{32AB7FA3-EE3C-4D67-A98A-6A08FE7D0F4F}" type="slidenum">
              <a:rPr lang="ru-RU" smtClean="0"/>
              <a:t>74</a:t>
            </a:fld>
            <a:endParaRPr lang="ru-RU"/>
          </a:p>
        </p:txBody>
      </p:sp>
    </p:spTree>
    <p:extLst>
      <p:ext uri="{BB962C8B-B14F-4D97-AF65-F5344CB8AC3E}">
        <p14:creationId xmlns:p14="http://schemas.microsoft.com/office/powerpoint/2010/main" val="37847329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Научившись встраивать медиафайлы в веб-страницу, возникает вопрос с источниками – а откуда и каких форматов фалы брать? Для видео, аудио и изображений существует множество различных форматов.</a:t>
            </a:r>
          </a:p>
        </p:txBody>
      </p:sp>
      <p:sp>
        <p:nvSpPr>
          <p:cNvPr id="4" name="Номер слайда 3"/>
          <p:cNvSpPr>
            <a:spLocks noGrp="1"/>
          </p:cNvSpPr>
          <p:nvPr>
            <p:ph type="sldNum" sz="quarter" idx="5"/>
          </p:nvPr>
        </p:nvSpPr>
        <p:spPr/>
        <p:txBody>
          <a:bodyPr/>
          <a:lstStyle/>
          <a:p>
            <a:fld id="{32AB7FA3-EE3C-4D67-A98A-6A08FE7D0F4F}" type="slidenum">
              <a:rPr lang="ru-RU" smtClean="0"/>
              <a:t>75</a:t>
            </a:fld>
            <a:endParaRPr lang="ru-RU"/>
          </a:p>
        </p:txBody>
      </p:sp>
    </p:spTree>
    <p:extLst>
      <p:ext uri="{BB962C8B-B14F-4D97-AF65-F5344CB8AC3E}">
        <p14:creationId xmlns:p14="http://schemas.microsoft.com/office/powerpoint/2010/main" val="185242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изображений традиционными форматами являются </a:t>
            </a:r>
            <a:r>
              <a:rPr lang="en-US" dirty="0"/>
              <a:t>jpeg </a:t>
            </a:r>
            <a:r>
              <a:rPr lang="ru-RU" dirty="0"/>
              <a:t>и </a:t>
            </a:r>
            <a:r>
              <a:rPr lang="en-US" dirty="0" err="1"/>
              <a:t>png</a:t>
            </a:r>
            <a:r>
              <a:rPr lang="en-US" dirty="0"/>
              <a:t>, </a:t>
            </a:r>
            <a:r>
              <a:rPr lang="ru-RU" dirty="0"/>
              <a:t>первый подразумевает сжатие с потерями, второй – без, при этом </a:t>
            </a:r>
            <a:r>
              <a:rPr lang="en-US" dirty="0" err="1"/>
              <a:t>png</a:t>
            </a:r>
            <a:r>
              <a:rPr lang="ru-RU" dirty="0"/>
              <a:t> соответственно имеет больший размер. Первым из более современных форматов изображений стал </a:t>
            </a:r>
            <a:r>
              <a:rPr lang="en-US" dirty="0"/>
              <a:t>jpeg2000, </a:t>
            </a:r>
            <a:r>
              <a:rPr lang="ru-RU" dirty="0"/>
              <a:t>существенно улучшающий качество изображений за счет нового алгоритма сжатия, но существенной популярности так и не обретший во многом из-за раннего введения, в 1997-2000 гг. во многом не было массовых источников изображений высокой четкости, для которых пригодился бы такой алгоритм (цифровые камеры имели разрешение до нескольких МП и давали изображение качеством хуже, чем эффект воздействия на него сжатия </a:t>
            </a:r>
            <a:r>
              <a:rPr lang="en-US" dirty="0"/>
              <a:t>jpeg). </a:t>
            </a:r>
            <a:r>
              <a:rPr lang="ru-RU" dirty="0"/>
              <a:t>При этом </a:t>
            </a:r>
            <a:r>
              <a:rPr lang="en-US" dirty="0"/>
              <a:t>jpeg </a:t>
            </a:r>
            <a:r>
              <a:rPr lang="ru-RU" dirty="0"/>
              <a:t>при высоких настройках качества до сих пор обеспечивает приемлемое соотношение качества к занимаемому месту, из-за чего он все еще используется в фотографии и многих других сферах. Тем не менее, увеличение пропускной способности интернета дает возможность повысить качество иллюстраций веб-страниц, все же </a:t>
            </a:r>
            <a:r>
              <a:rPr lang="en-US" dirty="0"/>
              <a:t>jpeg</a:t>
            </a:r>
            <a:r>
              <a:rPr lang="ru-RU" dirty="0"/>
              <a:t> сильно хуже может передавать четкие контуры на логотипах и подобную информацию при хорошем сжатии, поэтому </a:t>
            </a:r>
            <a:r>
              <a:rPr lang="en-US" dirty="0" err="1"/>
              <a:t>png</a:t>
            </a:r>
            <a:r>
              <a:rPr lang="ru-RU" dirty="0"/>
              <a:t> стал применяться чаще. В то же время, при большом объеме иллюстрационного материала на странице даже сейчас использование относительно тяжелых </a:t>
            </a:r>
            <a:r>
              <a:rPr lang="en-US" dirty="0" err="1"/>
              <a:t>png</a:t>
            </a:r>
            <a:r>
              <a:rPr lang="en-US" dirty="0"/>
              <a:t> </a:t>
            </a:r>
            <a:r>
              <a:rPr lang="ru-RU" dirty="0"/>
              <a:t>вызовет неприемлемое для многих пользователей время загрузки страницы.</a:t>
            </a:r>
          </a:p>
          <a:p>
            <a:r>
              <a:rPr lang="ru-RU" dirty="0"/>
              <a:t>Здесь на сцену выходят новейшие форматы изображений – специально созданный для </a:t>
            </a:r>
            <a:r>
              <a:rPr lang="en-US" dirty="0"/>
              <a:t>HTML5 </a:t>
            </a:r>
            <a:r>
              <a:rPr lang="en-US" dirty="0" err="1"/>
              <a:t>webm</a:t>
            </a:r>
            <a:r>
              <a:rPr lang="en-US" dirty="0"/>
              <a:t> </a:t>
            </a:r>
            <a:r>
              <a:rPr lang="ru-RU" dirty="0"/>
              <a:t>и чуть более новый </a:t>
            </a:r>
            <a:r>
              <a:rPr lang="en-US" dirty="0" err="1"/>
              <a:t>avif</a:t>
            </a:r>
            <a:r>
              <a:rPr lang="en-US" dirty="0"/>
              <a:t>.</a:t>
            </a:r>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76</a:t>
            </a:fld>
            <a:endParaRPr lang="ru-RU"/>
          </a:p>
        </p:txBody>
      </p:sp>
    </p:spTree>
    <p:extLst>
      <p:ext uri="{BB962C8B-B14F-4D97-AF65-F5344CB8AC3E}">
        <p14:creationId xmlns:p14="http://schemas.microsoft.com/office/powerpoint/2010/main" val="166691173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целом, </a:t>
            </a:r>
            <a:r>
              <a:rPr lang="en-US" dirty="0" err="1"/>
              <a:t>webp</a:t>
            </a:r>
            <a:r>
              <a:rPr lang="en-US" dirty="0"/>
              <a:t> </a:t>
            </a:r>
            <a:r>
              <a:rPr lang="ru-RU" dirty="0"/>
              <a:t>обеспечивает меньший объем файла по сравнению с </a:t>
            </a:r>
            <a:r>
              <a:rPr lang="en-US" dirty="0" err="1"/>
              <a:t>png</a:t>
            </a:r>
            <a:r>
              <a:rPr lang="en-US" dirty="0"/>
              <a:t> </a:t>
            </a:r>
            <a:r>
              <a:rPr lang="ru-RU" dirty="0"/>
              <a:t>при сопоставимом качестве и лучшее качество, чем у </a:t>
            </a:r>
            <a:r>
              <a:rPr lang="en-US" dirty="0"/>
              <a:t>jpeg </a:t>
            </a:r>
            <a:r>
              <a:rPr lang="ru-RU" dirty="0"/>
              <a:t>при меньшем размере. Из-за этого формат активно встречается на новых веб-страницах.</a:t>
            </a:r>
          </a:p>
        </p:txBody>
      </p:sp>
      <p:sp>
        <p:nvSpPr>
          <p:cNvPr id="4" name="Номер слайда 3"/>
          <p:cNvSpPr>
            <a:spLocks noGrp="1"/>
          </p:cNvSpPr>
          <p:nvPr>
            <p:ph type="sldNum" sz="quarter" idx="5"/>
          </p:nvPr>
        </p:nvSpPr>
        <p:spPr/>
        <p:txBody>
          <a:bodyPr/>
          <a:lstStyle/>
          <a:p>
            <a:fld id="{32AB7FA3-EE3C-4D67-A98A-6A08FE7D0F4F}" type="slidenum">
              <a:rPr lang="ru-RU" smtClean="0"/>
              <a:t>77</a:t>
            </a:fld>
            <a:endParaRPr lang="ru-RU"/>
          </a:p>
        </p:txBody>
      </p:sp>
    </p:spTree>
    <p:extLst>
      <p:ext uri="{BB962C8B-B14F-4D97-AF65-F5344CB8AC3E}">
        <p14:creationId xmlns:p14="http://schemas.microsoft.com/office/powerpoint/2010/main" val="18630418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err="1"/>
              <a:t>Avif</a:t>
            </a:r>
            <a:r>
              <a:rPr lang="en-US" dirty="0"/>
              <a:t>, </a:t>
            </a:r>
            <a:r>
              <a:rPr lang="ru-RU" dirty="0"/>
              <a:t>согласно некоторым источникам, лучше и по качеству некоторых деталей, и по размеру итогового файла, чем </a:t>
            </a:r>
            <a:r>
              <a:rPr lang="en-US" dirty="0" err="1"/>
              <a:t>webp</a:t>
            </a:r>
            <a:r>
              <a:rPr lang="en-US" dirty="0"/>
              <a:t>, </a:t>
            </a:r>
            <a:r>
              <a:rPr lang="ru-RU" dirty="0"/>
              <a:t>но в силу более позднего введения, в</a:t>
            </a:r>
            <a:r>
              <a:rPr lang="en-US" dirty="0"/>
              <a:t> 2019</a:t>
            </a:r>
            <a:r>
              <a:rPr lang="ru-RU" dirty="0"/>
              <a:t> г. по сравнению с 2018 г. у </a:t>
            </a:r>
            <a:r>
              <a:rPr lang="en-US" dirty="0" err="1"/>
              <a:t>webp</a:t>
            </a:r>
            <a:r>
              <a:rPr lang="en-US" dirty="0"/>
              <a:t>, </a:t>
            </a:r>
            <a:r>
              <a:rPr lang="ru-RU" dirty="0"/>
              <a:t>из-за чего такие изображения встречаются реже</a:t>
            </a:r>
            <a:r>
              <a:rPr lang="en-US" dirty="0"/>
              <a:t>, </a:t>
            </a:r>
            <a:r>
              <a:rPr lang="ru-RU" dirty="0"/>
              <a:t>но поддерживаются современными браузерами. Главное здесь слово – «современными». Для исключения проблем с тем, что устаревший браузер пользователя не может воспроизвести видео в современном формате следует использовать несколько источников в различных форматах.</a:t>
            </a:r>
          </a:p>
        </p:txBody>
      </p:sp>
      <p:sp>
        <p:nvSpPr>
          <p:cNvPr id="4" name="Номер слайда 3"/>
          <p:cNvSpPr>
            <a:spLocks noGrp="1"/>
          </p:cNvSpPr>
          <p:nvPr>
            <p:ph type="sldNum" sz="quarter" idx="5"/>
          </p:nvPr>
        </p:nvSpPr>
        <p:spPr/>
        <p:txBody>
          <a:bodyPr/>
          <a:lstStyle/>
          <a:p>
            <a:fld id="{32AB7FA3-EE3C-4D67-A98A-6A08FE7D0F4F}" type="slidenum">
              <a:rPr lang="ru-RU" smtClean="0"/>
              <a:t>78</a:t>
            </a:fld>
            <a:endParaRPr lang="ru-RU"/>
          </a:p>
        </p:txBody>
      </p:sp>
    </p:spTree>
    <p:extLst>
      <p:ext uri="{BB962C8B-B14F-4D97-AF65-F5344CB8AC3E}">
        <p14:creationId xmlns:p14="http://schemas.microsoft.com/office/powerpoint/2010/main" val="40334809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 размещении изображений</a:t>
            </a:r>
            <a:r>
              <a:rPr lang="en-US" dirty="0"/>
              <a:t> </a:t>
            </a:r>
            <a:r>
              <a:rPr lang="ru-RU" dirty="0"/>
              <a:t>через </a:t>
            </a:r>
            <a:r>
              <a:rPr lang="en-US" dirty="0"/>
              <a:t>picture</a:t>
            </a:r>
            <a:r>
              <a:rPr lang="ru-RU" dirty="0"/>
              <a:t> можно указывать несколько источников разных типов через </a:t>
            </a:r>
            <a:r>
              <a:rPr lang="en-US" dirty="0"/>
              <a:t>source</a:t>
            </a:r>
            <a:r>
              <a:rPr lang="ru-RU" dirty="0"/>
              <a:t>, браузер пользователя выберет наиболее подходящий или покажет содержимое </a:t>
            </a:r>
            <a:r>
              <a:rPr lang="en-US" dirty="0"/>
              <a:t>&lt;</a:t>
            </a:r>
            <a:r>
              <a:rPr lang="en-US" dirty="0" err="1"/>
              <a:t>img</a:t>
            </a:r>
            <a:r>
              <a:rPr lang="en-US" dirty="0"/>
              <a:t>&gt;, </a:t>
            </a:r>
            <a:r>
              <a:rPr lang="ru-RU" dirty="0"/>
              <a:t>если ни один из форматов не поддерживается:</a:t>
            </a:r>
            <a:endParaRPr lang="en-US" dirty="0"/>
          </a:p>
          <a:p>
            <a:pPr marL="0" indent="0">
              <a:buNone/>
            </a:pPr>
            <a:r>
              <a:rPr lang="en-US" dirty="0"/>
              <a:t>&lt;picture&gt;</a:t>
            </a:r>
          </a:p>
          <a:p>
            <a:pPr marL="0" indent="0">
              <a:buNone/>
            </a:pPr>
            <a:r>
              <a:rPr lang="en-US" dirty="0"/>
              <a:t>            &lt;source </a:t>
            </a:r>
            <a:r>
              <a:rPr lang="en-US" dirty="0" err="1"/>
              <a:t>srcset</a:t>
            </a:r>
            <a:r>
              <a:rPr lang="en-US" dirty="0"/>
              <a:t>="</a:t>
            </a:r>
            <a:r>
              <a:rPr lang="en-US" dirty="0" err="1"/>
              <a:t>image.avif</a:t>
            </a:r>
            <a:r>
              <a:rPr lang="en-US" dirty="0"/>
              <a:t>" type="image/</a:t>
            </a:r>
            <a:r>
              <a:rPr lang="en-US" dirty="0" err="1"/>
              <a:t>avif</a:t>
            </a:r>
            <a:r>
              <a:rPr lang="en-US" dirty="0"/>
              <a:t>"/&gt;</a:t>
            </a:r>
          </a:p>
          <a:p>
            <a:pPr marL="0" indent="0">
              <a:buNone/>
            </a:pPr>
            <a:r>
              <a:rPr lang="en-US" dirty="0"/>
              <a:t>            &lt;source </a:t>
            </a:r>
            <a:r>
              <a:rPr lang="en-US" dirty="0" err="1"/>
              <a:t>srcset</a:t>
            </a:r>
            <a:r>
              <a:rPr lang="en-US" dirty="0"/>
              <a:t>="</a:t>
            </a:r>
            <a:r>
              <a:rPr lang="en-US" dirty="0" err="1"/>
              <a:t>image.webp</a:t>
            </a:r>
            <a:r>
              <a:rPr lang="en-US" dirty="0"/>
              <a:t>" type="image/</a:t>
            </a:r>
            <a:r>
              <a:rPr lang="en-US" dirty="0" err="1"/>
              <a:t>webp</a:t>
            </a:r>
            <a:r>
              <a:rPr lang="en-US" dirty="0"/>
              <a:t>"/&gt;</a:t>
            </a:r>
          </a:p>
          <a:p>
            <a:pPr marL="0" indent="0">
              <a:buNone/>
            </a:pPr>
            <a:r>
              <a:rPr lang="en-US" dirty="0"/>
              <a:t>            &lt;</a:t>
            </a:r>
            <a:r>
              <a:rPr lang="en-US" dirty="0" err="1"/>
              <a:t>img</a:t>
            </a:r>
            <a:r>
              <a:rPr lang="en-US" dirty="0"/>
              <a:t> </a:t>
            </a:r>
            <a:r>
              <a:rPr lang="en-US" dirty="0" err="1"/>
              <a:t>src</a:t>
            </a:r>
            <a:r>
              <a:rPr lang="en-US" dirty="0"/>
              <a:t>="image.jpg"/&gt;</a:t>
            </a:r>
          </a:p>
          <a:p>
            <a:pPr marL="0" indent="0">
              <a:buNone/>
            </a:pPr>
            <a:r>
              <a:rPr lang="en-US" dirty="0"/>
              <a:t>&lt;/picture&gt;</a:t>
            </a:r>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79</a:t>
            </a:fld>
            <a:endParaRPr lang="ru-RU"/>
          </a:p>
        </p:txBody>
      </p:sp>
    </p:spTree>
    <p:extLst>
      <p:ext uri="{BB962C8B-B14F-4D97-AF65-F5344CB8AC3E}">
        <p14:creationId xmlns:p14="http://schemas.microsoft.com/office/powerpoint/2010/main" val="21935718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Аргумент </a:t>
            </a:r>
            <a:r>
              <a:rPr lang="en-US" dirty="0"/>
              <a:t>type </a:t>
            </a:r>
            <a:r>
              <a:rPr lang="ru-RU" dirty="0"/>
              <a:t>должен иметь значение формата выбранного медиафайла, чтобы браузер понимал, поддерживается ли он. Примеры форматов: </a:t>
            </a:r>
            <a:r>
              <a:rPr lang="en-US" dirty="0"/>
              <a:t>video/mp4</a:t>
            </a:r>
            <a:r>
              <a:rPr lang="ru-RU" dirty="0"/>
              <a:t>, </a:t>
            </a:r>
            <a:r>
              <a:rPr lang="en-US" dirty="0"/>
              <a:t>video/</a:t>
            </a:r>
            <a:r>
              <a:rPr lang="en-US" dirty="0" err="1"/>
              <a:t>webm</a:t>
            </a:r>
            <a:r>
              <a:rPr lang="en-US" dirty="0"/>
              <a:t>, video/</a:t>
            </a:r>
            <a:r>
              <a:rPr lang="en-US" dirty="0" err="1"/>
              <a:t>ogg</a:t>
            </a:r>
            <a:r>
              <a:rPr lang="en-US" dirty="0"/>
              <a:t>, audio/mp3, audio/</a:t>
            </a:r>
            <a:r>
              <a:rPr lang="en-US" dirty="0" err="1"/>
              <a:t>ogg</a:t>
            </a:r>
            <a:r>
              <a:rPr lang="en-US" dirty="0"/>
              <a:t>, audio/</a:t>
            </a:r>
            <a:r>
              <a:rPr lang="en-US" dirty="0" err="1"/>
              <a:t>aac</a:t>
            </a:r>
            <a:r>
              <a:rPr lang="en-US" dirty="0"/>
              <a:t>, image/</a:t>
            </a:r>
            <a:r>
              <a:rPr lang="en-US" dirty="0" err="1"/>
              <a:t>avif</a:t>
            </a:r>
            <a:r>
              <a:rPr lang="en-US" dirty="0"/>
              <a:t>, image/</a:t>
            </a:r>
            <a:r>
              <a:rPr lang="en-US" dirty="0" err="1"/>
              <a:t>webp</a:t>
            </a:r>
            <a:r>
              <a:rPr lang="en-US" dirty="0"/>
              <a:t>, image/gif, image/</a:t>
            </a:r>
            <a:r>
              <a:rPr lang="en-US" dirty="0" err="1"/>
              <a:t>png</a:t>
            </a:r>
            <a:r>
              <a:rPr lang="en-US" dirty="0"/>
              <a:t>, image/</a:t>
            </a:r>
            <a:r>
              <a:rPr lang="en-US" dirty="0" err="1"/>
              <a:t>svg+xml</a:t>
            </a:r>
            <a:r>
              <a:rPr lang="en-US" dirty="0"/>
              <a:t>, image/jpeg</a:t>
            </a:r>
            <a:r>
              <a:rPr lang="ru-RU" dirty="0"/>
              <a:t>.</a:t>
            </a:r>
          </a:p>
        </p:txBody>
      </p:sp>
      <p:sp>
        <p:nvSpPr>
          <p:cNvPr id="4" name="Номер слайда 3"/>
          <p:cNvSpPr>
            <a:spLocks noGrp="1"/>
          </p:cNvSpPr>
          <p:nvPr>
            <p:ph type="sldNum" sz="quarter" idx="5"/>
          </p:nvPr>
        </p:nvSpPr>
        <p:spPr/>
        <p:txBody>
          <a:bodyPr/>
          <a:lstStyle/>
          <a:p>
            <a:fld id="{32AB7FA3-EE3C-4D67-A98A-6A08FE7D0F4F}" type="slidenum">
              <a:rPr lang="ru-RU" smtClean="0"/>
              <a:t>80</a:t>
            </a:fld>
            <a:endParaRPr lang="ru-RU"/>
          </a:p>
        </p:txBody>
      </p:sp>
    </p:spTree>
    <p:extLst>
      <p:ext uri="{BB962C8B-B14F-4D97-AF65-F5344CB8AC3E}">
        <p14:creationId xmlns:p14="http://schemas.microsoft.com/office/powerpoint/2010/main" val="21450548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видеоконтента ситуация похожа. Долгое время </a:t>
            </a:r>
            <a:r>
              <a:rPr lang="en-US" dirty="0"/>
              <a:t>mp4 </a:t>
            </a:r>
            <a:r>
              <a:rPr lang="ru-RU" dirty="0"/>
              <a:t>лидировал в качестве универсального формата видео, в том числе и для </a:t>
            </a:r>
            <a:r>
              <a:rPr lang="en-US" dirty="0"/>
              <a:t>web. </a:t>
            </a:r>
            <a:r>
              <a:rPr lang="ru-RU" dirty="0"/>
              <a:t>Современные файлы </a:t>
            </a:r>
            <a:r>
              <a:rPr lang="en-US" dirty="0"/>
              <a:t>mp4 </a:t>
            </a:r>
            <a:r>
              <a:rPr lang="ru-RU" dirty="0"/>
              <a:t>используют проприетарный кодек </a:t>
            </a:r>
            <a:r>
              <a:rPr lang="en-US" dirty="0"/>
              <a:t>.h264 </a:t>
            </a:r>
            <a:r>
              <a:rPr lang="ru-RU" dirty="0"/>
              <a:t>или </a:t>
            </a:r>
            <a:r>
              <a:rPr lang="en-US" dirty="0"/>
              <a:t>.h265(HEVC)</a:t>
            </a:r>
            <a:r>
              <a:rPr lang="ru-RU" dirty="0"/>
              <a:t>, который показывает неплохие показатели сжатия и скорости кодирования, но требует платы за использование в декодерах, в том числе, в браузерах. Альтернатива </a:t>
            </a:r>
            <a:r>
              <a:rPr lang="en-US" dirty="0" err="1"/>
              <a:t>webm</a:t>
            </a:r>
            <a:r>
              <a:rPr lang="en-US" dirty="0"/>
              <a:t> – </a:t>
            </a:r>
            <a:r>
              <a:rPr lang="ru-RU" dirty="0"/>
              <a:t>основанный, главным образом, на кодеках </a:t>
            </a:r>
            <a:r>
              <a:rPr lang="en-US" dirty="0"/>
              <a:t>AV1 </a:t>
            </a:r>
            <a:r>
              <a:rPr lang="ru-RU" dirty="0"/>
              <a:t>и </a:t>
            </a:r>
            <a:r>
              <a:rPr lang="en-US" dirty="0"/>
              <a:t>VP9 </a:t>
            </a:r>
            <a:r>
              <a:rPr lang="ru-RU" dirty="0"/>
              <a:t>формат, который обеспечивает сопоставимые параметры сжатия/скорости кодирования, но не требует платы за лицензию (представлен </a:t>
            </a:r>
            <a:r>
              <a:rPr lang="en-US" dirty="0"/>
              <a:t>Google</a:t>
            </a:r>
            <a:r>
              <a:rPr lang="ru-RU" dirty="0"/>
              <a:t>).</a:t>
            </a:r>
          </a:p>
        </p:txBody>
      </p:sp>
      <p:sp>
        <p:nvSpPr>
          <p:cNvPr id="4" name="Номер слайда 3"/>
          <p:cNvSpPr>
            <a:spLocks noGrp="1"/>
          </p:cNvSpPr>
          <p:nvPr>
            <p:ph type="sldNum" sz="quarter" idx="5"/>
          </p:nvPr>
        </p:nvSpPr>
        <p:spPr/>
        <p:txBody>
          <a:bodyPr/>
          <a:lstStyle/>
          <a:p>
            <a:fld id="{32AB7FA3-EE3C-4D67-A98A-6A08FE7D0F4F}" type="slidenum">
              <a:rPr lang="ru-RU" smtClean="0"/>
              <a:t>81</a:t>
            </a:fld>
            <a:endParaRPr lang="ru-RU"/>
          </a:p>
        </p:txBody>
      </p:sp>
    </p:spTree>
    <p:extLst>
      <p:ext uri="{BB962C8B-B14F-4D97-AF65-F5344CB8AC3E}">
        <p14:creationId xmlns:p14="http://schemas.microsoft.com/office/powerpoint/2010/main" val="42742514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 аналогии</a:t>
            </a:r>
            <a:r>
              <a:rPr lang="en-US" dirty="0"/>
              <a:t> </a:t>
            </a:r>
            <a:r>
              <a:rPr lang="ru-RU" dirty="0"/>
              <a:t>с</a:t>
            </a:r>
            <a:r>
              <a:rPr lang="en-US" dirty="0"/>
              <a:t> picture</a:t>
            </a:r>
            <a:r>
              <a:rPr lang="ru-RU" dirty="0"/>
              <a:t> можно указывать несколько источников разных типов, браузер пользователя выберет наиболее подходящий или покажет содержимое </a:t>
            </a:r>
            <a:r>
              <a:rPr lang="en-US" dirty="0"/>
              <a:t>&lt;p&gt;, </a:t>
            </a:r>
            <a:r>
              <a:rPr lang="ru-RU" dirty="0"/>
              <a:t>если ни один из форматов не поддерживается</a:t>
            </a:r>
            <a:endParaRPr lang="en-US" dirty="0"/>
          </a:p>
          <a:p>
            <a:pPr marL="0" indent="0">
              <a:buNone/>
            </a:pPr>
            <a:r>
              <a:rPr lang="en-US" dirty="0"/>
              <a:t>&lt;video controls&gt;</a:t>
            </a:r>
          </a:p>
          <a:p>
            <a:pPr marL="0" indent="0">
              <a:buNone/>
            </a:pPr>
            <a:r>
              <a:rPr lang="en-US" dirty="0"/>
              <a:t>	&lt;source </a:t>
            </a:r>
            <a:r>
              <a:rPr lang="en-US" dirty="0" err="1"/>
              <a:t>src</a:t>
            </a:r>
            <a:r>
              <a:rPr lang="en-US" dirty="0"/>
              <a:t>="</a:t>
            </a:r>
            <a:r>
              <a:rPr lang="en-US" dirty="0" err="1"/>
              <a:t>video.webm</a:t>
            </a:r>
            <a:r>
              <a:rPr lang="en-US" dirty="0"/>
              <a:t>" type="video/</a:t>
            </a:r>
            <a:r>
              <a:rPr lang="en-US" dirty="0" err="1"/>
              <a:t>webm</a:t>
            </a:r>
            <a:r>
              <a:rPr lang="en-US" dirty="0"/>
              <a:t>"/&gt;</a:t>
            </a:r>
          </a:p>
          <a:p>
            <a:pPr marL="0" indent="0">
              <a:buNone/>
            </a:pPr>
            <a:r>
              <a:rPr lang="en-US" dirty="0"/>
              <a:t>            &lt;source </a:t>
            </a:r>
            <a:r>
              <a:rPr lang="en-US" dirty="0" err="1"/>
              <a:t>src</a:t>
            </a:r>
            <a:r>
              <a:rPr lang="en-US" dirty="0"/>
              <a:t>="video.mp4" type="video.mp4"/&gt;</a:t>
            </a:r>
          </a:p>
          <a:p>
            <a:pPr marL="0" indent="0">
              <a:buNone/>
            </a:pPr>
            <a:r>
              <a:rPr lang="en-US" dirty="0"/>
              <a:t>	</a:t>
            </a:r>
            <a:r>
              <a:rPr lang="ru-RU" dirty="0"/>
              <a:t>&lt;p&gt;Браузер не поддерживает </a:t>
            </a:r>
            <a:r>
              <a:rPr lang="ru-RU" dirty="0" err="1"/>
              <a:t>webm</a:t>
            </a:r>
            <a:r>
              <a:rPr lang="ru-RU" dirty="0"/>
              <a:t> или </a:t>
            </a:r>
            <a:r>
              <a:rPr lang="en-US" dirty="0"/>
              <a:t>mp4</a:t>
            </a:r>
            <a:r>
              <a:rPr lang="ru-RU" dirty="0"/>
              <a:t>&lt;/p&gt;</a:t>
            </a:r>
            <a:endParaRPr lang="en-US" dirty="0"/>
          </a:p>
          <a:p>
            <a:pPr marL="0" indent="0">
              <a:buNone/>
            </a:pPr>
            <a:r>
              <a:rPr lang="en-US" dirty="0"/>
              <a:t>&lt;/video&gt;</a:t>
            </a:r>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82</a:t>
            </a:fld>
            <a:endParaRPr lang="ru-RU"/>
          </a:p>
        </p:txBody>
      </p:sp>
    </p:spTree>
    <p:extLst>
      <p:ext uri="{BB962C8B-B14F-4D97-AF65-F5344CB8AC3E}">
        <p14:creationId xmlns:p14="http://schemas.microsoft.com/office/powerpoint/2010/main" val="347445448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Из аудио форматов до сих пор широко распространен </a:t>
            </a:r>
            <a:r>
              <a:rPr lang="en-US" dirty="0"/>
              <a:t>mp3, </a:t>
            </a:r>
            <a:r>
              <a:rPr lang="ru-RU" dirty="0"/>
              <a:t>хотя его поддержка и прекратилась в </a:t>
            </a:r>
            <a:r>
              <a:rPr lang="en-US" dirty="0"/>
              <a:t>2017 </a:t>
            </a:r>
            <a:r>
              <a:rPr lang="ru-RU" dirty="0"/>
              <a:t>г. Несмотря на примитивный алгоритм сжатия, при выборе большого битрейта аудио </a:t>
            </a:r>
            <a:r>
              <a:rPr lang="en-US" dirty="0"/>
              <a:t>mp3 </a:t>
            </a:r>
            <a:r>
              <a:rPr lang="ru-RU" dirty="0"/>
              <a:t>обеспечивает адекватное качество аудио</a:t>
            </a:r>
            <a:r>
              <a:rPr lang="en-US" dirty="0"/>
              <a:t>. </a:t>
            </a:r>
            <a:r>
              <a:rPr lang="ru-RU" dirty="0"/>
              <a:t>Тем не менее, современные форматы могут достичь меньшего объема файлов при лучшем качестве звука, сейчас из таких распространены </a:t>
            </a:r>
            <a:r>
              <a:rPr lang="en-US" dirty="0" err="1"/>
              <a:t>aac</a:t>
            </a:r>
            <a:r>
              <a:rPr lang="en-US" dirty="0"/>
              <a:t> (</a:t>
            </a:r>
            <a:r>
              <a:rPr lang="ru-RU" dirty="0"/>
              <a:t>в основном в </a:t>
            </a:r>
            <a:r>
              <a:rPr lang="en-US" dirty="0"/>
              <a:t>m4a </a:t>
            </a:r>
            <a:r>
              <a:rPr lang="ru-RU" dirty="0"/>
              <a:t>файлах) и</a:t>
            </a:r>
            <a:r>
              <a:rPr lang="en-US" dirty="0"/>
              <a:t> </a:t>
            </a:r>
            <a:r>
              <a:rPr lang="en-US" dirty="0" err="1"/>
              <a:t>vorbis</a:t>
            </a:r>
            <a:r>
              <a:rPr lang="en-US" dirty="0"/>
              <a:t> (</a:t>
            </a:r>
            <a:r>
              <a:rPr lang="en-US" dirty="0" err="1"/>
              <a:t>ogg</a:t>
            </a:r>
            <a:r>
              <a:rPr lang="en-US" dirty="0"/>
              <a:t>).</a:t>
            </a:r>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83</a:t>
            </a:fld>
            <a:endParaRPr lang="ru-RU"/>
          </a:p>
        </p:txBody>
      </p:sp>
    </p:spTree>
    <p:extLst>
      <p:ext uri="{BB962C8B-B14F-4D97-AF65-F5344CB8AC3E}">
        <p14:creationId xmlns:p14="http://schemas.microsoft.com/office/powerpoint/2010/main" val="38476349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Аналогично </a:t>
            </a:r>
            <a:r>
              <a:rPr lang="en-US" dirty="0"/>
              <a:t>video </a:t>
            </a:r>
            <a:r>
              <a:rPr lang="ru-RU" dirty="0"/>
              <a:t>можно указывать несколько источников </a:t>
            </a:r>
            <a:r>
              <a:rPr lang="en-US" dirty="0"/>
              <a:t>audio</a:t>
            </a:r>
            <a:r>
              <a:rPr lang="ru-RU" dirty="0"/>
              <a:t>:</a:t>
            </a:r>
            <a:endParaRPr lang="en-US" dirty="0"/>
          </a:p>
          <a:p>
            <a:pPr marL="0" indent="0">
              <a:buNone/>
            </a:pPr>
            <a:r>
              <a:rPr lang="en-US" dirty="0"/>
              <a:t>&lt;audio controls&gt;</a:t>
            </a:r>
          </a:p>
          <a:p>
            <a:pPr marL="0" indent="0">
              <a:buNone/>
            </a:pPr>
            <a:r>
              <a:rPr lang="en-US" dirty="0"/>
              <a:t>	&lt;source </a:t>
            </a:r>
            <a:r>
              <a:rPr lang="en-US" dirty="0" err="1"/>
              <a:t>src</a:t>
            </a:r>
            <a:r>
              <a:rPr lang="en-US" dirty="0"/>
              <a:t>="audio.ogg" type="audio/</a:t>
            </a:r>
            <a:r>
              <a:rPr lang="en-US" dirty="0" err="1"/>
              <a:t>ogg</a:t>
            </a:r>
            <a:r>
              <a:rPr lang="en-US" dirty="0"/>
              <a:t>"/&gt;</a:t>
            </a:r>
          </a:p>
          <a:p>
            <a:pPr marL="0" indent="0">
              <a:buNone/>
            </a:pPr>
            <a:r>
              <a:rPr lang="en-US" dirty="0"/>
              <a:t>            &lt;source </a:t>
            </a:r>
            <a:r>
              <a:rPr lang="en-US" dirty="0" err="1"/>
              <a:t>src</a:t>
            </a:r>
            <a:r>
              <a:rPr lang="en-US" dirty="0"/>
              <a:t>="audio.mp3" type="audio/mp3"/&gt;</a:t>
            </a:r>
          </a:p>
          <a:p>
            <a:pPr marL="0" indent="0">
              <a:buNone/>
            </a:pPr>
            <a:r>
              <a:rPr lang="en-US" dirty="0"/>
              <a:t>	</a:t>
            </a:r>
            <a:r>
              <a:rPr lang="ru-RU" dirty="0"/>
              <a:t>&lt;p&gt;Браузер не поддерживает </a:t>
            </a:r>
            <a:r>
              <a:rPr lang="en-US" dirty="0" err="1"/>
              <a:t>ogg</a:t>
            </a:r>
            <a:r>
              <a:rPr lang="en-US" dirty="0"/>
              <a:t> </a:t>
            </a:r>
            <a:r>
              <a:rPr lang="ru-RU" dirty="0"/>
              <a:t>или </a:t>
            </a:r>
            <a:r>
              <a:rPr lang="en-US" dirty="0"/>
              <a:t>mp3 (</a:t>
            </a:r>
            <a:r>
              <a:rPr lang="ru-RU" dirty="0" err="1"/>
              <a:t>лолшто</a:t>
            </a:r>
            <a:r>
              <a:rPr lang="ru-RU" dirty="0"/>
              <a:t>)&lt;/p&gt;</a:t>
            </a:r>
            <a:endParaRPr lang="en-US" dirty="0"/>
          </a:p>
          <a:p>
            <a:pPr marL="0" indent="0">
              <a:buNone/>
            </a:pPr>
            <a:r>
              <a:rPr lang="en-US" dirty="0"/>
              <a:t>&lt;/audio&gt;</a:t>
            </a:r>
          </a:p>
          <a:p>
            <a:r>
              <a:rPr lang="ru-RU" dirty="0"/>
              <a:t>Формат </a:t>
            </a:r>
            <a:r>
              <a:rPr lang="en-US" dirty="0" err="1"/>
              <a:t>aac</a:t>
            </a:r>
            <a:r>
              <a:rPr lang="en-US" dirty="0"/>
              <a:t>, </a:t>
            </a:r>
            <a:r>
              <a:rPr lang="ru-RU" dirty="0"/>
              <a:t>имеет проблемы</a:t>
            </a:r>
            <a:r>
              <a:rPr lang="en-US" dirty="0"/>
              <a:t>/</a:t>
            </a:r>
            <a:r>
              <a:rPr lang="ru-RU" dirty="0"/>
              <a:t>особенности с поддержкой, за исключением </a:t>
            </a:r>
            <a:r>
              <a:rPr lang="en-US" dirty="0"/>
              <a:t>Safari</a:t>
            </a:r>
            <a:r>
              <a:rPr lang="ru-RU" dirty="0"/>
              <a:t> и современных версий </a:t>
            </a:r>
            <a:r>
              <a:rPr lang="en-US" dirty="0"/>
              <a:t>Chrome</a:t>
            </a:r>
            <a:r>
              <a:rPr lang="ru-RU" dirty="0"/>
              <a:t>.</a:t>
            </a:r>
          </a:p>
        </p:txBody>
      </p:sp>
      <p:sp>
        <p:nvSpPr>
          <p:cNvPr id="4" name="Номер слайда 3"/>
          <p:cNvSpPr>
            <a:spLocks noGrp="1"/>
          </p:cNvSpPr>
          <p:nvPr>
            <p:ph type="sldNum" sz="quarter" idx="5"/>
          </p:nvPr>
        </p:nvSpPr>
        <p:spPr/>
        <p:txBody>
          <a:bodyPr/>
          <a:lstStyle/>
          <a:p>
            <a:fld id="{32AB7FA3-EE3C-4D67-A98A-6A08FE7D0F4F}" type="slidenum">
              <a:rPr lang="ru-RU" smtClean="0"/>
              <a:t>84</a:t>
            </a:fld>
            <a:endParaRPr lang="ru-RU"/>
          </a:p>
        </p:txBody>
      </p:sp>
    </p:spTree>
    <p:extLst>
      <p:ext uri="{BB962C8B-B14F-4D97-AF65-F5344CB8AC3E}">
        <p14:creationId xmlns:p14="http://schemas.microsoft.com/office/powerpoint/2010/main" val="24720532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Итак, мы добрались до крайне важной темы. В принципе, если вы хотите создать страницу-визитку или другой веб-документ, в котором нет нужды в анимации и реакции на действия пользователя, то связки </a:t>
            </a:r>
            <a:r>
              <a:rPr lang="en-US" dirty="0"/>
              <a:t>HTML+CSS </a:t>
            </a:r>
            <a:r>
              <a:rPr lang="ru-RU" dirty="0"/>
              <a:t>вам будет достаточно для создания сайта, который бы выглядел красиво, современно и адекватно отображался бы на различных устройствах.</a:t>
            </a:r>
            <a:r>
              <a:rPr lang="en-US" dirty="0"/>
              <a:t> </a:t>
            </a:r>
            <a:r>
              <a:rPr lang="ru-RU" dirty="0"/>
              <a:t>Что же такое </a:t>
            </a:r>
            <a:r>
              <a:rPr lang="en-US" dirty="0"/>
              <a:t>CSS?</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86</a:t>
            </a:fld>
            <a:endParaRPr lang="ru-RU"/>
          </a:p>
        </p:txBody>
      </p:sp>
    </p:spTree>
    <p:extLst>
      <p:ext uri="{BB962C8B-B14F-4D97-AF65-F5344CB8AC3E}">
        <p14:creationId xmlns:p14="http://schemas.microsoft.com/office/powerpoint/2010/main" val="15968315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CSS – </a:t>
            </a:r>
            <a:r>
              <a:rPr lang="ru-RU" dirty="0"/>
              <a:t>странная вещь. На слайде приведен каноничный пример этой странности – фраза «</a:t>
            </a:r>
            <a:r>
              <a:rPr lang="en-US" dirty="0"/>
              <a:t>CSS </a:t>
            </a:r>
            <a:r>
              <a:rPr lang="ru-RU" dirty="0"/>
              <a:t>великолепный» не влезает целиком в границы собственного блока, из-за чего отображается криво. Это настолько </a:t>
            </a:r>
            <a:r>
              <a:rPr lang="ru-RU" dirty="0" err="1"/>
              <a:t>мемный</a:t>
            </a:r>
            <a:r>
              <a:rPr lang="ru-RU" dirty="0"/>
              <a:t> пример, что вы легко можете найти </a:t>
            </a:r>
            <a:r>
              <a:rPr lang="ru-RU" dirty="0" err="1"/>
              <a:t>мерч</a:t>
            </a:r>
            <a:r>
              <a:rPr lang="ru-RU" dirty="0"/>
              <a:t> с данным изображением.</a:t>
            </a:r>
          </a:p>
        </p:txBody>
      </p:sp>
      <p:sp>
        <p:nvSpPr>
          <p:cNvPr id="4" name="Номер слайда 3"/>
          <p:cNvSpPr>
            <a:spLocks noGrp="1"/>
          </p:cNvSpPr>
          <p:nvPr>
            <p:ph type="sldNum" sz="quarter" idx="5"/>
          </p:nvPr>
        </p:nvSpPr>
        <p:spPr/>
        <p:txBody>
          <a:bodyPr/>
          <a:lstStyle/>
          <a:p>
            <a:fld id="{99AC21F4-998D-4BCD-B9E5-CFA879D290F7}" type="slidenum">
              <a:rPr lang="ru-RU" smtClean="0"/>
              <a:t>87</a:t>
            </a:fld>
            <a:endParaRPr lang="ru-RU"/>
          </a:p>
        </p:txBody>
      </p:sp>
    </p:spTree>
    <p:extLst>
      <p:ext uri="{BB962C8B-B14F-4D97-AF65-F5344CB8AC3E}">
        <p14:creationId xmlns:p14="http://schemas.microsoft.com/office/powerpoint/2010/main" val="347652230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Начнем с простого. </a:t>
            </a:r>
            <a:r>
              <a:rPr lang="en-US" dirty="0"/>
              <a:t>CSS </a:t>
            </a:r>
            <a:r>
              <a:rPr lang="ru-RU" dirty="0"/>
              <a:t>(</a:t>
            </a:r>
            <a:r>
              <a:rPr lang="en-US" dirty="0"/>
              <a:t>Cascading Style Sheets) – </a:t>
            </a:r>
            <a:r>
              <a:rPr lang="ru-RU" dirty="0"/>
              <a:t>каскадные таблицы стилей</a:t>
            </a:r>
            <a:r>
              <a:rPr lang="en-US" dirty="0"/>
              <a:t>, </a:t>
            </a:r>
            <a:r>
              <a:rPr lang="ru-RU" dirty="0"/>
              <a:t>формальный язык декорирования внешнего вида веб-документов. Можно считать языком программирования, по структуре код </a:t>
            </a:r>
            <a:r>
              <a:rPr lang="en-US" dirty="0"/>
              <a:t>CSS </a:t>
            </a:r>
            <a:r>
              <a:rPr lang="ru-RU" dirty="0"/>
              <a:t>напоминает </a:t>
            </a:r>
            <a:r>
              <a:rPr lang="en-US" dirty="0"/>
              <a:t>JSON </a:t>
            </a:r>
            <a:r>
              <a:rPr lang="ru-RU" dirty="0"/>
              <a:t>документы.</a:t>
            </a:r>
            <a:r>
              <a:rPr lang="en-US" dirty="0"/>
              <a:t> </a:t>
            </a:r>
            <a:r>
              <a:rPr lang="ru-RU" dirty="0"/>
              <a:t>На слайде приведен пример такого кода.</a:t>
            </a:r>
          </a:p>
          <a:p>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88</a:t>
            </a:fld>
            <a:endParaRPr lang="ru-RU"/>
          </a:p>
        </p:txBody>
      </p:sp>
    </p:spTree>
    <p:extLst>
      <p:ext uri="{BB962C8B-B14F-4D97-AF65-F5344CB8AC3E}">
        <p14:creationId xmlns:p14="http://schemas.microsoft.com/office/powerpoint/2010/main" val="238096513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CSS </a:t>
            </a:r>
            <a:r>
              <a:rPr lang="ru-RU" dirty="0"/>
              <a:t>позволяет применять к объектам </a:t>
            </a:r>
            <a:r>
              <a:rPr lang="en-US" dirty="0"/>
              <a:t>HTML</a:t>
            </a:r>
            <a:r>
              <a:rPr lang="ru-RU" dirty="0"/>
              <a:t> правила оформления, как массово, так и индивидуально</a:t>
            </a:r>
          </a:p>
          <a:p>
            <a:r>
              <a:rPr lang="ru-RU" dirty="0"/>
              <a:t>Принципы </a:t>
            </a:r>
            <a:r>
              <a:rPr lang="en-US" dirty="0"/>
              <a:t>CSS:</a:t>
            </a:r>
          </a:p>
          <a:p>
            <a:pPr marL="0" indent="0">
              <a:buNone/>
            </a:pPr>
            <a:r>
              <a:rPr lang="ru-RU" dirty="0"/>
              <a:t>1) </a:t>
            </a:r>
            <a:r>
              <a:rPr lang="ru-RU" dirty="0" err="1"/>
              <a:t>каскадность</a:t>
            </a:r>
            <a:r>
              <a:rPr lang="ru-RU" dirty="0"/>
              <a:t> – если имеется два одноуровневых противоречащих правила оформления, применяется последнее;</a:t>
            </a:r>
          </a:p>
          <a:p>
            <a:pPr marL="0" indent="0">
              <a:buNone/>
            </a:pPr>
            <a:r>
              <a:rPr lang="ru-RU" dirty="0"/>
              <a:t>2) специфичность – более общие правила имеют меньший приоритет, чем применяемые к конкретным блокам документа;</a:t>
            </a:r>
          </a:p>
          <a:p>
            <a:pPr marL="0" indent="0">
              <a:buNone/>
            </a:pPr>
            <a:r>
              <a:rPr lang="ru-RU" dirty="0"/>
              <a:t>3) наследование – некоторые правила оформления для родительских элементов наследуются, некоторые нет.</a:t>
            </a:r>
          </a:p>
        </p:txBody>
      </p:sp>
      <p:sp>
        <p:nvSpPr>
          <p:cNvPr id="4" name="Номер слайда 3"/>
          <p:cNvSpPr>
            <a:spLocks noGrp="1"/>
          </p:cNvSpPr>
          <p:nvPr>
            <p:ph type="sldNum" sz="quarter" idx="5"/>
          </p:nvPr>
        </p:nvSpPr>
        <p:spPr/>
        <p:txBody>
          <a:bodyPr/>
          <a:lstStyle/>
          <a:p>
            <a:fld id="{99AC21F4-998D-4BCD-B9E5-CFA879D290F7}" type="slidenum">
              <a:rPr lang="ru-RU" smtClean="0"/>
              <a:t>89</a:t>
            </a:fld>
            <a:endParaRPr lang="ru-RU"/>
          </a:p>
        </p:txBody>
      </p:sp>
    </p:spTree>
    <p:extLst>
      <p:ext uri="{BB962C8B-B14F-4D97-AF65-F5344CB8AC3E}">
        <p14:creationId xmlns:p14="http://schemas.microsoft.com/office/powerpoint/2010/main" val="207503464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Стилизация элемента производится добавлением файла стилей</a:t>
            </a:r>
            <a:r>
              <a:rPr lang="en-US" dirty="0"/>
              <a:t>: &lt;link </a:t>
            </a:r>
            <a:r>
              <a:rPr lang="en-US" dirty="0" err="1"/>
              <a:t>rel</a:t>
            </a:r>
            <a:r>
              <a:rPr lang="en-US" dirty="0"/>
              <a:t>="stylesheet" </a:t>
            </a:r>
            <a:r>
              <a:rPr lang="en-US" dirty="0" err="1"/>
              <a:t>href</a:t>
            </a:r>
            <a:r>
              <a:rPr lang="en-US" dirty="0"/>
              <a:t>="styles.css" /&gt;. </a:t>
            </a:r>
            <a:r>
              <a:rPr lang="ru-RU" dirty="0"/>
              <a:t>Код добавляется в </a:t>
            </a:r>
            <a:r>
              <a:rPr lang="en-US" dirty="0"/>
              <a:t>head. </a:t>
            </a:r>
            <a:r>
              <a:rPr lang="ru-RU" dirty="0"/>
              <a:t>Первый аргумент указывает, что используется </a:t>
            </a:r>
            <a:r>
              <a:rPr lang="en-US" dirty="0"/>
              <a:t>CSS, </a:t>
            </a:r>
            <a:r>
              <a:rPr lang="ru-RU" dirty="0"/>
              <a:t>второй – путь к файлу </a:t>
            </a:r>
            <a:r>
              <a:rPr lang="en-US" dirty="0"/>
              <a:t>CSS.</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90</a:t>
            </a:fld>
            <a:endParaRPr lang="ru-RU"/>
          </a:p>
        </p:txBody>
      </p:sp>
    </p:spTree>
    <p:extLst>
      <p:ext uri="{BB962C8B-B14F-4D97-AF65-F5344CB8AC3E}">
        <p14:creationId xmlns:p14="http://schemas.microsoft.com/office/powerpoint/2010/main" val="93927177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Структура файла стилей:</a:t>
            </a:r>
          </a:p>
          <a:p>
            <a:pPr marL="0" indent="0">
              <a:buNone/>
            </a:pPr>
            <a:r>
              <a:rPr lang="ru-RU" dirty="0"/>
              <a:t>элемент </a:t>
            </a:r>
            <a:r>
              <a:rPr lang="en-US" dirty="0"/>
              <a:t>{</a:t>
            </a:r>
          </a:p>
          <a:p>
            <a:pPr marL="0" indent="0">
              <a:buNone/>
            </a:pPr>
            <a:r>
              <a:rPr lang="en-US" dirty="0"/>
              <a:t>	</a:t>
            </a:r>
            <a:r>
              <a:rPr lang="ru-RU" dirty="0"/>
              <a:t>параметр</a:t>
            </a:r>
            <a:r>
              <a:rPr lang="en-US" dirty="0"/>
              <a:t>1</a:t>
            </a:r>
            <a:r>
              <a:rPr lang="ru-RU" dirty="0"/>
              <a:t> : значение</a:t>
            </a:r>
            <a:r>
              <a:rPr lang="en-US" dirty="0"/>
              <a:t>;</a:t>
            </a:r>
          </a:p>
          <a:p>
            <a:pPr marL="0" indent="0">
              <a:buNone/>
            </a:pPr>
            <a:r>
              <a:rPr lang="en-US" dirty="0"/>
              <a:t>	</a:t>
            </a:r>
            <a:r>
              <a:rPr lang="ru-RU" dirty="0"/>
              <a:t>параметр</a:t>
            </a:r>
            <a:r>
              <a:rPr lang="en-US" dirty="0"/>
              <a:t>2 </a:t>
            </a:r>
            <a:r>
              <a:rPr lang="ru-RU" dirty="0"/>
              <a:t>: значение</a:t>
            </a:r>
            <a:r>
              <a:rPr lang="en-US" dirty="0"/>
              <a:t>;</a:t>
            </a:r>
          </a:p>
          <a:p>
            <a:pPr marL="0" indent="0">
              <a:buNone/>
            </a:pPr>
            <a:r>
              <a:rPr lang="en-US" dirty="0"/>
              <a:t>}</a:t>
            </a:r>
            <a:endParaRPr lang="ru-RU" dirty="0"/>
          </a:p>
          <a:p>
            <a:r>
              <a:rPr lang="ru-RU" dirty="0"/>
              <a:t>Вместо «элемент» подставляется имя изменяемого </a:t>
            </a:r>
            <a:r>
              <a:rPr lang="en-US" dirty="0"/>
              <a:t>html </a:t>
            </a:r>
            <a:r>
              <a:rPr lang="ru-RU" dirty="0"/>
              <a:t>тега, параметры и значения выбираются из допустимых</a:t>
            </a:r>
          </a:p>
        </p:txBody>
      </p:sp>
      <p:sp>
        <p:nvSpPr>
          <p:cNvPr id="4" name="Номер слайда 3"/>
          <p:cNvSpPr>
            <a:spLocks noGrp="1"/>
          </p:cNvSpPr>
          <p:nvPr>
            <p:ph type="sldNum" sz="quarter" idx="5"/>
          </p:nvPr>
        </p:nvSpPr>
        <p:spPr/>
        <p:txBody>
          <a:bodyPr/>
          <a:lstStyle/>
          <a:p>
            <a:fld id="{99AC21F4-998D-4BCD-B9E5-CFA879D290F7}" type="slidenum">
              <a:rPr lang="ru-RU" smtClean="0"/>
              <a:t>91</a:t>
            </a:fld>
            <a:endParaRPr lang="ru-RU"/>
          </a:p>
        </p:txBody>
      </p:sp>
    </p:spTree>
    <p:extLst>
      <p:ext uri="{BB962C8B-B14F-4D97-AF65-F5344CB8AC3E}">
        <p14:creationId xmlns:p14="http://schemas.microsoft.com/office/powerpoint/2010/main" val="290890378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слайде представлен простой пример использования </a:t>
            </a:r>
            <a:r>
              <a:rPr lang="en-US" dirty="0"/>
              <a:t>CSS. </a:t>
            </a:r>
            <a:r>
              <a:rPr lang="ru-RU" dirty="0"/>
              <a:t>Параметр </a:t>
            </a:r>
            <a:r>
              <a:rPr lang="en-US" dirty="0"/>
              <a:t>color </a:t>
            </a:r>
            <a:r>
              <a:rPr lang="ru-RU" dirty="0"/>
              <a:t>меняет цвет, </a:t>
            </a:r>
            <a:r>
              <a:rPr lang="en-US" dirty="0"/>
              <a:t>font-weight – </a:t>
            </a:r>
            <a:r>
              <a:rPr lang="ru-RU" dirty="0"/>
              <a:t>толщину букв. Оба параметра могут принимать значения в виде стандартных имен (</a:t>
            </a:r>
            <a:r>
              <a:rPr lang="en-US" dirty="0"/>
              <a:t>green, red </a:t>
            </a:r>
            <a:r>
              <a:rPr lang="ru-RU" dirty="0"/>
              <a:t>для цвета, </a:t>
            </a:r>
            <a:r>
              <a:rPr lang="en-US" dirty="0"/>
              <a:t>bold </a:t>
            </a:r>
            <a:r>
              <a:rPr lang="ru-RU" dirty="0"/>
              <a:t>для начертания и т.д.) или же конкретные значения в виде чисел.</a:t>
            </a:r>
          </a:p>
        </p:txBody>
      </p:sp>
      <p:sp>
        <p:nvSpPr>
          <p:cNvPr id="4" name="Номер слайда 3"/>
          <p:cNvSpPr>
            <a:spLocks noGrp="1"/>
          </p:cNvSpPr>
          <p:nvPr>
            <p:ph type="sldNum" sz="quarter" idx="5"/>
          </p:nvPr>
        </p:nvSpPr>
        <p:spPr/>
        <p:txBody>
          <a:bodyPr/>
          <a:lstStyle/>
          <a:p>
            <a:fld id="{99AC21F4-998D-4BCD-B9E5-CFA879D290F7}" type="slidenum">
              <a:rPr lang="ru-RU" smtClean="0"/>
              <a:t>92</a:t>
            </a:fld>
            <a:endParaRPr lang="ru-RU"/>
          </a:p>
        </p:txBody>
      </p:sp>
    </p:spTree>
    <p:extLst>
      <p:ext uri="{BB962C8B-B14F-4D97-AF65-F5344CB8AC3E}">
        <p14:creationId xmlns:p14="http://schemas.microsoft.com/office/powerpoint/2010/main" val="14803631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Тегам </a:t>
            </a:r>
            <a:r>
              <a:rPr lang="en-US" dirty="0"/>
              <a:t>html </a:t>
            </a:r>
            <a:r>
              <a:rPr lang="ru-RU" dirty="0"/>
              <a:t>можно присваивать классы </a:t>
            </a:r>
            <a:r>
              <a:rPr lang="en-US" dirty="0"/>
              <a:t>&lt;</a:t>
            </a:r>
            <a:r>
              <a:rPr lang="ru-RU" dirty="0"/>
              <a:t>тег </a:t>
            </a:r>
            <a:r>
              <a:rPr lang="en-US" dirty="0"/>
              <a:t>class="</a:t>
            </a:r>
            <a:r>
              <a:rPr lang="ru-RU" dirty="0"/>
              <a:t>имя"</a:t>
            </a:r>
            <a:r>
              <a:rPr lang="en-US" dirty="0"/>
              <a:t>/&gt; </a:t>
            </a:r>
            <a:r>
              <a:rPr lang="ru-RU" dirty="0"/>
              <a:t>чтобы применять стили к элементам с этим классом:</a:t>
            </a:r>
          </a:p>
          <a:p>
            <a:pPr marL="0" indent="0">
              <a:buNone/>
            </a:pPr>
            <a:r>
              <a:rPr lang="ru-RU" dirty="0"/>
              <a:t>.класс </a:t>
            </a:r>
            <a:r>
              <a:rPr lang="en-US" dirty="0"/>
              <a:t>{</a:t>
            </a:r>
          </a:p>
          <a:p>
            <a:pPr marL="0" indent="0">
              <a:buNone/>
            </a:pPr>
            <a:r>
              <a:rPr lang="en-US" dirty="0"/>
              <a:t>	</a:t>
            </a:r>
            <a:r>
              <a:rPr lang="ru-RU" dirty="0"/>
              <a:t>параметр : значение</a:t>
            </a:r>
            <a:r>
              <a:rPr lang="en-US" dirty="0"/>
              <a:t>;</a:t>
            </a:r>
            <a:endParaRPr lang="ru-RU" dirty="0"/>
          </a:p>
          <a:p>
            <a:pPr marL="0" indent="0">
              <a:buNone/>
            </a:pPr>
            <a:r>
              <a:rPr lang="en-US" dirty="0"/>
              <a:t>}</a:t>
            </a:r>
            <a:endParaRPr lang="ru-RU" dirty="0"/>
          </a:p>
          <a:p>
            <a:r>
              <a:rPr lang="ru-RU" dirty="0"/>
              <a:t>Класс или имя объекта в CSS называют селекторами. Универ-сальный селектор * выбирает все объекты документа, объект.* - все классы в объекте.</a:t>
            </a:r>
          </a:p>
        </p:txBody>
      </p:sp>
      <p:sp>
        <p:nvSpPr>
          <p:cNvPr id="4" name="Номер слайда 3"/>
          <p:cNvSpPr>
            <a:spLocks noGrp="1"/>
          </p:cNvSpPr>
          <p:nvPr>
            <p:ph type="sldNum" sz="quarter" idx="5"/>
          </p:nvPr>
        </p:nvSpPr>
        <p:spPr/>
        <p:txBody>
          <a:bodyPr/>
          <a:lstStyle/>
          <a:p>
            <a:fld id="{99AC21F4-998D-4BCD-B9E5-CFA879D290F7}" type="slidenum">
              <a:rPr lang="ru-RU" smtClean="0"/>
              <a:t>93</a:t>
            </a:fld>
            <a:endParaRPr lang="ru-RU"/>
          </a:p>
        </p:txBody>
      </p:sp>
    </p:spTree>
    <p:extLst>
      <p:ext uri="{BB962C8B-B14F-4D97-AF65-F5344CB8AC3E}">
        <p14:creationId xmlns:p14="http://schemas.microsoft.com/office/powerpoint/2010/main" val="6487384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Использование классов иллюстрируется на слайде. Поскольку </a:t>
            </a:r>
            <a:r>
              <a:rPr lang="en-US" dirty="0"/>
              <a:t>h1 </a:t>
            </a:r>
            <a:r>
              <a:rPr lang="ru-RU" dirty="0"/>
              <a:t>и </a:t>
            </a:r>
            <a:r>
              <a:rPr lang="en-US" dirty="0"/>
              <a:t>p </a:t>
            </a:r>
            <a:r>
              <a:rPr lang="ru-RU" dirty="0"/>
              <a:t>имеют один класс, масштабирование размера шрифта применяется к обоим элементам.</a:t>
            </a:r>
          </a:p>
        </p:txBody>
      </p:sp>
      <p:sp>
        <p:nvSpPr>
          <p:cNvPr id="4" name="Номер слайда 3"/>
          <p:cNvSpPr>
            <a:spLocks noGrp="1"/>
          </p:cNvSpPr>
          <p:nvPr>
            <p:ph type="sldNum" sz="quarter" idx="5"/>
          </p:nvPr>
        </p:nvSpPr>
        <p:spPr/>
        <p:txBody>
          <a:bodyPr/>
          <a:lstStyle/>
          <a:p>
            <a:fld id="{99AC21F4-998D-4BCD-B9E5-CFA879D290F7}" type="slidenum">
              <a:rPr lang="ru-RU" smtClean="0"/>
              <a:t>94</a:t>
            </a:fld>
            <a:endParaRPr lang="ru-RU"/>
          </a:p>
        </p:txBody>
      </p:sp>
    </p:spTree>
    <p:extLst>
      <p:ext uri="{BB962C8B-B14F-4D97-AF65-F5344CB8AC3E}">
        <p14:creationId xmlns:p14="http://schemas.microsoft.com/office/powerpoint/2010/main" val="377974662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применения свойств только к конкретным объектам (тегам) класса перед «.» указывают имя объекта:</a:t>
            </a:r>
          </a:p>
          <a:p>
            <a:pPr marL="0" indent="0">
              <a:buNone/>
            </a:pPr>
            <a:r>
              <a:rPr lang="ru-RU" dirty="0" err="1"/>
              <a:t>тег.класс</a:t>
            </a:r>
            <a:r>
              <a:rPr lang="ru-RU" dirty="0"/>
              <a:t> </a:t>
            </a:r>
            <a:r>
              <a:rPr lang="en-US" dirty="0"/>
              <a:t>{</a:t>
            </a:r>
          </a:p>
          <a:p>
            <a:pPr marL="0" indent="0">
              <a:buNone/>
            </a:pPr>
            <a:r>
              <a:rPr lang="en-US" dirty="0"/>
              <a:t>	</a:t>
            </a:r>
            <a:r>
              <a:rPr lang="ru-RU" dirty="0"/>
              <a:t>параметр : значение</a:t>
            </a:r>
            <a:r>
              <a:rPr lang="en-US" dirty="0"/>
              <a:t>;</a:t>
            </a:r>
            <a:endParaRPr lang="ru-RU" dirty="0"/>
          </a:p>
          <a:p>
            <a:pPr marL="0" indent="0">
              <a:buNone/>
            </a:pPr>
            <a:r>
              <a:rPr lang="en-US" dirty="0"/>
              <a:t>}</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95</a:t>
            </a:fld>
            <a:endParaRPr lang="ru-RU"/>
          </a:p>
        </p:txBody>
      </p:sp>
    </p:spTree>
    <p:extLst>
      <p:ext uri="{BB962C8B-B14F-4D97-AF65-F5344CB8AC3E}">
        <p14:creationId xmlns:p14="http://schemas.microsoft.com/office/powerpoint/2010/main" val="265682827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Пример такого использования классов приведен на слайде. Видно, что масштабирование шрифта применяется только к параграфу и только с классом </a:t>
            </a:r>
            <a:r>
              <a:rPr lang="en-US" dirty="0" err="1"/>
              <a:t>myclass</a:t>
            </a:r>
            <a:r>
              <a:rPr lang="en-US" dirty="0"/>
              <a:t>.</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96</a:t>
            </a:fld>
            <a:endParaRPr lang="ru-RU"/>
          </a:p>
        </p:txBody>
      </p:sp>
    </p:spTree>
    <p:extLst>
      <p:ext uri="{BB962C8B-B14F-4D97-AF65-F5344CB8AC3E}">
        <p14:creationId xmlns:p14="http://schemas.microsoft.com/office/powerpoint/2010/main" val="170482823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применения правил к нескольким объектам, их имена следует указывать через «</a:t>
            </a:r>
            <a:r>
              <a:rPr lang="en-US" dirty="0"/>
              <a:t>,</a:t>
            </a:r>
            <a:r>
              <a:rPr lang="ru-RU" dirty="0"/>
              <a:t>»:</a:t>
            </a:r>
          </a:p>
          <a:p>
            <a:pPr marL="0" indent="0">
              <a:buNone/>
            </a:pPr>
            <a:r>
              <a:rPr lang="ru-RU" dirty="0"/>
              <a:t>объект1</a:t>
            </a:r>
            <a:r>
              <a:rPr lang="en-US" dirty="0"/>
              <a:t>,</a:t>
            </a:r>
            <a:r>
              <a:rPr lang="ru-RU" dirty="0"/>
              <a:t> </a:t>
            </a:r>
            <a:endParaRPr lang="en-US" dirty="0"/>
          </a:p>
          <a:p>
            <a:pPr marL="0" indent="0">
              <a:buNone/>
            </a:pPr>
            <a:r>
              <a:rPr lang="ru-RU" dirty="0"/>
              <a:t>объект2 </a:t>
            </a:r>
            <a:r>
              <a:rPr lang="en-US" dirty="0"/>
              <a:t>{</a:t>
            </a:r>
          </a:p>
          <a:p>
            <a:pPr marL="0" indent="0">
              <a:buNone/>
            </a:pPr>
            <a:r>
              <a:rPr lang="en-US" dirty="0"/>
              <a:t>	</a:t>
            </a:r>
            <a:r>
              <a:rPr lang="ru-RU" dirty="0"/>
              <a:t>параметр : значение</a:t>
            </a:r>
            <a:r>
              <a:rPr lang="en-US" dirty="0"/>
              <a:t>;</a:t>
            </a:r>
            <a:endParaRPr lang="ru-RU" dirty="0"/>
          </a:p>
          <a:p>
            <a:pPr marL="0" indent="0">
              <a:buNone/>
            </a:pPr>
            <a:r>
              <a:rPr lang="en-US" dirty="0"/>
              <a:t>}</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97</a:t>
            </a:fld>
            <a:endParaRPr lang="ru-RU"/>
          </a:p>
        </p:txBody>
      </p:sp>
    </p:spTree>
    <p:extLst>
      <p:ext uri="{BB962C8B-B14F-4D97-AF65-F5344CB8AC3E}">
        <p14:creationId xmlns:p14="http://schemas.microsoft.com/office/powerpoint/2010/main" val="421361456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Пример такого использования стилей приведен на слайде. Видно, что в качестве объектов могут быть указаны как имена объектов, так и имена классов, или объектов конкретного класса.</a:t>
            </a:r>
          </a:p>
        </p:txBody>
      </p:sp>
      <p:sp>
        <p:nvSpPr>
          <p:cNvPr id="4" name="Номер слайда 3"/>
          <p:cNvSpPr>
            <a:spLocks noGrp="1"/>
          </p:cNvSpPr>
          <p:nvPr>
            <p:ph type="sldNum" sz="quarter" idx="5"/>
          </p:nvPr>
        </p:nvSpPr>
        <p:spPr/>
        <p:txBody>
          <a:bodyPr/>
          <a:lstStyle/>
          <a:p>
            <a:fld id="{99AC21F4-998D-4BCD-B9E5-CFA879D290F7}" type="slidenum">
              <a:rPr lang="ru-RU" smtClean="0"/>
              <a:t>98</a:t>
            </a:fld>
            <a:endParaRPr lang="ru-RU"/>
          </a:p>
        </p:txBody>
      </p:sp>
    </p:spTree>
    <p:extLst>
      <p:ext uri="{BB962C8B-B14F-4D97-AF65-F5344CB8AC3E}">
        <p14:creationId xmlns:p14="http://schemas.microsoft.com/office/powerpoint/2010/main" val="358236874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применения правил к объекту2, наследнику объекта1, нужно указать его имя через пробел:</a:t>
            </a:r>
          </a:p>
          <a:p>
            <a:pPr marL="0" indent="0">
              <a:buNone/>
            </a:pPr>
            <a:r>
              <a:rPr lang="ru-RU" dirty="0"/>
              <a:t>объект1 объект2 </a:t>
            </a:r>
            <a:r>
              <a:rPr lang="en-US" dirty="0"/>
              <a:t>{</a:t>
            </a:r>
          </a:p>
          <a:p>
            <a:pPr marL="0" indent="0">
              <a:buNone/>
            </a:pPr>
            <a:r>
              <a:rPr lang="en-US" dirty="0"/>
              <a:t>	</a:t>
            </a:r>
            <a:r>
              <a:rPr lang="ru-RU" dirty="0"/>
              <a:t>параметр : значение</a:t>
            </a:r>
            <a:r>
              <a:rPr lang="en-US" dirty="0"/>
              <a:t>;</a:t>
            </a:r>
            <a:endParaRPr lang="ru-RU" dirty="0"/>
          </a:p>
          <a:p>
            <a:pPr marL="0" indent="0">
              <a:buNone/>
            </a:pPr>
            <a:r>
              <a:rPr lang="en-US" dirty="0"/>
              <a:t>}</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99</a:t>
            </a:fld>
            <a:endParaRPr lang="ru-RU"/>
          </a:p>
        </p:txBody>
      </p:sp>
    </p:spTree>
    <p:extLst>
      <p:ext uri="{BB962C8B-B14F-4D97-AF65-F5344CB8AC3E}">
        <p14:creationId xmlns:p14="http://schemas.microsoft.com/office/powerpoint/2010/main" val="1269973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слайде представлен пример применения красного цвета только к тегу </a:t>
            </a:r>
            <a:r>
              <a:rPr lang="en-US" dirty="0" err="1"/>
              <a:t>i</a:t>
            </a:r>
            <a:r>
              <a:rPr lang="en-US" dirty="0"/>
              <a:t>,</a:t>
            </a:r>
            <a:r>
              <a:rPr lang="ru-RU" dirty="0"/>
              <a:t> который является последовательным наследником </a:t>
            </a:r>
            <a:r>
              <a:rPr lang="en-US" dirty="0"/>
              <a:t>article </a:t>
            </a:r>
            <a:r>
              <a:rPr lang="ru-RU" dirty="0"/>
              <a:t>и </a:t>
            </a:r>
            <a:r>
              <a:rPr lang="en-US" dirty="0"/>
              <a:t>p. </a:t>
            </a:r>
            <a:r>
              <a:rPr lang="ru-RU" dirty="0"/>
              <a:t>Тем самым, иерархия наследования может быть любой глубины, не только на 2 объекта.</a:t>
            </a:r>
          </a:p>
        </p:txBody>
      </p:sp>
      <p:sp>
        <p:nvSpPr>
          <p:cNvPr id="4" name="Номер слайда 3"/>
          <p:cNvSpPr>
            <a:spLocks noGrp="1"/>
          </p:cNvSpPr>
          <p:nvPr>
            <p:ph type="sldNum" sz="quarter" idx="5"/>
          </p:nvPr>
        </p:nvSpPr>
        <p:spPr/>
        <p:txBody>
          <a:bodyPr/>
          <a:lstStyle/>
          <a:p>
            <a:fld id="{99AC21F4-998D-4BCD-B9E5-CFA879D290F7}" type="slidenum">
              <a:rPr lang="ru-RU" smtClean="0"/>
              <a:t>100</a:t>
            </a:fld>
            <a:endParaRPr lang="ru-RU"/>
          </a:p>
        </p:txBody>
      </p:sp>
    </p:spTree>
    <p:extLst>
      <p:ext uri="{BB962C8B-B14F-4D97-AF65-F5344CB8AC3E}">
        <p14:creationId xmlns:p14="http://schemas.microsoft.com/office/powerpoint/2010/main" val="64673557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объектов с несколькими состояниями можно применять правила на основе состояний, указывая их тип после «:»:</a:t>
            </a:r>
          </a:p>
          <a:p>
            <a:pPr marL="0" indent="0">
              <a:buNone/>
            </a:pPr>
            <a:r>
              <a:rPr lang="ru-RU" dirty="0"/>
              <a:t>объект: состояние </a:t>
            </a:r>
            <a:r>
              <a:rPr lang="en-US" dirty="0"/>
              <a:t>{</a:t>
            </a:r>
          </a:p>
          <a:p>
            <a:pPr marL="0" indent="0">
              <a:buNone/>
            </a:pPr>
            <a:r>
              <a:rPr lang="en-US" dirty="0"/>
              <a:t>	</a:t>
            </a:r>
            <a:r>
              <a:rPr lang="ru-RU" dirty="0"/>
              <a:t>параметр: значение</a:t>
            </a:r>
            <a:r>
              <a:rPr lang="en-US" dirty="0"/>
              <a:t>;</a:t>
            </a:r>
            <a:endParaRPr lang="ru-RU" dirty="0"/>
          </a:p>
          <a:p>
            <a:pPr marL="0" indent="0">
              <a:buNone/>
            </a:pPr>
            <a:r>
              <a:rPr lang="en-US" dirty="0"/>
              <a:t>}</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101</a:t>
            </a:fld>
            <a:endParaRPr lang="ru-RU"/>
          </a:p>
        </p:txBody>
      </p:sp>
    </p:spTree>
    <p:extLst>
      <p:ext uri="{BB962C8B-B14F-4D97-AF65-F5344CB8AC3E}">
        <p14:creationId xmlns:p14="http://schemas.microsoft.com/office/powerpoint/2010/main" val="160154528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слайде представлен пример стилизации ссылки на основе состояния. В базовом состоянии </a:t>
            </a:r>
            <a:r>
              <a:rPr lang="en-US" dirty="0"/>
              <a:t>link </a:t>
            </a:r>
            <a:r>
              <a:rPr lang="ru-RU" dirty="0"/>
              <a:t>к ней применяется розовый цвет, после посещения ссылки сменяемый зеленым. В добавок к изменению цвета, при наличии курсора над ссылкой, что соответствует состоянию </a:t>
            </a:r>
            <a:r>
              <a:rPr lang="en-US" dirty="0"/>
              <a:t>hover, </a:t>
            </a:r>
            <a:r>
              <a:rPr lang="ru-RU" dirty="0"/>
              <a:t>у ссылки удаляется подчеркивание за счет правила </a:t>
            </a:r>
            <a:r>
              <a:rPr lang="en-US" dirty="0"/>
              <a:t>text-decoration: none.</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102</a:t>
            </a:fld>
            <a:endParaRPr lang="ru-RU"/>
          </a:p>
        </p:txBody>
      </p:sp>
    </p:spTree>
    <p:extLst>
      <p:ext uri="{BB962C8B-B14F-4D97-AF65-F5344CB8AC3E}">
        <p14:creationId xmlns:p14="http://schemas.microsoft.com/office/powerpoint/2010/main" val="392834997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Ранее приведенные адаптивные изображения на самом деле тоже использовали </a:t>
            </a:r>
            <a:r>
              <a:rPr lang="en-US" dirty="0"/>
              <a:t>CSS</a:t>
            </a:r>
            <a:r>
              <a:rPr lang="ru-RU" dirty="0"/>
              <a:t>, поскольку медиа правила в первую очередь предназначена для него. И раз в </a:t>
            </a:r>
            <a:r>
              <a:rPr lang="en-US" dirty="0"/>
              <a:t>CSS </a:t>
            </a:r>
            <a:r>
              <a:rPr lang="ru-RU" dirty="0"/>
              <a:t>работают правила, можно применять какие-то параметры оформления к объекту в зависимости от ширины окна: </a:t>
            </a:r>
            <a:r>
              <a:rPr lang="en-US" dirty="0"/>
              <a:t>@media </a:t>
            </a:r>
            <a:r>
              <a:rPr lang="ru-RU" dirty="0"/>
              <a:t>позволяет задействовать правила только при выполнении условий. Ниже приведен пример, в котором правила выполняются, если окно не меньше 600</a:t>
            </a:r>
            <a:r>
              <a:rPr lang="en-US" dirty="0"/>
              <a:t>px</a:t>
            </a:r>
            <a:r>
              <a:rPr lang="ru-RU" dirty="0"/>
              <a:t>:</a:t>
            </a:r>
          </a:p>
          <a:p>
            <a:pPr marL="0" indent="0">
              <a:buNone/>
            </a:pPr>
            <a:r>
              <a:rPr lang="en-US" dirty="0"/>
              <a:t>@media screen and (min-width: 600px){</a:t>
            </a:r>
          </a:p>
          <a:p>
            <a:pPr marL="0" indent="0">
              <a:buNone/>
            </a:pPr>
            <a:r>
              <a:rPr lang="en-US" dirty="0"/>
              <a:t>	</a:t>
            </a:r>
            <a:r>
              <a:rPr lang="ru-RU" dirty="0"/>
              <a:t>объект</a:t>
            </a:r>
            <a:r>
              <a:rPr lang="en-US" dirty="0"/>
              <a:t> {</a:t>
            </a:r>
          </a:p>
          <a:p>
            <a:pPr marL="0" indent="0">
              <a:buNone/>
            </a:pPr>
            <a:r>
              <a:rPr lang="en-US" dirty="0"/>
              <a:t>		</a:t>
            </a:r>
            <a:r>
              <a:rPr lang="ru-RU" dirty="0"/>
              <a:t>параметр:</a:t>
            </a:r>
            <a:r>
              <a:rPr lang="en-US" dirty="0"/>
              <a:t> </a:t>
            </a:r>
            <a:r>
              <a:rPr lang="ru-RU" dirty="0"/>
              <a:t>значение</a:t>
            </a:r>
            <a:r>
              <a:rPr lang="en-US" dirty="0"/>
              <a:t>;</a:t>
            </a:r>
          </a:p>
          <a:p>
            <a:pPr marL="0" indent="0">
              <a:buNone/>
            </a:pPr>
            <a:r>
              <a:rPr lang="en-US" dirty="0"/>
              <a:t>	}</a:t>
            </a:r>
          </a:p>
          <a:p>
            <a:pPr marL="0" indent="0">
              <a:buNone/>
            </a:pPr>
            <a:r>
              <a:rPr lang="en-US" dirty="0"/>
              <a:t>}</a:t>
            </a: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Важно, что не следует создавать несколько правил по ширине экрана, при граничном значении правила могут быть не применены. Значит это следующее: вы задали блоку с текстом цвет и размер, который не будет меняться при разной ширине окна, но хотите, чтобы при окне более 600</a:t>
            </a:r>
            <a:r>
              <a:rPr lang="en-US" dirty="0"/>
              <a:t>px </a:t>
            </a:r>
            <a:r>
              <a:rPr lang="ru-RU" dirty="0"/>
              <a:t>текст был с отступами </a:t>
            </a:r>
            <a:r>
              <a:rPr lang="en-US" dirty="0"/>
              <a:t>margin</a:t>
            </a:r>
            <a:r>
              <a:rPr lang="ru-RU" dirty="0"/>
              <a:t> = 10</a:t>
            </a:r>
            <a:r>
              <a:rPr lang="en-US" dirty="0"/>
              <a:t>px, </a:t>
            </a:r>
            <a:r>
              <a:rPr lang="ru-RU" dirty="0"/>
              <a:t>а при меньшем размере 5</a:t>
            </a:r>
            <a:r>
              <a:rPr lang="en-US" dirty="0"/>
              <a:t>px. </a:t>
            </a:r>
            <a:r>
              <a:rPr lang="ru-RU" dirty="0"/>
              <a:t>Создав 2 правила, одно с </a:t>
            </a:r>
            <a:r>
              <a:rPr lang="en-US" dirty="0"/>
              <a:t>min-width 600px, </a:t>
            </a:r>
            <a:r>
              <a:rPr lang="ru-RU" dirty="0"/>
              <a:t>другое с </a:t>
            </a:r>
            <a:r>
              <a:rPr lang="en-US" dirty="0"/>
              <a:t>max-width 599px, </a:t>
            </a:r>
            <a:r>
              <a:rPr lang="ru-RU" dirty="0"/>
              <a:t>засунув в них соответственные значения </a:t>
            </a:r>
            <a:r>
              <a:rPr lang="en-US" dirty="0"/>
              <a:t>margin </a:t>
            </a:r>
            <a:r>
              <a:rPr lang="ru-RU" dirty="0"/>
              <a:t>все будет работать как и задумано, за исключением границы между </a:t>
            </a:r>
            <a:r>
              <a:rPr lang="en-US" dirty="0"/>
              <a:t>599</a:t>
            </a:r>
            <a:r>
              <a:rPr lang="ru-RU" dirty="0"/>
              <a:t> и </a:t>
            </a:r>
            <a:r>
              <a:rPr lang="en-US" dirty="0"/>
              <a:t>600px, </a:t>
            </a:r>
            <a:r>
              <a:rPr lang="ru-RU" dirty="0"/>
              <a:t>которую можно отловить</a:t>
            </a:r>
            <a:r>
              <a:rPr lang="en-US" dirty="0"/>
              <a:t> </a:t>
            </a:r>
            <a:r>
              <a:rPr lang="ru-RU" dirty="0"/>
              <a:t>при ручном изменении размера окна, тем самым ни одно из правил не сработает и отобразится макет со стандартным оформлением. Поскольку более поздние правила (ниже в документе </a:t>
            </a:r>
            <a:r>
              <a:rPr lang="en-US" dirty="0"/>
              <a:t>CSS) </a:t>
            </a:r>
            <a:r>
              <a:rPr lang="ru-RU" dirty="0"/>
              <a:t>переопределяют более ранние, логичнее оставить в данном примере в оформлении по умолчанию (без условий) </a:t>
            </a:r>
            <a:r>
              <a:rPr lang="en-US" dirty="0"/>
              <a:t>margin 5px</a:t>
            </a:r>
            <a:r>
              <a:rPr lang="ru-RU" dirty="0"/>
              <a:t>, которое будет перезаписано на 10</a:t>
            </a:r>
            <a:r>
              <a:rPr lang="en-US" dirty="0"/>
              <a:t>px</a:t>
            </a:r>
            <a:r>
              <a:rPr lang="ru-RU" dirty="0"/>
              <a:t> по медиа правилу с </a:t>
            </a:r>
            <a:r>
              <a:rPr lang="en-US" dirty="0"/>
              <a:t>max-width.</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103</a:t>
            </a:fld>
            <a:endParaRPr lang="ru-RU"/>
          </a:p>
        </p:txBody>
      </p:sp>
    </p:spTree>
    <p:extLst>
      <p:ext uri="{BB962C8B-B14F-4D97-AF65-F5344CB8AC3E}">
        <p14:creationId xmlns:p14="http://schemas.microsoft.com/office/powerpoint/2010/main" val="311488835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Как вы могли заметить, страницу логичнее всего верстать из последовательных блоков – будь то </a:t>
            </a:r>
            <a:r>
              <a:rPr lang="en-US" dirty="0"/>
              <a:t>div, header, article, picture </a:t>
            </a:r>
            <a:r>
              <a:rPr lang="ru-RU" dirty="0"/>
              <a:t>или прочие. Модифицировать оформление таких блоков крайне легко с помощью</a:t>
            </a:r>
            <a:r>
              <a:rPr lang="en-US" dirty="0"/>
              <a:t>, </a:t>
            </a:r>
            <a:r>
              <a:rPr lang="ru-RU" dirty="0"/>
              <a:t>пожалуй, самых базовых параметров </a:t>
            </a:r>
            <a:r>
              <a:rPr lang="en-US" dirty="0" err="1"/>
              <a:t>css</a:t>
            </a:r>
            <a:r>
              <a:rPr lang="en-US" dirty="0"/>
              <a:t> – margin, border, padding. </a:t>
            </a:r>
            <a:r>
              <a:rPr lang="ru-RU" dirty="0"/>
              <a:t>Первый показывает отступ границ блока от внешних объектов/краев окна, второй – наличие и параметры границы блока, третий – внутренний отступ содержимого блока от его границы. Также можно менять фон блока с помощью </a:t>
            </a:r>
            <a:r>
              <a:rPr lang="en-US" dirty="0"/>
              <a:t>background-color, </a:t>
            </a:r>
            <a:r>
              <a:rPr lang="ru-RU" dirty="0"/>
              <a:t>ширину и высоту посредством </a:t>
            </a:r>
            <a:r>
              <a:rPr lang="en-US" dirty="0"/>
              <a:t>width </a:t>
            </a:r>
            <a:r>
              <a:rPr lang="ru-RU" dirty="0"/>
              <a:t>и </a:t>
            </a:r>
            <a:r>
              <a:rPr lang="en-US" dirty="0"/>
              <a:t>height.</a:t>
            </a:r>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104</a:t>
            </a:fld>
            <a:endParaRPr lang="ru-RU"/>
          </a:p>
        </p:txBody>
      </p:sp>
    </p:spTree>
    <p:extLst>
      <p:ext uri="{BB962C8B-B14F-4D97-AF65-F5344CB8AC3E}">
        <p14:creationId xmlns:p14="http://schemas.microsoft.com/office/powerpoint/2010/main" val="262252222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Также у объектов можно настраивать параметр отображения – </a:t>
            </a:r>
            <a:r>
              <a:rPr lang="en-US" dirty="0"/>
              <a:t>display. </a:t>
            </a:r>
            <a:r>
              <a:rPr lang="ru-RU" dirty="0"/>
              <a:t>Типы отображения – блоковый, строчный, строчно-блоковый и пустой. Возможности модификации блоков, как описывалось ранее, довольно широки, тогда как</a:t>
            </a:r>
            <a:r>
              <a:rPr lang="en-US" dirty="0"/>
              <a:t> </a:t>
            </a:r>
            <a:r>
              <a:rPr lang="ru-RU" dirty="0"/>
              <a:t>строчные объекты оформлять сложнее. К примеру, изображения по умолчанию являются строчными элементами, из-за чего при подстановке идут подряд, как символы или части текста. У строчных элементов не может быть отступов, его не так элементарно расположить по центру страницы и т.п. Поэтому для оформления изображения очень пригождается параметр </a:t>
            </a:r>
            <a:r>
              <a:rPr lang="en-US" dirty="0"/>
              <a:t>display,</a:t>
            </a:r>
            <a:r>
              <a:rPr lang="ru-RU" dirty="0"/>
              <a:t> позволяющий менять его тип на </a:t>
            </a:r>
            <a:r>
              <a:rPr lang="en-US" dirty="0"/>
              <a:t>block, </a:t>
            </a:r>
            <a:r>
              <a:rPr lang="ru-RU" dirty="0"/>
              <a:t>чтобы тоньше настраивать его оформление.</a:t>
            </a:r>
            <a:r>
              <a:rPr lang="en-US" dirty="0"/>
              <a:t> </a:t>
            </a:r>
            <a:r>
              <a:rPr lang="ru-RU" dirty="0"/>
              <a:t>Помимо озвученных также распространен </a:t>
            </a:r>
            <a:r>
              <a:rPr lang="en-US" dirty="0"/>
              <a:t>flex </a:t>
            </a:r>
            <a:r>
              <a:rPr lang="ru-RU" dirty="0"/>
              <a:t>тип </a:t>
            </a:r>
            <a:r>
              <a:rPr lang="en-US" dirty="0"/>
              <a:t>display, </a:t>
            </a:r>
            <a:r>
              <a:rPr lang="ru-RU" dirty="0"/>
              <a:t>который подобен </a:t>
            </a:r>
            <a:r>
              <a:rPr lang="en-US" dirty="0"/>
              <a:t>inline-block, </a:t>
            </a:r>
            <a:r>
              <a:rPr lang="ru-RU" dirty="0"/>
              <a:t>но позволяет задавать вложенные элементы одной высоты, тогда как </a:t>
            </a:r>
            <a:r>
              <a:rPr lang="en-US" dirty="0"/>
              <a:t>inline-block </a:t>
            </a:r>
            <a:r>
              <a:rPr lang="ru-RU" dirty="0"/>
              <a:t>будет скакать по высоте, если в каждом элементе разно количество контента.</a:t>
            </a:r>
          </a:p>
        </p:txBody>
      </p:sp>
      <p:sp>
        <p:nvSpPr>
          <p:cNvPr id="4" name="Номер слайда 3"/>
          <p:cNvSpPr>
            <a:spLocks noGrp="1"/>
          </p:cNvSpPr>
          <p:nvPr>
            <p:ph type="sldNum" sz="quarter" idx="5"/>
          </p:nvPr>
        </p:nvSpPr>
        <p:spPr/>
        <p:txBody>
          <a:bodyPr/>
          <a:lstStyle/>
          <a:p>
            <a:fld id="{32AB7FA3-EE3C-4D67-A98A-6A08FE7D0F4F}" type="slidenum">
              <a:rPr lang="ru-RU" smtClean="0"/>
              <a:t>105</a:t>
            </a:fld>
            <a:endParaRPr lang="ru-RU"/>
          </a:p>
        </p:txBody>
      </p:sp>
    </p:spTree>
    <p:extLst>
      <p:ext uri="{BB962C8B-B14F-4D97-AF65-F5344CB8AC3E}">
        <p14:creationId xmlns:p14="http://schemas.microsoft.com/office/powerpoint/2010/main" val="262999945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Немаловажным является возможность выравнивания контента внутри блоков. С помощью </a:t>
            </a:r>
            <a:r>
              <a:rPr lang="en-US" dirty="0"/>
              <a:t>CSS </a:t>
            </a:r>
            <a:r>
              <a:rPr lang="ru-RU" dirty="0"/>
              <a:t>можно выравнивать содержимое всех блоков или только текст как по горизонтали, так и по вертикали.</a:t>
            </a:r>
          </a:p>
        </p:txBody>
      </p:sp>
      <p:sp>
        <p:nvSpPr>
          <p:cNvPr id="4" name="Номер слайда 3"/>
          <p:cNvSpPr>
            <a:spLocks noGrp="1"/>
          </p:cNvSpPr>
          <p:nvPr>
            <p:ph type="sldNum" sz="quarter" idx="5"/>
          </p:nvPr>
        </p:nvSpPr>
        <p:spPr/>
        <p:txBody>
          <a:bodyPr/>
          <a:lstStyle/>
          <a:p>
            <a:fld id="{32AB7FA3-EE3C-4D67-A98A-6A08FE7D0F4F}" type="slidenum">
              <a:rPr lang="ru-RU" smtClean="0"/>
              <a:t>106</a:t>
            </a:fld>
            <a:endParaRPr lang="ru-RU"/>
          </a:p>
        </p:txBody>
      </p:sp>
    </p:spTree>
    <p:extLst>
      <p:ext uri="{BB962C8B-B14F-4D97-AF65-F5344CB8AC3E}">
        <p14:creationId xmlns:p14="http://schemas.microsoft.com/office/powerpoint/2010/main" val="291423698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Запишем рассмотренные параметры:</a:t>
            </a:r>
          </a:p>
          <a:p>
            <a:r>
              <a:rPr lang="en-US" dirty="0"/>
              <a:t>text-align </a:t>
            </a:r>
            <a:r>
              <a:rPr lang="ru-RU" dirty="0"/>
              <a:t>– для выравнивания текста</a:t>
            </a:r>
            <a:r>
              <a:rPr lang="en-US" dirty="0"/>
              <a:t> </a:t>
            </a:r>
            <a:r>
              <a:rPr lang="ru-RU" dirty="0"/>
              <a:t>по горизонтали внутри блоков </a:t>
            </a:r>
            <a:r>
              <a:rPr lang="en-US" dirty="0"/>
              <a:t>(center, end, justify, start, left, right)</a:t>
            </a:r>
            <a:r>
              <a:rPr lang="ru-RU" dirty="0"/>
              <a:t>;</a:t>
            </a:r>
            <a:endParaRPr lang="en-US" dirty="0"/>
          </a:p>
          <a:p>
            <a:r>
              <a:rPr lang="en-US" dirty="0"/>
              <a:t>margin: auto </a:t>
            </a:r>
            <a:r>
              <a:rPr lang="ru-RU" dirty="0"/>
              <a:t>выравнивает по центру блок, если задана </a:t>
            </a:r>
            <a:r>
              <a:rPr lang="en-US" dirty="0"/>
              <a:t>width&lt;100%</a:t>
            </a:r>
            <a:r>
              <a:rPr lang="ru-RU" dirty="0"/>
              <a:t>;</a:t>
            </a:r>
            <a:endParaRPr lang="en-US" dirty="0"/>
          </a:p>
          <a:p>
            <a:r>
              <a:rPr lang="en-US" dirty="0"/>
              <a:t>align-content – </a:t>
            </a:r>
            <a:r>
              <a:rPr lang="ru-RU" dirty="0"/>
              <a:t>вертикальное выравнивание содержимого блока </a:t>
            </a:r>
            <a:r>
              <a:rPr lang="en-US" dirty="0"/>
              <a:t>(baseline, center, end), </a:t>
            </a:r>
            <a:r>
              <a:rPr lang="ru-RU" dirty="0"/>
              <a:t>например текста </a:t>
            </a:r>
            <a:r>
              <a:rPr lang="en-US" dirty="0"/>
              <a:t>&lt;div&gt;&lt;p&gt;</a:t>
            </a:r>
            <a:r>
              <a:rPr lang="ru-RU" dirty="0"/>
              <a:t>текст</a:t>
            </a:r>
            <a:r>
              <a:rPr lang="en-US" dirty="0"/>
              <a:t>&lt;/p&gt;&lt;/div&gt;</a:t>
            </a:r>
            <a:r>
              <a:rPr lang="ru-RU" dirty="0"/>
              <a:t>;</a:t>
            </a:r>
            <a:endParaRPr lang="en-US" dirty="0"/>
          </a:p>
          <a:p>
            <a:r>
              <a:rPr lang="en-US" dirty="0"/>
              <a:t>align-items – </a:t>
            </a:r>
            <a:r>
              <a:rPr lang="ru-RU" dirty="0"/>
              <a:t>вертикальное выравнивание блоков внутри блока (</a:t>
            </a:r>
            <a:r>
              <a:rPr lang="en-US" dirty="0"/>
              <a:t>stretch –</a:t>
            </a:r>
            <a:r>
              <a:rPr lang="ru-RU" dirty="0"/>
              <a:t>занять все пустое пространство</a:t>
            </a:r>
            <a:r>
              <a:rPr lang="en-US" dirty="0"/>
              <a:t> </a:t>
            </a:r>
            <a:r>
              <a:rPr lang="ru-RU" dirty="0"/>
              <a:t>в </a:t>
            </a:r>
            <a:r>
              <a:rPr lang="en-US" dirty="0"/>
              <a:t>flex</a:t>
            </a:r>
            <a:r>
              <a:rPr lang="ru-RU" dirty="0"/>
              <a:t>,</a:t>
            </a:r>
            <a:r>
              <a:rPr lang="en-US" dirty="0"/>
              <a:t> center, start, end)</a:t>
            </a:r>
            <a:r>
              <a:rPr lang="ru-RU"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justify-content – </a:t>
            </a:r>
            <a:r>
              <a:rPr lang="ru-RU" dirty="0"/>
              <a:t>выравнивание блоков вдоль главной оси (горизонтальной по умолчанию).</a:t>
            </a:r>
          </a:p>
          <a:p>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107</a:t>
            </a:fld>
            <a:endParaRPr lang="ru-RU"/>
          </a:p>
        </p:txBody>
      </p:sp>
    </p:spTree>
    <p:extLst>
      <p:ext uri="{BB962C8B-B14F-4D97-AF65-F5344CB8AC3E}">
        <p14:creationId xmlns:p14="http://schemas.microsoft.com/office/powerpoint/2010/main" val="97224682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понимания вида выравнивания </a:t>
            </a:r>
            <a:r>
              <a:rPr lang="en-US" dirty="0"/>
              <a:t>stretch </a:t>
            </a:r>
            <a:r>
              <a:rPr lang="ru-RU" dirty="0"/>
              <a:t>предназначен данный слайд. Блоки с таким выравниванием занимают все свободное пространство, даже если контента в них меньше по высоте, чем это пространство.</a:t>
            </a:r>
            <a:r>
              <a:rPr lang="en-US" dirty="0"/>
              <a:t> </a:t>
            </a:r>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108</a:t>
            </a:fld>
            <a:endParaRPr lang="ru-RU"/>
          </a:p>
        </p:txBody>
      </p:sp>
    </p:spTree>
    <p:extLst>
      <p:ext uri="{BB962C8B-B14F-4D97-AF65-F5344CB8AC3E}">
        <p14:creationId xmlns:p14="http://schemas.microsoft.com/office/powerpoint/2010/main" val="87733847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Зафиксируем основные параметры, описанные выше:</a:t>
            </a:r>
          </a:p>
          <a:p>
            <a:r>
              <a:rPr lang="en-US" dirty="0"/>
              <a:t>display </a:t>
            </a:r>
            <a:r>
              <a:rPr lang="ru-RU" dirty="0"/>
              <a:t>– меняет тип элемента (</a:t>
            </a:r>
            <a:r>
              <a:rPr lang="en-US" dirty="0"/>
              <a:t>block – </a:t>
            </a:r>
            <a:r>
              <a:rPr lang="ru-RU" dirty="0"/>
              <a:t>блочный, можно применять отступы и легче задавать положение на странице), </a:t>
            </a:r>
            <a:r>
              <a:rPr lang="en-US" dirty="0"/>
              <a:t>inline – </a:t>
            </a:r>
            <a:r>
              <a:rPr lang="ru-RU" dirty="0"/>
              <a:t>строковый (как текст), </a:t>
            </a:r>
            <a:r>
              <a:rPr lang="en-US" dirty="0"/>
              <a:t>block-inline – </a:t>
            </a:r>
            <a:r>
              <a:rPr lang="ru-RU" dirty="0"/>
              <a:t>комбинация первых, </a:t>
            </a:r>
            <a:r>
              <a:rPr lang="en-US" dirty="0"/>
              <a:t>none –</a:t>
            </a:r>
            <a:r>
              <a:rPr lang="ru-RU" dirty="0"/>
              <a:t> не отображать;</a:t>
            </a:r>
          </a:p>
          <a:p>
            <a:r>
              <a:rPr lang="en-US" dirty="0"/>
              <a:t>margin – </a:t>
            </a:r>
            <a:r>
              <a:rPr lang="ru-RU" dirty="0"/>
              <a:t>расстояние от границы блока до внешних элементов в %;</a:t>
            </a:r>
            <a:endParaRPr lang="en-US" dirty="0"/>
          </a:p>
          <a:p>
            <a:r>
              <a:rPr lang="en-US" dirty="0"/>
              <a:t>padding – </a:t>
            </a:r>
            <a:r>
              <a:rPr lang="ru-RU" dirty="0"/>
              <a:t>расстояние от контента до границы блока в %;</a:t>
            </a:r>
            <a:endParaRPr lang="en-US" dirty="0"/>
          </a:p>
          <a:p>
            <a:r>
              <a:rPr lang="en-US" dirty="0"/>
              <a:t>border – </a:t>
            </a:r>
            <a:r>
              <a:rPr lang="ru-RU" dirty="0"/>
              <a:t>параметры границы блока</a:t>
            </a:r>
            <a:r>
              <a:rPr lang="en-US" dirty="0"/>
              <a:t> (</a:t>
            </a:r>
            <a:r>
              <a:rPr lang="ru-RU" dirty="0"/>
              <a:t>цвет и тип</a:t>
            </a:r>
            <a:r>
              <a:rPr lang="en-US" dirty="0"/>
              <a:t> – black solid)</a:t>
            </a:r>
            <a:r>
              <a:rPr lang="ru-RU" dirty="0"/>
              <a:t>;</a:t>
            </a:r>
          </a:p>
          <a:p>
            <a:r>
              <a:rPr lang="en-US" dirty="0"/>
              <a:t>background-color – </a:t>
            </a:r>
            <a:r>
              <a:rPr lang="ru-RU" dirty="0"/>
              <a:t>цвет фона блока;</a:t>
            </a:r>
          </a:p>
          <a:p>
            <a:r>
              <a:rPr lang="en-US" dirty="0"/>
              <a:t>width</a:t>
            </a:r>
            <a:r>
              <a:rPr lang="ru-RU" dirty="0"/>
              <a:t>, </a:t>
            </a:r>
            <a:r>
              <a:rPr lang="en-US" dirty="0"/>
              <a:t>height – </a:t>
            </a:r>
            <a:r>
              <a:rPr lang="ru-RU" dirty="0"/>
              <a:t>ширина и высота;</a:t>
            </a:r>
          </a:p>
          <a:p>
            <a:endParaRPr lang="en-US" dirty="0"/>
          </a:p>
        </p:txBody>
      </p:sp>
      <p:sp>
        <p:nvSpPr>
          <p:cNvPr id="4" name="Номер слайда 3"/>
          <p:cNvSpPr>
            <a:spLocks noGrp="1"/>
          </p:cNvSpPr>
          <p:nvPr>
            <p:ph type="sldNum" sz="quarter" idx="5"/>
          </p:nvPr>
        </p:nvSpPr>
        <p:spPr/>
        <p:txBody>
          <a:bodyPr/>
          <a:lstStyle/>
          <a:p>
            <a:fld id="{32AB7FA3-EE3C-4D67-A98A-6A08FE7D0F4F}" type="slidenum">
              <a:rPr lang="ru-RU" smtClean="0"/>
              <a:t>109</a:t>
            </a:fld>
            <a:endParaRPr lang="ru-RU"/>
          </a:p>
        </p:txBody>
      </p:sp>
    </p:spTree>
    <p:extLst>
      <p:ext uri="{BB962C8B-B14F-4D97-AF65-F5344CB8AC3E}">
        <p14:creationId xmlns:p14="http://schemas.microsoft.com/office/powerpoint/2010/main" val="267833699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Тип </a:t>
            </a:r>
            <a:r>
              <a:rPr lang="en-US" dirty="0"/>
              <a:t>display inline-block </a:t>
            </a:r>
            <a:r>
              <a:rPr lang="ru-RU" dirty="0"/>
              <a:t>иллюстрируется на данном слайде. Окно показано здесь рамкой, при разном его размере страница принимает разный вид – содержимое блоков не меняется, но сами блоки переносятся, что удобно при создании страниц для различных соотношений сторон дисплеев.</a:t>
            </a:r>
            <a:endParaRPr lang="en-US" dirty="0"/>
          </a:p>
        </p:txBody>
      </p:sp>
      <p:sp>
        <p:nvSpPr>
          <p:cNvPr id="4" name="Номер слайда 3"/>
          <p:cNvSpPr>
            <a:spLocks noGrp="1"/>
          </p:cNvSpPr>
          <p:nvPr>
            <p:ph type="sldNum" sz="quarter" idx="5"/>
          </p:nvPr>
        </p:nvSpPr>
        <p:spPr/>
        <p:txBody>
          <a:bodyPr/>
          <a:lstStyle/>
          <a:p>
            <a:fld id="{32AB7FA3-EE3C-4D67-A98A-6A08FE7D0F4F}" type="slidenum">
              <a:rPr lang="ru-RU" smtClean="0"/>
              <a:t>110</a:t>
            </a:fld>
            <a:endParaRPr lang="ru-RU"/>
          </a:p>
        </p:txBody>
      </p:sp>
    </p:spTree>
    <p:extLst>
      <p:ext uri="{BB962C8B-B14F-4D97-AF65-F5344CB8AC3E}">
        <p14:creationId xmlns:p14="http://schemas.microsoft.com/office/powerpoint/2010/main" val="222204514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Важным в оформлении страниц является возможность добавления блокам фона. Для этого могут быть полезны два свойства </a:t>
            </a:r>
            <a:r>
              <a:rPr lang="en-US" dirty="0"/>
              <a:t>CSS. </a:t>
            </a:r>
            <a:r>
              <a:rPr lang="ru-RU" dirty="0"/>
              <a:t>Фоновое изображение блока (здесь сверху файл1, затем файл2, под ними градиент от цвета1 к цвету2):</a:t>
            </a:r>
          </a:p>
          <a:p>
            <a:pPr marL="0" indent="0">
              <a:buNone/>
            </a:pPr>
            <a:r>
              <a:rPr lang="en-US" dirty="0"/>
              <a:t>background-image: </a:t>
            </a:r>
            <a:r>
              <a:rPr lang="en-US" dirty="0" err="1"/>
              <a:t>url</a:t>
            </a:r>
            <a:r>
              <a:rPr lang="en-US" dirty="0"/>
              <a:t>("</a:t>
            </a:r>
            <a:r>
              <a:rPr lang="ru-RU" dirty="0"/>
              <a:t>файл</a:t>
            </a:r>
            <a:r>
              <a:rPr lang="en-US" dirty="0"/>
              <a:t>1</a:t>
            </a:r>
            <a:r>
              <a:rPr lang="ru-RU" dirty="0"/>
              <a:t>.</a:t>
            </a:r>
            <a:r>
              <a:rPr lang="en-US" dirty="0"/>
              <a:t>jpg")</a:t>
            </a:r>
            <a:r>
              <a:rPr lang="ru-RU" dirty="0"/>
              <a:t>,</a:t>
            </a:r>
          </a:p>
          <a:p>
            <a:pPr marL="0" indent="0">
              <a:buNone/>
            </a:pPr>
            <a:r>
              <a:rPr lang="ru-RU" dirty="0"/>
              <a:t>			  </a:t>
            </a:r>
            <a:r>
              <a:rPr lang="en-US" dirty="0" err="1"/>
              <a:t>url</a:t>
            </a:r>
            <a:r>
              <a:rPr lang="en-US" dirty="0"/>
              <a:t>("</a:t>
            </a:r>
            <a:r>
              <a:rPr lang="ru-RU" dirty="0"/>
              <a:t>файл2.</a:t>
            </a:r>
            <a:r>
              <a:rPr lang="en-US" dirty="0"/>
              <a:t>jpg"),</a:t>
            </a:r>
          </a:p>
          <a:p>
            <a:pPr marL="0" indent="0">
              <a:buNone/>
            </a:pPr>
            <a:r>
              <a:rPr lang="en-US" dirty="0"/>
              <a:t>			  linear-gradient(</a:t>
            </a:r>
            <a:r>
              <a:rPr lang="ru-RU" dirty="0"/>
              <a:t>цвет1</a:t>
            </a:r>
            <a:r>
              <a:rPr lang="en-US" dirty="0"/>
              <a:t>, </a:t>
            </a:r>
            <a:r>
              <a:rPr lang="ru-RU" dirty="0"/>
              <a:t>цвет2</a:t>
            </a:r>
            <a:r>
              <a:rPr lang="en-US" dirty="0"/>
              <a:t>);</a:t>
            </a:r>
          </a:p>
          <a:p>
            <a:r>
              <a:rPr lang="ru-RU" dirty="0"/>
              <a:t>Замостить фон: </a:t>
            </a:r>
            <a:r>
              <a:rPr lang="en-US" dirty="0"/>
              <a:t>background-repeat: </a:t>
            </a:r>
            <a:r>
              <a:rPr lang="ru-RU" dirty="0"/>
              <a:t>тип</a:t>
            </a:r>
            <a:r>
              <a:rPr lang="en-US" dirty="0"/>
              <a:t>. </a:t>
            </a:r>
            <a:r>
              <a:rPr lang="ru-RU" dirty="0"/>
              <a:t>Типы: </a:t>
            </a:r>
            <a:r>
              <a:rPr lang="en-US" dirty="0"/>
              <a:t>repeat-x (</a:t>
            </a:r>
            <a:r>
              <a:rPr lang="ru-RU" dirty="0"/>
              <a:t>повторить по оси </a:t>
            </a:r>
            <a:r>
              <a:rPr lang="en-US" dirty="0"/>
              <a:t>x), repeat-y (</a:t>
            </a:r>
            <a:r>
              <a:rPr lang="ru-RU" dirty="0"/>
              <a:t>по </a:t>
            </a:r>
            <a:r>
              <a:rPr lang="en-US" dirty="0"/>
              <a:t>y), repeat(</a:t>
            </a:r>
            <a:r>
              <a:rPr lang="en-US" dirty="0" err="1"/>
              <a:t>x+y</a:t>
            </a:r>
            <a:r>
              <a:rPr lang="en-US" dirty="0"/>
              <a:t>), space (</a:t>
            </a:r>
            <a:r>
              <a:rPr lang="en-US" dirty="0" err="1"/>
              <a:t>x+y</a:t>
            </a:r>
            <a:r>
              <a:rPr lang="en-US" dirty="0"/>
              <a:t> </a:t>
            </a:r>
            <a:r>
              <a:rPr lang="ru-RU" dirty="0"/>
              <a:t>с отступами</a:t>
            </a:r>
            <a:r>
              <a:rPr lang="en-US" dirty="0"/>
              <a:t>)</a:t>
            </a:r>
            <a:r>
              <a:rPr lang="ru-RU" dirty="0"/>
              <a:t>, </a:t>
            </a:r>
            <a:r>
              <a:rPr lang="en-US" dirty="0"/>
              <a:t>no-repeat (</a:t>
            </a:r>
            <a:r>
              <a:rPr lang="ru-RU" dirty="0"/>
              <a:t>без повтора</a:t>
            </a:r>
            <a:r>
              <a:rPr lang="en-US" dirty="0"/>
              <a:t>). </a:t>
            </a:r>
            <a:r>
              <a:rPr lang="ru-RU" dirty="0"/>
              <a:t>Здесь приведены не все типы, но лишь основные. По умолчанию выставляется </a:t>
            </a:r>
            <a:r>
              <a:rPr lang="en-US" dirty="0"/>
              <a:t>repeat, </a:t>
            </a:r>
            <a:r>
              <a:rPr lang="ru-RU" dirty="0"/>
              <a:t>если указано фоновое изображение </a:t>
            </a:r>
            <a:r>
              <a:rPr lang="en-US" dirty="0"/>
              <a:t>background-image, </a:t>
            </a:r>
            <a:r>
              <a:rPr lang="ru-RU" dirty="0"/>
              <a:t>но</a:t>
            </a:r>
            <a:r>
              <a:rPr lang="en-US" dirty="0"/>
              <a:t> background-repeat </a:t>
            </a:r>
            <a:r>
              <a:rPr lang="ru-RU" dirty="0"/>
              <a:t>не используется. Тип </a:t>
            </a:r>
            <a:r>
              <a:rPr lang="en-US" dirty="0"/>
              <a:t>space</a:t>
            </a:r>
            <a:r>
              <a:rPr lang="ru-RU" dirty="0"/>
              <a:t> удобной использовать для формирования узора на фоне. Чтобы под изображением был виден задний фон, как здесь градиент, нужно использовать изображение, поддерживающее прозрачность, </a:t>
            </a:r>
            <a:r>
              <a:rPr lang="en-US" dirty="0" err="1"/>
              <a:t>avif</a:t>
            </a:r>
            <a:r>
              <a:rPr lang="en-US" dirty="0"/>
              <a:t>, </a:t>
            </a:r>
            <a:r>
              <a:rPr lang="en-US" dirty="0" err="1"/>
              <a:t>png</a:t>
            </a:r>
            <a:r>
              <a:rPr lang="en-US" dirty="0"/>
              <a:t>, </a:t>
            </a:r>
            <a:r>
              <a:rPr lang="en-US" dirty="0" err="1"/>
              <a:t>webp</a:t>
            </a:r>
            <a:r>
              <a:rPr lang="ru-RU" dirty="0"/>
              <a:t>, </a:t>
            </a:r>
            <a:r>
              <a:rPr lang="en-US" dirty="0" err="1"/>
              <a:t>svg</a:t>
            </a:r>
            <a:r>
              <a:rPr lang="en-US" dirty="0"/>
              <a:t>, </a:t>
            </a:r>
            <a:r>
              <a:rPr lang="ru-RU" dirty="0"/>
              <a:t>но не </a:t>
            </a:r>
            <a:r>
              <a:rPr lang="en-US" dirty="0"/>
              <a:t>jpg.</a:t>
            </a:r>
          </a:p>
          <a:p>
            <a:endParaRPr lang="en-US" dirty="0"/>
          </a:p>
        </p:txBody>
      </p:sp>
      <p:sp>
        <p:nvSpPr>
          <p:cNvPr id="4" name="Номер слайда 3"/>
          <p:cNvSpPr>
            <a:spLocks noGrp="1"/>
          </p:cNvSpPr>
          <p:nvPr>
            <p:ph type="sldNum" sz="quarter" idx="5"/>
          </p:nvPr>
        </p:nvSpPr>
        <p:spPr/>
        <p:txBody>
          <a:bodyPr/>
          <a:lstStyle/>
          <a:p>
            <a:fld id="{32AB7FA3-EE3C-4D67-A98A-6A08FE7D0F4F}" type="slidenum">
              <a:rPr lang="ru-RU" smtClean="0"/>
              <a:t>111</a:t>
            </a:fld>
            <a:endParaRPr lang="ru-RU"/>
          </a:p>
        </p:txBody>
      </p:sp>
    </p:spTree>
    <p:extLst>
      <p:ext uri="{BB962C8B-B14F-4D97-AF65-F5344CB8AC3E}">
        <p14:creationId xmlns:p14="http://schemas.microsoft.com/office/powerpoint/2010/main" val="321460654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Здесь приведен пример использования описанных свойств на блоке </a:t>
            </a:r>
            <a:r>
              <a:rPr lang="en-US" dirty="0"/>
              <a:t>article. </a:t>
            </a:r>
            <a:r>
              <a:rPr lang="ru-RU" dirty="0"/>
              <a:t>Цвет градиента указывается в виде </a:t>
            </a:r>
            <a:r>
              <a:rPr lang="en-US" dirty="0" err="1"/>
              <a:t>rgba</a:t>
            </a:r>
            <a:r>
              <a:rPr lang="en-US" dirty="0"/>
              <a:t> (</a:t>
            </a:r>
            <a:r>
              <a:rPr lang="ru-RU" dirty="0"/>
              <a:t>красный, зеленый, синий, альфа-канал или прозрачность</a:t>
            </a:r>
            <a:r>
              <a:rPr lang="en-US" dirty="0"/>
              <a:t>)</a:t>
            </a:r>
            <a:r>
              <a:rPr lang="ru-RU" dirty="0"/>
              <a:t>, причем цвета могут принимать значения от 0 до 255, а альфа-канал – от 0 до 1 с дробной частью через точку.</a:t>
            </a:r>
            <a:endParaRPr lang="en-US" dirty="0"/>
          </a:p>
        </p:txBody>
      </p:sp>
      <p:sp>
        <p:nvSpPr>
          <p:cNvPr id="4" name="Номер слайда 3"/>
          <p:cNvSpPr>
            <a:spLocks noGrp="1"/>
          </p:cNvSpPr>
          <p:nvPr>
            <p:ph type="sldNum" sz="quarter" idx="5"/>
          </p:nvPr>
        </p:nvSpPr>
        <p:spPr/>
        <p:txBody>
          <a:bodyPr/>
          <a:lstStyle/>
          <a:p>
            <a:fld id="{32AB7FA3-EE3C-4D67-A98A-6A08FE7D0F4F}" type="slidenum">
              <a:rPr lang="ru-RU" smtClean="0"/>
              <a:t>112</a:t>
            </a:fld>
            <a:endParaRPr lang="ru-RU"/>
          </a:p>
        </p:txBody>
      </p:sp>
    </p:spTree>
    <p:extLst>
      <p:ext uri="{BB962C8B-B14F-4D97-AF65-F5344CB8AC3E}">
        <p14:creationId xmlns:p14="http://schemas.microsoft.com/office/powerpoint/2010/main" val="27922143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Типов повторения </a:t>
            </a:r>
            <a:r>
              <a:rPr lang="en-US" dirty="0"/>
              <a:t>background-repeat </a:t>
            </a:r>
            <a:r>
              <a:rPr lang="ru-RU" dirty="0"/>
              <a:t>больше, чем было рассмотрено выше. Здесь представлены основные из них, но также не все.</a:t>
            </a:r>
            <a:endParaRPr lang="en-US" dirty="0"/>
          </a:p>
        </p:txBody>
      </p:sp>
      <p:sp>
        <p:nvSpPr>
          <p:cNvPr id="4" name="Номер слайда 3"/>
          <p:cNvSpPr>
            <a:spLocks noGrp="1"/>
          </p:cNvSpPr>
          <p:nvPr>
            <p:ph type="sldNum" sz="quarter" idx="5"/>
          </p:nvPr>
        </p:nvSpPr>
        <p:spPr/>
        <p:txBody>
          <a:bodyPr/>
          <a:lstStyle/>
          <a:p>
            <a:fld id="{32AB7FA3-EE3C-4D67-A98A-6A08FE7D0F4F}" type="slidenum">
              <a:rPr lang="ru-RU" smtClean="0"/>
              <a:t>113</a:t>
            </a:fld>
            <a:endParaRPr lang="ru-RU"/>
          </a:p>
        </p:txBody>
      </p:sp>
    </p:spTree>
    <p:extLst>
      <p:ext uri="{BB962C8B-B14F-4D97-AF65-F5344CB8AC3E}">
        <p14:creationId xmlns:p14="http://schemas.microsoft.com/office/powerpoint/2010/main" val="159294713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современных веб-страницах заголовок или верхнее меню остаются при прокрутке на месте. Для визуального же отделения строки заголовка от основного содержимого страницы используется тень под блоком.</a:t>
            </a:r>
            <a:endParaRPr lang="en-US" dirty="0"/>
          </a:p>
        </p:txBody>
      </p:sp>
      <p:sp>
        <p:nvSpPr>
          <p:cNvPr id="4" name="Номер слайда 3"/>
          <p:cNvSpPr>
            <a:spLocks noGrp="1"/>
          </p:cNvSpPr>
          <p:nvPr>
            <p:ph type="sldNum" sz="quarter" idx="5"/>
          </p:nvPr>
        </p:nvSpPr>
        <p:spPr/>
        <p:txBody>
          <a:bodyPr/>
          <a:lstStyle/>
          <a:p>
            <a:fld id="{32AB7FA3-EE3C-4D67-A98A-6A08FE7D0F4F}" type="slidenum">
              <a:rPr lang="ru-RU" smtClean="0"/>
              <a:t>114</a:t>
            </a:fld>
            <a:endParaRPr lang="ru-RU"/>
          </a:p>
        </p:txBody>
      </p:sp>
    </p:spTree>
    <p:extLst>
      <p:ext uri="{BB962C8B-B14F-4D97-AF65-F5344CB8AC3E}">
        <p14:creationId xmlns:p14="http://schemas.microsoft.com/office/powerpoint/2010/main" val="336959417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Опишем основные настройки, которые требуются </a:t>
            </a:r>
            <a:r>
              <a:rPr lang="en-US" dirty="0"/>
              <a:t>header </a:t>
            </a:r>
            <a:r>
              <a:rPr lang="ru-RU" dirty="0"/>
              <a:t>для того, чтобы превратить его в подобное меню, сохраняющее положение при прокрутке. Для фиксации блока при прокрутке </a:t>
            </a:r>
            <a:r>
              <a:rPr lang="ru-RU" dirty="0" err="1"/>
              <a:t>position</a:t>
            </a:r>
            <a:r>
              <a:rPr lang="ru-RU" dirty="0"/>
              <a:t>: </a:t>
            </a:r>
            <a:r>
              <a:rPr lang="ru-RU" dirty="0" err="1"/>
              <a:t>fixed</a:t>
            </a:r>
            <a:r>
              <a:rPr lang="ru-RU" dirty="0"/>
              <a:t>. Чтобы зафиксировать блок </a:t>
            </a:r>
            <a:r>
              <a:rPr lang="ru-RU" dirty="0" err="1"/>
              <a:t>header</a:t>
            </a:r>
            <a:r>
              <a:rPr lang="ru-RU" dirty="0"/>
              <a:t> в верхней части страницы, нужно убрать отступы по краям </a:t>
            </a:r>
            <a:r>
              <a:rPr lang="ru-RU" dirty="0" err="1"/>
              <a:t>top</a:t>
            </a:r>
            <a:r>
              <a:rPr lang="ru-RU" dirty="0"/>
              <a:t>: 0; </a:t>
            </a:r>
            <a:r>
              <a:rPr lang="ru-RU" dirty="0" err="1"/>
              <a:t>right</a:t>
            </a:r>
            <a:r>
              <a:rPr lang="ru-RU" dirty="0"/>
              <a:t>: 0; </a:t>
            </a:r>
            <a:r>
              <a:rPr lang="ru-RU" dirty="0" err="1"/>
              <a:t>left</a:t>
            </a:r>
            <a:r>
              <a:rPr lang="ru-RU" dirty="0"/>
              <a:t>: 0. Рекомендуется повышать приоритет строки меню z-</a:t>
            </a:r>
            <a:r>
              <a:rPr lang="ru-RU" dirty="0" err="1"/>
              <a:t>index</a:t>
            </a:r>
            <a:r>
              <a:rPr lang="ru-RU" dirty="0"/>
              <a:t>: 1030, это значение стандартно для фиксированного меню, другие стандартные значения можете найти в онлайн документации сами. Для добавления тени </a:t>
            </a:r>
            <a:r>
              <a:rPr lang="ru-RU" dirty="0" err="1"/>
              <a:t>box-shadow</a:t>
            </a:r>
            <a:r>
              <a:rPr lang="ru-RU" dirty="0"/>
              <a:t>: 0px -10px </a:t>
            </a:r>
            <a:r>
              <a:rPr lang="ru-RU" dirty="0" err="1"/>
              <a:t>10px</a:t>
            </a:r>
            <a:r>
              <a:rPr lang="ru-RU" dirty="0"/>
              <a:t> </a:t>
            </a:r>
            <a:r>
              <a:rPr lang="ru-RU" dirty="0" err="1"/>
              <a:t>10px</a:t>
            </a:r>
            <a:r>
              <a:rPr lang="ru-RU" dirty="0"/>
              <a:t> #000; (параметр: сдвиг по горизонтали; по вертикали, положительный=вверх; размытие; размер тени; цвет). Такое меню должно быть по ширине окна, </a:t>
            </a:r>
            <a:r>
              <a:rPr lang="ru-RU" dirty="0" err="1"/>
              <a:t>width</a:t>
            </a:r>
            <a:r>
              <a:rPr lang="ru-RU" dirty="0"/>
              <a:t>: 100%.</a:t>
            </a:r>
          </a:p>
        </p:txBody>
      </p:sp>
      <p:sp>
        <p:nvSpPr>
          <p:cNvPr id="4" name="Номер слайда 3"/>
          <p:cNvSpPr>
            <a:spLocks noGrp="1"/>
          </p:cNvSpPr>
          <p:nvPr>
            <p:ph type="sldNum" sz="quarter" idx="5"/>
          </p:nvPr>
        </p:nvSpPr>
        <p:spPr/>
        <p:txBody>
          <a:bodyPr/>
          <a:lstStyle/>
          <a:p>
            <a:fld id="{32AB7FA3-EE3C-4D67-A98A-6A08FE7D0F4F}" type="slidenum">
              <a:rPr lang="ru-RU" smtClean="0"/>
              <a:t>115</a:t>
            </a:fld>
            <a:endParaRPr lang="ru-RU"/>
          </a:p>
        </p:txBody>
      </p:sp>
    </p:spTree>
    <p:extLst>
      <p:ext uri="{BB962C8B-B14F-4D97-AF65-F5344CB8AC3E}">
        <p14:creationId xmlns:p14="http://schemas.microsoft.com/office/powerpoint/2010/main" val="207094732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Если контент страницы задан в виде </a:t>
            </a:r>
            <a:r>
              <a:rPr lang="en-US" dirty="0"/>
              <a:t>inline-block </a:t>
            </a:r>
            <a:r>
              <a:rPr lang="ru-RU" dirty="0"/>
              <a:t>для адаптации к размеру окна, следует установить </a:t>
            </a:r>
            <a:r>
              <a:rPr lang="en-US" dirty="0"/>
              <a:t>body position: relative </a:t>
            </a:r>
            <a:r>
              <a:rPr lang="ru-RU" dirty="0"/>
              <a:t>для его авто масштабирования. Также следует выставить нулевые </a:t>
            </a:r>
            <a:r>
              <a:rPr lang="en-US" dirty="0"/>
              <a:t>margin, height 100vh (100% </a:t>
            </a:r>
            <a:r>
              <a:rPr lang="ru-RU" dirty="0"/>
              <a:t>высоты окна по вертикали). Чтобы </a:t>
            </a:r>
            <a:r>
              <a:rPr lang="en-US" dirty="0"/>
              <a:t>footer </a:t>
            </a:r>
            <a:r>
              <a:rPr lang="ru-RU" dirty="0"/>
              <a:t>всегда находился внизу страницы, ему нужно задать </a:t>
            </a:r>
            <a:r>
              <a:rPr lang="en-US" dirty="0"/>
              <a:t>position: absolute</a:t>
            </a:r>
            <a:r>
              <a:rPr lang="ru-RU" dirty="0"/>
              <a:t>, координаты </a:t>
            </a:r>
            <a:r>
              <a:rPr lang="en-US" dirty="0"/>
              <a:t>bottom: 0; left: 0 </a:t>
            </a:r>
            <a:r>
              <a:rPr lang="ru-RU" dirty="0"/>
              <a:t>и ширину 100%.</a:t>
            </a:r>
            <a:endParaRPr lang="en-US" dirty="0"/>
          </a:p>
        </p:txBody>
      </p:sp>
      <p:sp>
        <p:nvSpPr>
          <p:cNvPr id="4" name="Номер слайда 3"/>
          <p:cNvSpPr>
            <a:spLocks noGrp="1"/>
          </p:cNvSpPr>
          <p:nvPr>
            <p:ph type="sldNum" sz="quarter" idx="5"/>
          </p:nvPr>
        </p:nvSpPr>
        <p:spPr/>
        <p:txBody>
          <a:bodyPr/>
          <a:lstStyle/>
          <a:p>
            <a:fld id="{32AB7FA3-EE3C-4D67-A98A-6A08FE7D0F4F}" type="slidenum">
              <a:rPr lang="ru-RU" smtClean="0"/>
              <a:t>116</a:t>
            </a:fld>
            <a:endParaRPr lang="ru-RU"/>
          </a:p>
        </p:txBody>
      </p:sp>
    </p:spTree>
    <p:extLst>
      <p:ext uri="{BB962C8B-B14F-4D97-AF65-F5344CB8AC3E}">
        <p14:creationId xmlns:p14="http://schemas.microsoft.com/office/powerpoint/2010/main" val="224287561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Поскольку </a:t>
            </a:r>
            <a:r>
              <a:rPr lang="en-US" dirty="0"/>
              <a:t>fixed </a:t>
            </a:r>
            <a:r>
              <a:rPr lang="ru-RU" dirty="0"/>
              <a:t>располагается над контентом, чтобы исключить наложение рекомендуется добавить пустой </a:t>
            </a:r>
            <a:r>
              <a:rPr lang="en-US" dirty="0"/>
              <a:t>div </a:t>
            </a:r>
            <a:r>
              <a:rPr lang="ru-RU" dirty="0"/>
              <a:t>после </a:t>
            </a:r>
            <a:r>
              <a:rPr lang="en-US" dirty="0"/>
              <a:t>fixed </a:t>
            </a:r>
            <a:r>
              <a:rPr lang="ru-RU" dirty="0"/>
              <a:t>с той же высотой</a:t>
            </a:r>
            <a:r>
              <a:rPr lang="en-US" dirty="0"/>
              <a:t>. </a:t>
            </a:r>
            <a:r>
              <a:rPr lang="ru-RU" dirty="0"/>
              <a:t>Также следует поступать с </a:t>
            </a:r>
            <a:r>
              <a:rPr lang="en-US" dirty="0"/>
              <a:t>absolute footer.</a:t>
            </a:r>
          </a:p>
        </p:txBody>
      </p:sp>
      <p:sp>
        <p:nvSpPr>
          <p:cNvPr id="4" name="Номер слайда 3"/>
          <p:cNvSpPr>
            <a:spLocks noGrp="1"/>
          </p:cNvSpPr>
          <p:nvPr>
            <p:ph type="sldNum" sz="quarter" idx="5"/>
          </p:nvPr>
        </p:nvSpPr>
        <p:spPr/>
        <p:txBody>
          <a:bodyPr/>
          <a:lstStyle/>
          <a:p>
            <a:fld id="{32AB7FA3-EE3C-4D67-A98A-6A08FE7D0F4F}" type="slidenum">
              <a:rPr lang="ru-RU" smtClean="0"/>
              <a:t>117</a:t>
            </a:fld>
            <a:endParaRPr lang="ru-RU"/>
          </a:p>
        </p:txBody>
      </p:sp>
    </p:spTree>
    <p:extLst>
      <p:ext uri="{BB962C8B-B14F-4D97-AF65-F5344CB8AC3E}">
        <p14:creationId xmlns:p14="http://schemas.microsoft.com/office/powerpoint/2010/main" val="221594304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Из базовых настроек страниц посредством </a:t>
            </a:r>
            <a:r>
              <a:rPr lang="en-US" dirty="0"/>
              <a:t>CSS</a:t>
            </a:r>
            <a:r>
              <a:rPr lang="ru-RU" dirty="0"/>
              <a:t> остается, пожалуй, только настройка шрифта через </a:t>
            </a:r>
            <a:r>
              <a:rPr lang="en-US" dirty="0"/>
              <a:t>font-size </a:t>
            </a:r>
            <a:r>
              <a:rPr lang="ru-RU" dirty="0"/>
              <a:t>и </a:t>
            </a:r>
            <a:r>
              <a:rPr lang="en-US" dirty="0"/>
              <a:t>font-family. </a:t>
            </a:r>
            <a:r>
              <a:rPr lang="ru-RU" dirty="0"/>
              <a:t>Первый позволяет указать размер текста в </a:t>
            </a:r>
            <a:r>
              <a:rPr lang="en-US" dirty="0"/>
              <a:t>px, </a:t>
            </a:r>
            <a:r>
              <a:rPr lang="ru-RU" dirty="0"/>
              <a:t>второй – сам шрифт, причем шрифт может быть как стандартным, так и загружаться по ссылке с помощью тега </a:t>
            </a:r>
            <a:r>
              <a:rPr lang="en-US" dirty="0"/>
              <a:t>link </a:t>
            </a:r>
            <a:r>
              <a:rPr lang="ru-RU" dirty="0"/>
              <a:t>аналогично файлам </a:t>
            </a:r>
            <a:r>
              <a:rPr lang="en-US" dirty="0"/>
              <a:t>CSS </a:t>
            </a:r>
            <a:r>
              <a:rPr lang="ru-RU" dirty="0"/>
              <a:t>в </a:t>
            </a:r>
            <a:r>
              <a:rPr lang="en-US" dirty="0"/>
              <a:t>head.</a:t>
            </a:r>
            <a:endParaRPr lang="ru-RU" dirty="0"/>
          </a:p>
        </p:txBody>
      </p:sp>
      <p:sp>
        <p:nvSpPr>
          <p:cNvPr id="4" name="Номер слайда 3"/>
          <p:cNvSpPr>
            <a:spLocks noGrp="1"/>
          </p:cNvSpPr>
          <p:nvPr>
            <p:ph type="sldNum" sz="quarter" idx="5"/>
          </p:nvPr>
        </p:nvSpPr>
        <p:spPr/>
        <p:txBody>
          <a:bodyPr/>
          <a:lstStyle/>
          <a:p>
            <a:fld id="{32AB7FA3-EE3C-4D67-A98A-6A08FE7D0F4F}" type="slidenum">
              <a:rPr lang="ru-RU" smtClean="0"/>
              <a:t>118</a:t>
            </a:fld>
            <a:endParaRPr lang="ru-RU"/>
          </a:p>
        </p:txBody>
      </p:sp>
    </p:spTree>
    <p:extLst>
      <p:ext uri="{BB962C8B-B14F-4D97-AF65-F5344CB8AC3E}">
        <p14:creationId xmlns:p14="http://schemas.microsoft.com/office/powerpoint/2010/main" val="326381145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font-size</a:t>
            </a:r>
            <a:r>
              <a:rPr lang="ru-RU" dirty="0"/>
              <a:t> – размер шрифта;</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font-weight – </a:t>
            </a:r>
            <a:r>
              <a:rPr lang="ru-RU" dirty="0"/>
              <a:t>толщина букв</a:t>
            </a:r>
            <a:r>
              <a:rPr lang="en-US" dirty="0"/>
              <a:t>, font-style = italic, bold, …;</a:t>
            </a:r>
            <a:endParaRPr lang="ru-RU" dirty="0"/>
          </a:p>
          <a:p>
            <a:r>
              <a:rPr lang="en-US" dirty="0"/>
              <a:t>font – </a:t>
            </a:r>
            <a:r>
              <a:rPr lang="ru-RU" dirty="0"/>
              <a:t>тип шрифта, может загружаться по ссылке через </a:t>
            </a:r>
            <a:r>
              <a:rPr lang="en-US" dirty="0"/>
              <a:t>link </a:t>
            </a:r>
            <a:r>
              <a:rPr lang="ru-RU" dirty="0"/>
              <a:t>в </a:t>
            </a:r>
            <a:r>
              <a:rPr lang="en-US" dirty="0"/>
              <a:t>head</a:t>
            </a:r>
            <a:r>
              <a:rPr lang="ru-RU" dirty="0"/>
              <a:t>;</a:t>
            </a:r>
          </a:p>
          <a:p>
            <a:r>
              <a:rPr lang="en-US" dirty="0"/>
              <a:t>font-family</a:t>
            </a:r>
            <a:r>
              <a:rPr lang="ru-RU" dirty="0"/>
              <a:t> – семейство шрифтов (несколько через запятую, выбирается первый из поддерживаемых).</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Стандартные шрифты: </a:t>
            </a:r>
            <a:r>
              <a:rPr lang="en-US" dirty="0"/>
              <a:t>serif</a:t>
            </a:r>
            <a:r>
              <a:rPr lang="ru-RU" dirty="0"/>
              <a:t>, </a:t>
            </a:r>
            <a:r>
              <a:rPr lang="en-US" dirty="0"/>
              <a:t>sans-serif, monospace,</a:t>
            </a:r>
            <a:r>
              <a:rPr lang="ru-RU" dirty="0"/>
              <a:t> </a:t>
            </a:r>
            <a:r>
              <a:rPr lang="en-US" dirty="0"/>
              <a:t>cursive, fantasy</a:t>
            </a:r>
            <a:r>
              <a:rPr lang="ru-RU" dirty="0"/>
              <a:t>. Пример – </a:t>
            </a:r>
            <a:r>
              <a:rPr lang="en-US" dirty="0"/>
              <a:t>font: fantasy</a:t>
            </a:r>
            <a:r>
              <a:rPr lang="ru-RU" dirty="0"/>
              <a:t>. </a:t>
            </a:r>
          </a:p>
        </p:txBody>
      </p:sp>
      <p:sp>
        <p:nvSpPr>
          <p:cNvPr id="4" name="Номер слайда 3"/>
          <p:cNvSpPr>
            <a:spLocks noGrp="1"/>
          </p:cNvSpPr>
          <p:nvPr>
            <p:ph type="sldNum" sz="quarter" idx="5"/>
          </p:nvPr>
        </p:nvSpPr>
        <p:spPr/>
        <p:txBody>
          <a:bodyPr/>
          <a:lstStyle/>
          <a:p>
            <a:fld id="{32AB7FA3-EE3C-4D67-A98A-6A08FE7D0F4F}" type="slidenum">
              <a:rPr lang="ru-RU" smtClean="0"/>
              <a:t>119</a:t>
            </a:fld>
            <a:endParaRPr lang="ru-RU"/>
          </a:p>
        </p:txBody>
      </p:sp>
    </p:spTree>
    <p:extLst>
      <p:ext uri="{BB962C8B-B14F-4D97-AF65-F5344CB8AC3E}">
        <p14:creationId xmlns:p14="http://schemas.microsoft.com/office/powerpoint/2010/main" val="20494660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Конечно, в данной лекции мы не охватили все свойства</a:t>
            </a:r>
            <a:r>
              <a:rPr lang="en-US" dirty="0"/>
              <a:t>/</a:t>
            </a:r>
            <a:r>
              <a:rPr lang="ru-RU" dirty="0"/>
              <a:t>параметры и правила, допустимые в </a:t>
            </a:r>
            <a:r>
              <a:rPr lang="en-US" dirty="0"/>
              <a:t>CS. </a:t>
            </a:r>
            <a:r>
              <a:rPr lang="ru-RU" dirty="0"/>
              <a:t>Даже все виды объектов, из которых состоят конструкции кода на данном языке. Вы должны понимать, что оформление всегда можно настраивать до бесконечности долго, так как предела совершенству не бывает, из-за чего с годами в данном языке накопилось очень много важных и не очень параметров, каждый веб-разработчик, как правило, пользуется собственным стандартным набором наиболее важных из них, а для ситуационных решений всегда можно найти готовое решение в интернете.</a:t>
            </a:r>
            <a:endParaRPr lang="en-US" dirty="0"/>
          </a:p>
        </p:txBody>
      </p:sp>
      <p:sp>
        <p:nvSpPr>
          <p:cNvPr id="4" name="Номер слайда 3"/>
          <p:cNvSpPr>
            <a:spLocks noGrp="1"/>
          </p:cNvSpPr>
          <p:nvPr>
            <p:ph type="sldNum" sz="quarter" idx="5"/>
          </p:nvPr>
        </p:nvSpPr>
        <p:spPr/>
        <p:txBody>
          <a:bodyPr/>
          <a:lstStyle/>
          <a:p>
            <a:fld id="{32AB7FA3-EE3C-4D67-A98A-6A08FE7D0F4F}" type="slidenum">
              <a:rPr lang="ru-RU" smtClean="0"/>
              <a:t>120</a:t>
            </a:fld>
            <a:endParaRPr lang="ru-RU"/>
          </a:p>
        </p:txBody>
      </p:sp>
    </p:spTree>
    <p:extLst>
      <p:ext uri="{BB962C8B-B14F-4D97-AF65-F5344CB8AC3E}">
        <p14:creationId xmlns:p14="http://schemas.microsoft.com/office/powerpoint/2010/main" val="255080523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тег ссылки можно заключить не только текст, например, изображение: </a:t>
            </a:r>
            <a:r>
              <a:rPr lang="pt-BR" dirty="0"/>
              <a:t>&lt;a href="</a:t>
            </a:r>
            <a:r>
              <a:rPr lang="ru-RU" dirty="0"/>
              <a:t>ссылка</a:t>
            </a:r>
            <a:r>
              <a:rPr lang="pt-BR" dirty="0"/>
              <a:t>"&gt;&lt;img src="</a:t>
            </a:r>
            <a:r>
              <a:rPr lang="ru-RU" dirty="0"/>
              <a:t>путь</a:t>
            </a:r>
            <a:r>
              <a:rPr lang="pt-BR" dirty="0"/>
              <a:t>"&gt;&lt;/a&gt;</a:t>
            </a:r>
            <a:r>
              <a:rPr lang="ru-RU" dirty="0"/>
              <a:t>.</a:t>
            </a:r>
            <a:r>
              <a:rPr lang="en-US" dirty="0"/>
              <a:t> </a:t>
            </a:r>
            <a:r>
              <a:rPr lang="ru-RU" dirty="0"/>
              <a:t>На слайде приведен пример страницы с такой ссылкой.</a:t>
            </a:r>
          </a:p>
        </p:txBody>
      </p:sp>
      <p:sp>
        <p:nvSpPr>
          <p:cNvPr id="4" name="Номер слайда 3"/>
          <p:cNvSpPr>
            <a:spLocks noGrp="1"/>
          </p:cNvSpPr>
          <p:nvPr>
            <p:ph type="sldNum" sz="quarter" idx="5"/>
          </p:nvPr>
        </p:nvSpPr>
        <p:spPr/>
        <p:txBody>
          <a:bodyPr/>
          <a:lstStyle/>
          <a:p>
            <a:fld id="{99AC21F4-998D-4BCD-B9E5-CFA879D290F7}" type="slidenum">
              <a:rPr lang="ru-RU" smtClean="0"/>
              <a:t>121</a:t>
            </a:fld>
            <a:endParaRPr lang="ru-RU"/>
          </a:p>
        </p:txBody>
      </p:sp>
    </p:spTree>
    <p:extLst>
      <p:ext uri="{BB962C8B-B14F-4D97-AF65-F5344CB8AC3E}">
        <p14:creationId xmlns:p14="http://schemas.microsoft.com/office/powerpoint/2010/main" val="65691466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тег ссылки можно заключить не только текст, например, изображение: </a:t>
            </a:r>
            <a:r>
              <a:rPr lang="pt-BR" dirty="0"/>
              <a:t>&lt;a href="</a:t>
            </a:r>
            <a:r>
              <a:rPr lang="ru-RU" dirty="0"/>
              <a:t>ссылка</a:t>
            </a:r>
            <a:r>
              <a:rPr lang="pt-BR" dirty="0"/>
              <a:t>"&gt;&lt;img src="</a:t>
            </a:r>
            <a:r>
              <a:rPr lang="ru-RU" dirty="0"/>
              <a:t>путь</a:t>
            </a:r>
            <a:r>
              <a:rPr lang="pt-BR" dirty="0"/>
              <a:t>"&gt;&lt;/a&gt;</a:t>
            </a:r>
            <a:r>
              <a:rPr lang="ru-RU" dirty="0"/>
              <a:t>.</a:t>
            </a:r>
            <a:r>
              <a:rPr lang="en-US" dirty="0"/>
              <a:t> </a:t>
            </a:r>
            <a:r>
              <a:rPr lang="ru-RU" dirty="0"/>
              <a:t>На слайде приведен пример страницы с такой ссылкой.</a:t>
            </a:r>
          </a:p>
        </p:txBody>
      </p:sp>
      <p:sp>
        <p:nvSpPr>
          <p:cNvPr id="4" name="Номер слайда 3"/>
          <p:cNvSpPr>
            <a:spLocks noGrp="1"/>
          </p:cNvSpPr>
          <p:nvPr>
            <p:ph type="sldNum" sz="quarter" idx="5"/>
          </p:nvPr>
        </p:nvSpPr>
        <p:spPr/>
        <p:txBody>
          <a:bodyPr/>
          <a:lstStyle/>
          <a:p>
            <a:fld id="{99AC21F4-998D-4BCD-B9E5-CFA879D290F7}" type="slidenum">
              <a:rPr lang="ru-RU" smtClean="0"/>
              <a:t>122</a:t>
            </a:fld>
            <a:endParaRPr lang="ru-RU"/>
          </a:p>
        </p:txBody>
      </p:sp>
    </p:spTree>
    <p:extLst>
      <p:ext uri="{BB962C8B-B14F-4D97-AF65-F5344CB8AC3E}">
        <p14:creationId xmlns:p14="http://schemas.microsoft.com/office/powerpoint/2010/main" val="389048429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Можно применять правило к нескольким объектам (тегам, классам, тегам с конкретными классами), если указать их имена через +:</a:t>
            </a:r>
          </a:p>
          <a:p>
            <a:pPr marL="0" indent="0">
              <a:buNone/>
            </a:pPr>
            <a:r>
              <a:rPr lang="ru-RU" dirty="0"/>
              <a:t>объект1 + объект2 </a:t>
            </a:r>
            <a:r>
              <a:rPr lang="en-US" dirty="0"/>
              <a:t>{</a:t>
            </a:r>
          </a:p>
          <a:p>
            <a:pPr marL="0" indent="0">
              <a:buNone/>
            </a:pPr>
            <a:r>
              <a:rPr lang="en-US" dirty="0"/>
              <a:t>	</a:t>
            </a:r>
            <a:r>
              <a:rPr lang="ru-RU" dirty="0"/>
              <a:t>параметр</a:t>
            </a:r>
            <a:r>
              <a:rPr lang="en-US" dirty="0"/>
              <a:t>1</a:t>
            </a:r>
            <a:r>
              <a:rPr lang="ru-RU" dirty="0"/>
              <a:t> : значение</a:t>
            </a:r>
            <a:r>
              <a:rPr lang="en-US" dirty="0"/>
              <a:t>;</a:t>
            </a:r>
          </a:p>
          <a:p>
            <a:pPr marL="0" indent="0">
              <a:buNone/>
            </a:pPr>
            <a:r>
              <a:rPr lang="en-US" dirty="0"/>
              <a:t>	</a:t>
            </a:r>
            <a:r>
              <a:rPr lang="ru-RU" dirty="0"/>
              <a:t>параметр</a:t>
            </a:r>
            <a:r>
              <a:rPr lang="en-US" dirty="0"/>
              <a:t>2 </a:t>
            </a:r>
            <a:r>
              <a:rPr lang="ru-RU" dirty="0"/>
              <a:t>: значение</a:t>
            </a:r>
            <a:r>
              <a:rPr lang="en-US" dirty="0"/>
              <a:t>;</a:t>
            </a:r>
          </a:p>
          <a:p>
            <a:pPr marL="0" indent="0">
              <a:buNone/>
            </a:pPr>
            <a:r>
              <a:rPr lang="en-US" dirty="0"/>
              <a:t>}</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123</a:t>
            </a:fld>
            <a:endParaRPr lang="ru-RU"/>
          </a:p>
        </p:txBody>
      </p:sp>
    </p:spTree>
    <p:extLst>
      <p:ext uri="{BB962C8B-B14F-4D97-AF65-F5344CB8AC3E}">
        <p14:creationId xmlns:p14="http://schemas.microsoft.com/office/powerpoint/2010/main" val="171496834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Пример такого использования классов приведен на слайде. Видно, что масштабирование шрифта применяется только к параграфу и только с классом </a:t>
            </a:r>
            <a:r>
              <a:rPr lang="en-US" dirty="0" err="1"/>
              <a:t>myclass</a:t>
            </a:r>
            <a:r>
              <a:rPr lang="en-US" dirty="0"/>
              <a:t>.</a:t>
            </a:r>
            <a:endParaRPr lang="ru-RU" dirty="0"/>
          </a:p>
        </p:txBody>
      </p:sp>
      <p:sp>
        <p:nvSpPr>
          <p:cNvPr id="4" name="Номер слайда 3"/>
          <p:cNvSpPr>
            <a:spLocks noGrp="1"/>
          </p:cNvSpPr>
          <p:nvPr>
            <p:ph type="sldNum" sz="quarter" idx="5"/>
          </p:nvPr>
        </p:nvSpPr>
        <p:spPr/>
        <p:txBody>
          <a:bodyPr/>
          <a:lstStyle/>
          <a:p>
            <a:fld id="{99AC21F4-998D-4BCD-B9E5-CFA879D290F7}" type="slidenum">
              <a:rPr lang="ru-RU" smtClean="0"/>
              <a:t>124</a:t>
            </a:fld>
            <a:endParaRPr lang="ru-RU"/>
          </a:p>
        </p:txBody>
      </p:sp>
    </p:spTree>
    <p:extLst>
      <p:ext uri="{BB962C8B-B14F-4D97-AF65-F5344CB8AC3E}">
        <p14:creationId xmlns:p14="http://schemas.microsoft.com/office/powerpoint/2010/main" val="1010773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C08CDF-D329-408D-839A-A2EE880BAE9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95F30388-520D-42BE-83D7-485015AC13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F7F4EC05-E7E7-424D-BFD0-C78AAA2DF4BC}"/>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5" name="Нижний колонтитул 4">
            <a:extLst>
              <a:ext uri="{FF2B5EF4-FFF2-40B4-BE49-F238E27FC236}">
                <a16:creationId xmlns:a16="http://schemas.microsoft.com/office/drawing/2014/main" id="{44590E64-B203-4238-B19C-CB51EBD4D08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B41DD9A-DBEE-4B6F-B450-F726E2D75BEB}"/>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2910850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29282B-3CC4-435A-94C9-2AEC6C1A473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A391E80-E5EE-455C-862A-1BDD7DD8B7B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510E5BD-C950-4EAB-BE4C-D372655B8BED}"/>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5" name="Нижний колонтитул 4">
            <a:extLst>
              <a:ext uri="{FF2B5EF4-FFF2-40B4-BE49-F238E27FC236}">
                <a16:creationId xmlns:a16="http://schemas.microsoft.com/office/drawing/2014/main" id="{D418D70A-619C-48ED-92A0-AB31B4649BC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8139D78-8D62-491B-8EB0-D5CA0E9C4A26}"/>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3214179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0F0AC9-EF23-4142-8FA7-0A68CEA81BE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BE77AEE9-FAD0-4146-BEF7-EF03D9B6DE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376B1D0-A550-447F-8E3A-B6D1C3D735C2}"/>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5" name="Нижний колонтитул 4">
            <a:extLst>
              <a:ext uri="{FF2B5EF4-FFF2-40B4-BE49-F238E27FC236}">
                <a16:creationId xmlns:a16="http://schemas.microsoft.com/office/drawing/2014/main" id="{4DE26733-FAE5-44C9-B1C3-1CC1223506D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C1240BE-E281-47BD-81FA-98E106E9D3D7}"/>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430646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049B20-BF94-42D7-A479-88CCFE3E5E75}"/>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6386EDC-06AE-4F8C-8141-881DEC0DDE44}"/>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CEA19FAA-8F11-469C-8227-6193DC64AE57}"/>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FF212779-AD12-4CE2-8F07-544A467FA712}"/>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6" name="Нижний колонтитул 5">
            <a:extLst>
              <a:ext uri="{FF2B5EF4-FFF2-40B4-BE49-F238E27FC236}">
                <a16:creationId xmlns:a16="http://schemas.microsoft.com/office/drawing/2014/main" id="{06A569D7-F022-4EEB-B813-4519A905C65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1B7440A-EF83-4B6D-B7E7-33FA9D3CF6F8}"/>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2869616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EA3D21-9C35-4A86-AFBE-ABFA5AED01E9}"/>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6F98CB2B-EC4E-4B3E-B7A2-345F36986D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7438DDF-D00F-4742-B1DE-B44ACE4FD29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5985C490-89FA-4918-BB05-2E775A3913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95F2520F-CD75-4BA3-BDAB-7778AF4564E6}"/>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E8F2D3AD-D75E-4FBB-AA6C-7A2D8F8D5FD7}"/>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8" name="Нижний колонтитул 7">
            <a:extLst>
              <a:ext uri="{FF2B5EF4-FFF2-40B4-BE49-F238E27FC236}">
                <a16:creationId xmlns:a16="http://schemas.microsoft.com/office/drawing/2014/main" id="{49230FA9-87C0-4A1D-A132-CD3FB42C06AC}"/>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87AD6288-AFAA-4FE4-BA52-A6034FDBE9A6}"/>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320187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FD8D8D-51D1-4718-B9CA-AA0DF9692503}"/>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2F93FC7-5251-4EB8-B992-B0052108E80C}"/>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4" name="Нижний колонтитул 3">
            <a:extLst>
              <a:ext uri="{FF2B5EF4-FFF2-40B4-BE49-F238E27FC236}">
                <a16:creationId xmlns:a16="http://schemas.microsoft.com/office/drawing/2014/main" id="{C8696C58-2FDB-45FD-9B49-14A2ABD20D7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362FAB4-CC31-431C-92F4-8743891B4563}"/>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1165592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97753F4-AF8D-41E4-A99D-5636ABBBA82F}"/>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3" name="Нижний колонтитул 2">
            <a:extLst>
              <a:ext uri="{FF2B5EF4-FFF2-40B4-BE49-F238E27FC236}">
                <a16:creationId xmlns:a16="http://schemas.microsoft.com/office/drawing/2014/main" id="{FA85A91C-AE86-498B-8E34-5F91B19CE048}"/>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43A605B-C754-4873-AA71-BCA4E245C833}"/>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1740956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C34D4C-173B-47F3-AF83-2B4F7E03441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6D907D7C-209E-4FE5-8B4F-84C4A87F70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C9887D4-16CC-44F8-8686-D6E54255F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F650BEF-CCE1-4A72-B6BB-BD2056311621}"/>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6" name="Нижний колонтитул 5">
            <a:extLst>
              <a:ext uri="{FF2B5EF4-FFF2-40B4-BE49-F238E27FC236}">
                <a16:creationId xmlns:a16="http://schemas.microsoft.com/office/drawing/2014/main" id="{C8C220CE-9A76-460F-8527-42794532E82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7E0CF9C-5E99-4B98-891D-1B8E5A9A9458}"/>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3468557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3E9017-2331-4084-A664-D3198D997FA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F832CA3A-F2B4-48E7-80B1-D1A088EA9C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E573A115-BF5B-45C2-80F7-192231358A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0EB303F-51B1-433D-B42D-0AAB34F270D8}"/>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6" name="Нижний колонтитул 5">
            <a:extLst>
              <a:ext uri="{FF2B5EF4-FFF2-40B4-BE49-F238E27FC236}">
                <a16:creationId xmlns:a16="http://schemas.microsoft.com/office/drawing/2014/main" id="{33ABC6A8-4802-4239-8BDF-1DA6D0565CD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F92D575-AB7B-478D-8261-C342E36B53A6}"/>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3812114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C79BB2-EFCD-4EAD-BAB6-6B230BD92F3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A0A1B57F-98EF-465C-BAE5-935425EACB93}"/>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4D7BC76-8104-4BA6-8D5A-F986DFA8A98B}"/>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5" name="Нижний колонтитул 4">
            <a:extLst>
              <a:ext uri="{FF2B5EF4-FFF2-40B4-BE49-F238E27FC236}">
                <a16:creationId xmlns:a16="http://schemas.microsoft.com/office/drawing/2014/main" id="{11F400D7-30D7-4D83-B7CF-D26198FA1E9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CA4A713-1673-4B0B-BAA8-884961EBF040}"/>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24981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B5C5FEF-CDCB-415D-B129-86B7B4441749}"/>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3638223-D52B-4745-AC95-0E4D8EB9878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0571435-FF7D-4300-AA2E-BE434234B2A4}"/>
              </a:ext>
            </a:extLst>
          </p:cNvPr>
          <p:cNvSpPr>
            <a:spLocks noGrp="1"/>
          </p:cNvSpPr>
          <p:nvPr>
            <p:ph type="dt" sz="half" idx="10"/>
          </p:nvPr>
        </p:nvSpPr>
        <p:spPr/>
        <p:txBody>
          <a:bodyPr/>
          <a:lstStyle/>
          <a:p>
            <a:fld id="{D68A4E2B-0C43-4E05-AD4A-8DBAD6134A22}" type="datetimeFigureOut">
              <a:rPr lang="ru-RU" smtClean="0"/>
              <a:t>30.07.2024</a:t>
            </a:fld>
            <a:endParaRPr lang="ru-RU"/>
          </a:p>
        </p:txBody>
      </p:sp>
      <p:sp>
        <p:nvSpPr>
          <p:cNvPr id="5" name="Нижний колонтитул 4">
            <a:extLst>
              <a:ext uri="{FF2B5EF4-FFF2-40B4-BE49-F238E27FC236}">
                <a16:creationId xmlns:a16="http://schemas.microsoft.com/office/drawing/2014/main" id="{F4128C12-9076-49E0-8B90-F62924F78E0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89A4BCC-4C0B-455B-B309-D0AF385AD027}"/>
              </a:ext>
            </a:extLst>
          </p:cNvPr>
          <p:cNvSpPr>
            <a:spLocks noGrp="1"/>
          </p:cNvSpPr>
          <p:nvPr>
            <p:ph type="sldNum" sz="quarter" idx="12"/>
          </p:nvPr>
        </p:nvSpPr>
        <p:spPr/>
        <p:txBody>
          <a:bodyPr/>
          <a:lstStyle/>
          <a:p>
            <a:fld id="{0EE6261C-E5C6-4271-8001-9BBCE5A65B06}" type="slidenum">
              <a:rPr lang="ru-RU" smtClean="0"/>
              <a:t>‹#›</a:t>
            </a:fld>
            <a:endParaRPr lang="ru-RU"/>
          </a:p>
        </p:txBody>
      </p:sp>
    </p:spTree>
    <p:extLst>
      <p:ext uri="{BB962C8B-B14F-4D97-AF65-F5344CB8AC3E}">
        <p14:creationId xmlns:p14="http://schemas.microsoft.com/office/powerpoint/2010/main" val="3859410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E53AA8-54E4-443B-BF4F-2B07619A68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98FC5A04-37BF-403F-9CE4-522D41F3AF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3AB6C5C-43EF-4F55-9378-E935F21D9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8A4E2B-0C43-4E05-AD4A-8DBAD6134A22}" type="datetimeFigureOut">
              <a:rPr lang="ru-RU" smtClean="0"/>
              <a:t>30.07.2024</a:t>
            </a:fld>
            <a:endParaRPr lang="ru-RU"/>
          </a:p>
        </p:txBody>
      </p:sp>
      <p:sp>
        <p:nvSpPr>
          <p:cNvPr id="5" name="Нижний колонтитул 4">
            <a:extLst>
              <a:ext uri="{FF2B5EF4-FFF2-40B4-BE49-F238E27FC236}">
                <a16:creationId xmlns:a16="http://schemas.microsoft.com/office/drawing/2014/main" id="{529FD132-3363-4E52-B58A-F46B74E3B5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F63923C7-A32D-47C6-94D8-7643CA3B57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6261C-E5C6-4271-8001-9BBCE5A65B06}" type="slidenum">
              <a:rPr lang="ru-RU" smtClean="0"/>
              <a:t>‹#›</a:t>
            </a:fld>
            <a:endParaRPr lang="ru-RU"/>
          </a:p>
        </p:txBody>
      </p:sp>
    </p:spTree>
    <p:extLst>
      <p:ext uri="{BB962C8B-B14F-4D97-AF65-F5344CB8AC3E}">
        <p14:creationId xmlns:p14="http://schemas.microsoft.com/office/powerpoint/2010/main" val="4068944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habr.com/ru/articles/122803/"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hackernoon.com/python-vs-php-vs-javascript-which-is-best-for-your-next-project-i33v31y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validator.w3.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7" Type="http://schemas.microsoft.com/office/2007/relationships/hdphoto" Target="../media/hdphoto1.wdp"/><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jpeg"/><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6.jpeg"/><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jpeg"/></Relationships>
</file>

<file path=ppt/slides/_rels/slide7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61.gif"/><Relationship Id="rId4" Type="http://schemas.openxmlformats.org/officeDocument/2006/relationships/image" Target="../media/image60.jpeg"/></Relationships>
</file>

<file path=ppt/slides/_rels/slide7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10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113.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9" Type="http://schemas.openxmlformats.org/officeDocument/2006/relationships/image" Target="../media/image105.png"/></Relationships>
</file>

<file path=ppt/slides/_rels/slide11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11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09.xml"/><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11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8" Type="http://schemas.openxmlformats.org/officeDocument/2006/relationships/image" Target="../media/image119.jpeg"/><Relationship Id="rId3" Type="http://schemas.openxmlformats.org/officeDocument/2006/relationships/image" Target="../media/image114.gif"/><Relationship Id="rId7" Type="http://schemas.openxmlformats.org/officeDocument/2006/relationships/image" Target="../media/image118.jpeg"/><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image" Target="../media/image117.jpeg"/><Relationship Id="rId5" Type="http://schemas.openxmlformats.org/officeDocument/2006/relationships/image" Target="../media/image116.png"/><Relationship Id="rId4" Type="http://schemas.openxmlformats.org/officeDocument/2006/relationships/image" Target="../media/image115.jpe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16.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en-US" dirty="0"/>
              <a:t>Web-</a:t>
            </a:r>
            <a:r>
              <a:rPr lang="ru-RU" dirty="0"/>
              <a:t>программирование: структура курса</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normAutofit fontScale="92500"/>
          </a:bodyPr>
          <a:lstStyle/>
          <a:p>
            <a:r>
              <a:rPr lang="ru-RU" dirty="0"/>
              <a:t>Базовый фронт-энд</a:t>
            </a:r>
            <a:endParaRPr lang="en-US" dirty="0"/>
          </a:p>
          <a:p>
            <a:pPr indent="309563"/>
            <a:r>
              <a:rPr lang="en-US" dirty="0"/>
              <a:t>HTML4+HTML5 (</a:t>
            </a:r>
            <a:r>
              <a:rPr lang="ru-RU" dirty="0"/>
              <a:t>1 лекция + 1 лаба)</a:t>
            </a:r>
            <a:endParaRPr lang="en-US" dirty="0"/>
          </a:p>
          <a:p>
            <a:pPr indent="309563"/>
            <a:r>
              <a:rPr lang="en-US" dirty="0"/>
              <a:t>CSS</a:t>
            </a:r>
            <a:r>
              <a:rPr lang="ru-RU" dirty="0"/>
              <a:t> (1 лекция + 1 лаба)</a:t>
            </a:r>
          </a:p>
          <a:p>
            <a:r>
              <a:rPr lang="ru-RU" dirty="0"/>
              <a:t>Бэк-энд</a:t>
            </a:r>
          </a:p>
          <a:p>
            <a:pPr indent="398463"/>
            <a:r>
              <a:rPr lang="en-US" dirty="0"/>
              <a:t>PHP (1</a:t>
            </a:r>
            <a:r>
              <a:rPr lang="ru-RU" dirty="0"/>
              <a:t> лекция + 1 лаба)</a:t>
            </a:r>
          </a:p>
          <a:p>
            <a:pPr indent="398463"/>
            <a:r>
              <a:rPr lang="en-US" dirty="0"/>
              <a:t>JS (</a:t>
            </a:r>
            <a:r>
              <a:rPr lang="ru-RU" dirty="0"/>
              <a:t>3 лекции + 3 лабы)</a:t>
            </a:r>
          </a:p>
          <a:p>
            <a:pPr indent="398463"/>
            <a:r>
              <a:rPr lang="en-US" dirty="0"/>
              <a:t>Python (2 </a:t>
            </a:r>
            <a:r>
              <a:rPr lang="ru-RU" dirty="0"/>
              <a:t>лекции + 2 лабы)</a:t>
            </a:r>
            <a:endParaRPr lang="en-US" dirty="0"/>
          </a:p>
          <a:p>
            <a:pPr indent="0">
              <a:buNone/>
            </a:pPr>
            <a:r>
              <a:rPr lang="en-US" dirty="0">
                <a:hlinkClick r:id="rId3"/>
              </a:rPr>
              <a:t>https://habr.com/ru/articles/122803/</a:t>
            </a:r>
            <a:r>
              <a:rPr lang="en-US" dirty="0"/>
              <a:t> </a:t>
            </a:r>
            <a:r>
              <a:rPr lang="en-US" dirty="0">
                <a:hlinkClick r:id="rId4"/>
              </a:rPr>
              <a:t>https://hackernoon.com/python-vs-php-vs-javascript-which-is-best-for-your-next-project-i33v31y1</a:t>
            </a:r>
            <a:r>
              <a:rPr lang="en-US" dirty="0"/>
              <a:t> </a:t>
            </a:r>
          </a:p>
        </p:txBody>
      </p:sp>
    </p:spTree>
    <p:extLst>
      <p:ext uri="{BB962C8B-B14F-4D97-AF65-F5344CB8AC3E}">
        <p14:creationId xmlns:p14="http://schemas.microsoft.com/office/powerpoint/2010/main" val="567296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209A2-CFE8-4CE9-AC40-14449414EAB8}"/>
              </a:ext>
            </a:extLst>
          </p:cNvPr>
          <p:cNvSpPr>
            <a:spLocks noGrp="1"/>
          </p:cNvSpPr>
          <p:nvPr>
            <p:ph type="ctrTitle"/>
          </p:nvPr>
        </p:nvSpPr>
        <p:spPr/>
        <p:txBody>
          <a:bodyPr/>
          <a:lstStyle/>
          <a:p>
            <a:r>
              <a:rPr lang="en-US" dirty="0"/>
              <a:t>HTML	</a:t>
            </a:r>
            <a:endParaRPr lang="ru-RU" dirty="0"/>
          </a:p>
        </p:txBody>
      </p:sp>
      <p:sp>
        <p:nvSpPr>
          <p:cNvPr id="3" name="Подзаголовок 2">
            <a:extLst>
              <a:ext uri="{FF2B5EF4-FFF2-40B4-BE49-F238E27FC236}">
                <a16:creationId xmlns:a16="http://schemas.microsoft.com/office/drawing/2014/main" id="{7A288AB3-3988-4048-A010-34A72200D883}"/>
              </a:ext>
            </a:extLst>
          </p:cNvPr>
          <p:cNvSpPr>
            <a:spLocks noGrp="1"/>
          </p:cNvSpPr>
          <p:nvPr>
            <p:ph type="subTitle" idx="1"/>
          </p:nvPr>
        </p:nvSpPr>
        <p:spPr/>
        <p:txBody>
          <a:bodyPr/>
          <a:lstStyle/>
          <a:p>
            <a:r>
              <a:rPr lang="ru-RU" dirty="0"/>
              <a:t>Основные понятия. Основы верстки</a:t>
            </a:r>
            <a:r>
              <a:rPr lang="en-US" dirty="0"/>
              <a:t> HTML</a:t>
            </a:r>
            <a:r>
              <a:rPr lang="ru-RU" dirty="0"/>
              <a:t>. Расширенные инструменты верстки</a:t>
            </a:r>
          </a:p>
        </p:txBody>
      </p:sp>
    </p:spTree>
    <p:extLst>
      <p:ext uri="{BB962C8B-B14F-4D97-AF65-F5344CB8AC3E}">
        <p14:creationId xmlns:p14="http://schemas.microsoft.com/office/powerpoint/2010/main" val="3323189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209A2-CFE8-4CE9-AC40-14449414EAB8}"/>
              </a:ext>
            </a:extLst>
          </p:cNvPr>
          <p:cNvSpPr>
            <a:spLocks noGrp="1"/>
          </p:cNvSpPr>
          <p:nvPr>
            <p:ph type="ctrTitle"/>
          </p:nvPr>
        </p:nvSpPr>
        <p:spPr/>
        <p:txBody>
          <a:bodyPr/>
          <a:lstStyle/>
          <a:p>
            <a:r>
              <a:rPr lang="ru-RU" dirty="0"/>
              <a:t>Основные понятия</a:t>
            </a:r>
          </a:p>
        </p:txBody>
      </p:sp>
      <p:sp>
        <p:nvSpPr>
          <p:cNvPr id="3" name="Подзаголовок 2">
            <a:extLst>
              <a:ext uri="{FF2B5EF4-FFF2-40B4-BE49-F238E27FC236}">
                <a16:creationId xmlns:a16="http://schemas.microsoft.com/office/drawing/2014/main" id="{7A288AB3-3988-4048-A010-34A72200D883}"/>
              </a:ext>
            </a:extLst>
          </p:cNvPr>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4130827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HTML </a:t>
            </a:r>
            <a:r>
              <a:rPr lang="ru-RU" dirty="0"/>
              <a:t>(</a:t>
            </a:r>
            <a:r>
              <a:rPr lang="en-US" dirty="0" err="1"/>
              <a:t>HyperText</a:t>
            </a:r>
            <a:r>
              <a:rPr lang="en-US" dirty="0"/>
              <a:t> Markup Language</a:t>
            </a:r>
            <a:r>
              <a:rPr lang="ru-RU" dirty="0"/>
              <a:t>) </a:t>
            </a:r>
            <a:r>
              <a:rPr lang="en-US" dirty="0"/>
              <a:t>– </a:t>
            </a:r>
            <a:r>
              <a:rPr lang="ru-RU" dirty="0"/>
              <a:t>гипертекстовый язык разметки</a:t>
            </a:r>
            <a:r>
              <a:rPr lang="en-US" dirty="0"/>
              <a:t> </a:t>
            </a:r>
            <a:r>
              <a:rPr lang="ru-RU" dirty="0"/>
              <a:t>документов</a:t>
            </a:r>
          </a:p>
          <a:p>
            <a:r>
              <a:rPr lang="ru-RU" dirty="0"/>
              <a:t>Документ</a:t>
            </a:r>
            <a:r>
              <a:rPr lang="en-US" dirty="0"/>
              <a:t> HTML</a:t>
            </a:r>
            <a:r>
              <a:rPr lang="ru-RU" dirty="0"/>
              <a:t> содержит теги, описывающие отдельные блоки страницы</a:t>
            </a:r>
            <a:r>
              <a:rPr lang="en-US" dirty="0"/>
              <a:t>, </a:t>
            </a:r>
            <a:r>
              <a:rPr lang="ru-RU" dirty="0"/>
              <a:t>в том числе интерактивные</a:t>
            </a:r>
          </a:p>
          <a:p>
            <a:r>
              <a:rPr lang="ru-RU" dirty="0"/>
              <a:t>Не является языком программирования, код страницы интерпретируется браузером или др. программой как макет страницы</a:t>
            </a:r>
          </a:p>
        </p:txBody>
      </p:sp>
    </p:spTree>
    <p:extLst>
      <p:ext uri="{BB962C8B-B14F-4D97-AF65-F5344CB8AC3E}">
        <p14:creationId xmlns:p14="http://schemas.microsoft.com/office/powerpoint/2010/main" val="584060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638E0368-2536-4E52-95B8-49CEA4A17E51}"/>
              </a:ext>
            </a:extLst>
          </p:cNvPr>
          <p:cNvPicPr>
            <a:picLocks noChangeAspect="1"/>
          </p:cNvPicPr>
          <p:nvPr/>
        </p:nvPicPr>
        <p:blipFill>
          <a:blip r:embed="rId3"/>
          <a:stretch>
            <a:fillRect/>
          </a:stretch>
        </p:blipFill>
        <p:spPr>
          <a:xfrm>
            <a:off x="897032" y="2500243"/>
            <a:ext cx="5619439" cy="2981742"/>
          </a:xfrm>
          <a:prstGeom prst="rect">
            <a:avLst/>
          </a:prstGeom>
        </p:spPr>
      </p:pic>
      <p:pic>
        <p:nvPicPr>
          <p:cNvPr id="6" name="Рисунок 5">
            <a:extLst>
              <a:ext uri="{FF2B5EF4-FFF2-40B4-BE49-F238E27FC236}">
                <a16:creationId xmlns:a16="http://schemas.microsoft.com/office/drawing/2014/main" id="{C005DA49-0A16-48CE-818A-C3664410E05B}"/>
              </a:ext>
            </a:extLst>
          </p:cNvPr>
          <p:cNvPicPr>
            <a:picLocks noChangeAspect="1"/>
          </p:cNvPicPr>
          <p:nvPr/>
        </p:nvPicPr>
        <p:blipFill>
          <a:blip r:embed="rId4"/>
          <a:stretch>
            <a:fillRect/>
          </a:stretch>
        </p:blipFill>
        <p:spPr>
          <a:xfrm>
            <a:off x="6516471" y="2500243"/>
            <a:ext cx="4837329" cy="3021947"/>
          </a:xfrm>
          <a:prstGeom prst="rect">
            <a:avLst/>
          </a:prstGeom>
        </p:spPr>
      </p:pic>
    </p:spTree>
    <p:extLst>
      <p:ext uri="{BB962C8B-B14F-4D97-AF65-F5344CB8AC3E}">
        <p14:creationId xmlns:p14="http://schemas.microsoft.com/office/powerpoint/2010/main" val="3232272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ru-RU" dirty="0"/>
              <a:t>Элементарные единицы кода </a:t>
            </a:r>
            <a:r>
              <a:rPr lang="en-US" dirty="0"/>
              <a:t>HTML – </a:t>
            </a:r>
            <a:r>
              <a:rPr lang="ru-RU" dirty="0"/>
              <a:t>теги, ограниченные </a:t>
            </a:r>
            <a:r>
              <a:rPr lang="en-US" dirty="0"/>
              <a:t>&lt;&gt; </a:t>
            </a:r>
            <a:r>
              <a:rPr lang="ru-RU" dirty="0"/>
              <a:t>элементы, могут быть парными (открывающему </a:t>
            </a:r>
            <a:r>
              <a:rPr lang="en-US" dirty="0"/>
              <a:t>&lt;</a:t>
            </a:r>
            <a:r>
              <a:rPr lang="ru-RU" dirty="0"/>
              <a:t>тег</a:t>
            </a:r>
            <a:r>
              <a:rPr lang="en-US" dirty="0"/>
              <a:t>&gt; </a:t>
            </a:r>
            <a:r>
              <a:rPr lang="ru-RU" dirty="0"/>
              <a:t>соответствует закрывающий </a:t>
            </a:r>
            <a:r>
              <a:rPr lang="en-US" dirty="0"/>
              <a:t>&lt;/</a:t>
            </a:r>
            <a:r>
              <a:rPr lang="ru-RU" dirty="0"/>
              <a:t>тег</a:t>
            </a:r>
            <a:r>
              <a:rPr lang="en-US" dirty="0"/>
              <a:t>&gt;) </a:t>
            </a:r>
            <a:r>
              <a:rPr lang="ru-RU" dirty="0"/>
              <a:t>или одинарными</a:t>
            </a:r>
          </a:p>
        </p:txBody>
      </p:sp>
      <p:pic>
        <p:nvPicPr>
          <p:cNvPr id="5" name="Рисунок 4">
            <a:extLst>
              <a:ext uri="{FF2B5EF4-FFF2-40B4-BE49-F238E27FC236}">
                <a16:creationId xmlns:a16="http://schemas.microsoft.com/office/drawing/2014/main" id="{9E857CD4-E111-45F4-9E19-9C729F28A5F5}"/>
              </a:ext>
            </a:extLst>
          </p:cNvPr>
          <p:cNvPicPr>
            <a:picLocks noChangeAspect="1"/>
          </p:cNvPicPr>
          <p:nvPr/>
        </p:nvPicPr>
        <p:blipFill>
          <a:blip r:embed="rId3"/>
          <a:stretch>
            <a:fillRect/>
          </a:stretch>
        </p:blipFill>
        <p:spPr>
          <a:xfrm>
            <a:off x="3060544" y="3678334"/>
            <a:ext cx="6070912" cy="1828894"/>
          </a:xfrm>
          <a:prstGeom prst="rect">
            <a:avLst/>
          </a:prstGeom>
        </p:spPr>
      </p:pic>
    </p:spTree>
    <p:extLst>
      <p:ext uri="{BB962C8B-B14F-4D97-AF65-F5344CB8AC3E}">
        <p14:creationId xmlns:p14="http://schemas.microsoft.com/office/powerpoint/2010/main" val="459654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endParaRPr lang="ru-RU"/>
          </a:p>
        </p:txBody>
      </p:sp>
      <p:pic>
        <p:nvPicPr>
          <p:cNvPr id="5" name="Рисунок 4">
            <a:extLst>
              <a:ext uri="{FF2B5EF4-FFF2-40B4-BE49-F238E27FC236}">
                <a16:creationId xmlns:a16="http://schemas.microsoft.com/office/drawing/2014/main" id="{95579052-D2A8-4293-BB26-F900080C8084}"/>
              </a:ext>
            </a:extLst>
          </p:cNvPr>
          <p:cNvPicPr>
            <a:picLocks noChangeAspect="1"/>
          </p:cNvPicPr>
          <p:nvPr/>
        </p:nvPicPr>
        <p:blipFill>
          <a:blip r:embed="rId3"/>
          <a:stretch>
            <a:fillRect/>
          </a:stretch>
        </p:blipFill>
        <p:spPr>
          <a:xfrm>
            <a:off x="1385456" y="1825625"/>
            <a:ext cx="9242884" cy="4124463"/>
          </a:xfrm>
          <a:prstGeom prst="rect">
            <a:avLst/>
          </a:prstGeom>
        </p:spPr>
      </p:pic>
    </p:spTree>
    <p:extLst>
      <p:ext uri="{BB962C8B-B14F-4D97-AF65-F5344CB8AC3E}">
        <p14:creationId xmlns:p14="http://schemas.microsoft.com/office/powerpoint/2010/main" val="2080667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SGML</a:t>
            </a:r>
            <a:r>
              <a:rPr lang="ru-RU" dirty="0"/>
              <a:t> – </a:t>
            </a:r>
            <a:r>
              <a:rPr lang="en-US" dirty="0"/>
              <a:t>s</a:t>
            </a:r>
            <a:r>
              <a:rPr lang="ru-RU" dirty="0" err="1"/>
              <a:t>tandard</a:t>
            </a:r>
            <a:r>
              <a:rPr lang="ru-RU" dirty="0"/>
              <a:t> </a:t>
            </a:r>
            <a:r>
              <a:rPr lang="ru-RU" dirty="0" err="1"/>
              <a:t>Generalized</a:t>
            </a:r>
            <a:r>
              <a:rPr lang="ru-RU" dirty="0"/>
              <a:t> </a:t>
            </a:r>
            <a:r>
              <a:rPr lang="ru-RU" dirty="0" err="1"/>
              <a:t>Markup</a:t>
            </a:r>
            <a:r>
              <a:rPr lang="ru-RU" dirty="0"/>
              <a:t> Language — (стандартный обобщённый язык разметки) — метаязык, на котором можно определять язык разметки для документов</a:t>
            </a:r>
          </a:p>
          <a:p>
            <a:r>
              <a:rPr lang="en-US" dirty="0"/>
              <a:t>SGML – </a:t>
            </a:r>
            <a:r>
              <a:rPr lang="ru-RU" dirty="0"/>
              <a:t>прародитель </a:t>
            </a:r>
            <a:r>
              <a:rPr lang="en-US" dirty="0"/>
              <a:t>HTML4 </a:t>
            </a:r>
            <a:r>
              <a:rPr lang="ru-RU" dirty="0"/>
              <a:t>и </a:t>
            </a:r>
            <a:r>
              <a:rPr lang="en-US" dirty="0"/>
              <a:t>XML, </a:t>
            </a:r>
            <a:r>
              <a:rPr lang="ru-RU" dirty="0"/>
              <a:t>содержит общие правила для создания электронных документов</a:t>
            </a:r>
          </a:p>
          <a:p>
            <a:r>
              <a:rPr lang="en-US" dirty="0"/>
              <a:t>XML</a:t>
            </a:r>
            <a:r>
              <a:rPr lang="ru-RU" dirty="0"/>
              <a:t> – </a:t>
            </a:r>
            <a:r>
              <a:rPr lang="en-US" dirty="0" err="1"/>
              <a:t>eXtensible</a:t>
            </a:r>
            <a:r>
              <a:rPr lang="en-US" dirty="0"/>
              <a:t> Markup Language</a:t>
            </a:r>
            <a:r>
              <a:rPr lang="ru-RU" dirty="0"/>
              <a:t> – расширенный язык разметки, используемый для хранения и обмена данными между приложениями (наряду с </a:t>
            </a:r>
            <a:r>
              <a:rPr lang="en-US" dirty="0"/>
              <a:t>JSON </a:t>
            </a:r>
            <a:r>
              <a:rPr lang="ru-RU" dirty="0"/>
              <a:t>и </a:t>
            </a:r>
            <a:r>
              <a:rPr lang="en-US" dirty="0"/>
              <a:t>CSV) </a:t>
            </a:r>
            <a:r>
              <a:rPr lang="ru-RU" dirty="0"/>
              <a:t>и верстки документов (</a:t>
            </a:r>
            <a:r>
              <a:rPr lang="en-US" dirty="0"/>
              <a:t>Word, FB2, …)</a:t>
            </a:r>
            <a:endParaRPr lang="ru-RU" dirty="0"/>
          </a:p>
        </p:txBody>
      </p:sp>
      <p:pic>
        <p:nvPicPr>
          <p:cNvPr id="4" name="Рисунок 3">
            <a:extLst>
              <a:ext uri="{FF2B5EF4-FFF2-40B4-BE49-F238E27FC236}">
                <a16:creationId xmlns:a16="http://schemas.microsoft.com/office/drawing/2014/main" id="{1159EE66-B993-4694-9D1E-923292B4E217}"/>
              </a:ext>
            </a:extLst>
          </p:cNvPr>
          <p:cNvPicPr>
            <a:picLocks noChangeAspect="1"/>
          </p:cNvPicPr>
          <p:nvPr/>
        </p:nvPicPr>
        <p:blipFill>
          <a:blip r:embed="rId3"/>
          <a:stretch>
            <a:fillRect/>
          </a:stretch>
        </p:blipFill>
        <p:spPr>
          <a:xfrm>
            <a:off x="2098846" y="5602183"/>
            <a:ext cx="7059008" cy="1149559"/>
          </a:xfrm>
          <a:prstGeom prst="rect">
            <a:avLst/>
          </a:prstGeom>
        </p:spPr>
      </p:pic>
    </p:spTree>
    <p:extLst>
      <p:ext uri="{BB962C8B-B14F-4D97-AF65-F5344CB8AC3E}">
        <p14:creationId xmlns:p14="http://schemas.microsoft.com/office/powerpoint/2010/main" val="1270322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endParaRPr lang="ru-RU" dirty="0"/>
          </a:p>
        </p:txBody>
      </p:sp>
      <p:pic>
        <p:nvPicPr>
          <p:cNvPr id="6" name="Рисунок 5">
            <a:extLst>
              <a:ext uri="{FF2B5EF4-FFF2-40B4-BE49-F238E27FC236}">
                <a16:creationId xmlns:a16="http://schemas.microsoft.com/office/drawing/2014/main" id="{844B4773-303A-4293-851F-008C191B9CB8}"/>
              </a:ext>
            </a:extLst>
          </p:cNvPr>
          <p:cNvPicPr>
            <a:picLocks noChangeAspect="1"/>
          </p:cNvPicPr>
          <p:nvPr/>
        </p:nvPicPr>
        <p:blipFill>
          <a:blip r:embed="rId3"/>
          <a:stretch>
            <a:fillRect/>
          </a:stretch>
        </p:blipFill>
        <p:spPr>
          <a:xfrm>
            <a:off x="1852115" y="2360325"/>
            <a:ext cx="8487770" cy="3281938"/>
          </a:xfrm>
          <a:prstGeom prst="rect">
            <a:avLst/>
          </a:prstGeom>
        </p:spPr>
      </p:pic>
    </p:spTree>
    <p:extLst>
      <p:ext uri="{BB962C8B-B14F-4D97-AF65-F5344CB8AC3E}">
        <p14:creationId xmlns:p14="http://schemas.microsoft.com/office/powerpoint/2010/main" val="936155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XHTML – </a:t>
            </a:r>
            <a:r>
              <a:rPr lang="ru-RU" dirty="0"/>
              <a:t>основанная на </a:t>
            </a:r>
            <a:r>
              <a:rPr lang="en-US" dirty="0"/>
              <a:t>XML </a:t>
            </a:r>
            <a:r>
              <a:rPr lang="ru-RU" dirty="0"/>
              <a:t>реализация </a:t>
            </a:r>
            <a:r>
              <a:rPr lang="en-US" dirty="0"/>
              <a:t>HTML4-</a:t>
            </a:r>
            <a:r>
              <a:rPr lang="ru-RU" dirty="0"/>
              <a:t>подобного языка со строгим отношением к ошибкам кода, потерявший актуальность с выходом </a:t>
            </a:r>
            <a:r>
              <a:rPr lang="en-US" dirty="0"/>
              <a:t>HTML5, </a:t>
            </a:r>
            <a:r>
              <a:rPr lang="ru-RU" dirty="0"/>
              <a:t>но иногда встречающийся</a:t>
            </a:r>
          </a:p>
        </p:txBody>
      </p:sp>
      <p:pic>
        <p:nvPicPr>
          <p:cNvPr id="6" name="Рисунок 5">
            <a:extLst>
              <a:ext uri="{FF2B5EF4-FFF2-40B4-BE49-F238E27FC236}">
                <a16:creationId xmlns:a16="http://schemas.microsoft.com/office/drawing/2014/main" id="{844B4773-303A-4293-851F-008C191B9CB8}"/>
              </a:ext>
            </a:extLst>
          </p:cNvPr>
          <p:cNvPicPr>
            <a:picLocks noChangeAspect="1"/>
          </p:cNvPicPr>
          <p:nvPr/>
        </p:nvPicPr>
        <p:blipFill>
          <a:blip r:embed="rId3"/>
          <a:stretch>
            <a:fillRect/>
          </a:stretch>
        </p:blipFill>
        <p:spPr>
          <a:xfrm>
            <a:off x="1852115" y="3210937"/>
            <a:ext cx="8487770" cy="3281938"/>
          </a:xfrm>
          <a:prstGeom prst="rect">
            <a:avLst/>
          </a:prstGeom>
        </p:spPr>
      </p:pic>
    </p:spTree>
    <p:extLst>
      <p:ext uri="{BB962C8B-B14F-4D97-AF65-F5344CB8AC3E}">
        <p14:creationId xmlns:p14="http://schemas.microsoft.com/office/powerpoint/2010/main" val="3965914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D8F77B62-E2FB-49E2-962B-D82C49BC755A}"/>
              </a:ext>
            </a:extLst>
          </p:cNvPr>
          <p:cNvPicPr>
            <a:picLocks noChangeAspect="1"/>
          </p:cNvPicPr>
          <p:nvPr/>
        </p:nvPicPr>
        <p:blipFill>
          <a:blip r:embed="rId3"/>
          <a:stretch>
            <a:fillRect/>
          </a:stretch>
        </p:blipFill>
        <p:spPr>
          <a:xfrm>
            <a:off x="715877" y="2251365"/>
            <a:ext cx="10637923" cy="3825008"/>
          </a:xfrm>
          <a:prstGeom prst="rect">
            <a:avLst/>
          </a:prstGeom>
        </p:spPr>
      </p:pic>
    </p:spTree>
    <p:extLst>
      <p:ext uri="{BB962C8B-B14F-4D97-AF65-F5344CB8AC3E}">
        <p14:creationId xmlns:p14="http://schemas.microsoft.com/office/powerpoint/2010/main" val="2311380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ru-RU" dirty="0"/>
              <a:t>Валидация HTML-документа предназначена для выявления ошибок в синтаксисе веб-страницы и расхождений со спецификацией HTML программой-валидатором</a:t>
            </a:r>
            <a:endParaRPr lang="en-US" dirty="0"/>
          </a:p>
          <a:p>
            <a:r>
              <a:rPr lang="ru-RU" dirty="0"/>
              <a:t>Примеры валидаторов: </a:t>
            </a:r>
            <a:r>
              <a:rPr lang="en-US" dirty="0"/>
              <a:t>Tidy, </a:t>
            </a:r>
            <a:r>
              <a:rPr lang="en-US" dirty="0">
                <a:hlinkClick r:id="rId3"/>
              </a:rPr>
              <a:t>https://validator.w3.org/</a:t>
            </a:r>
            <a:r>
              <a:rPr lang="en-US" dirty="0"/>
              <a:t> </a:t>
            </a:r>
            <a:endParaRPr lang="ru-RU" dirty="0"/>
          </a:p>
        </p:txBody>
      </p:sp>
      <p:pic>
        <p:nvPicPr>
          <p:cNvPr id="4" name="Рисунок 3">
            <a:extLst>
              <a:ext uri="{FF2B5EF4-FFF2-40B4-BE49-F238E27FC236}">
                <a16:creationId xmlns:a16="http://schemas.microsoft.com/office/drawing/2014/main" id="{D8F77B62-E2FB-49E2-962B-D82C49BC755A}"/>
              </a:ext>
            </a:extLst>
          </p:cNvPr>
          <p:cNvPicPr>
            <a:picLocks noChangeAspect="1"/>
          </p:cNvPicPr>
          <p:nvPr/>
        </p:nvPicPr>
        <p:blipFill>
          <a:blip r:embed="rId4"/>
          <a:stretch>
            <a:fillRect/>
          </a:stretch>
        </p:blipFill>
        <p:spPr>
          <a:xfrm>
            <a:off x="1884220" y="3718360"/>
            <a:ext cx="8423560" cy="3028804"/>
          </a:xfrm>
          <a:prstGeom prst="rect">
            <a:avLst/>
          </a:prstGeom>
        </p:spPr>
      </p:pic>
    </p:spTree>
    <p:extLst>
      <p:ext uri="{BB962C8B-B14F-4D97-AF65-F5344CB8AC3E}">
        <p14:creationId xmlns:p14="http://schemas.microsoft.com/office/powerpoint/2010/main" val="1142935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209A2-CFE8-4CE9-AC40-14449414EAB8}"/>
              </a:ext>
            </a:extLst>
          </p:cNvPr>
          <p:cNvSpPr>
            <a:spLocks noGrp="1"/>
          </p:cNvSpPr>
          <p:nvPr>
            <p:ph type="ctrTitle"/>
          </p:nvPr>
        </p:nvSpPr>
        <p:spPr/>
        <p:txBody>
          <a:bodyPr/>
          <a:lstStyle/>
          <a:p>
            <a:r>
              <a:rPr lang="ru-RU" dirty="0"/>
              <a:t>Основы верстки</a:t>
            </a:r>
            <a:r>
              <a:rPr lang="en-US" dirty="0"/>
              <a:t> HTML</a:t>
            </a:r>
            <a:endParaRPr lang="ru-RU" dirty="0"/>
          </a:p>
        </p:txBody>
      </p:sp>
      <p:sp>
        <p:nvSpPr>
          <p:cNvPr id="3" name="Подзаголовок 2">
            <a:extLst>
              <a:ext uri="{FF2B5EF4-FFF2-40B4-BE49-F238E27FC236}">
                <a16:creationId xmlns:a16="http://schemas.microsoft.com/office/drawing/2014/main" id="{7A288AB3-3988-4048-A010-34A72200D883}"/>
              </a:ext>
            </a:extLst>
          </p:cNvPr>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1090157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C1D7AC62-3867-43CB-968B-BB9DFC18416F}"/>
              </a:ext>
            </a:extLst>
          </p:cNvPr>
          <p:cNvPicPr>
            <a:picLocks noChangeAspect="1"/>
          </p:cNvPicPr>
          <p:nvPr/>
        </p:nvPicPr>
        <p:blipFill>
          <a:blip r:embed="rId3"/>
          <a:stretch>
            <a:fillRect/>
          </a:stretch>
        </p:blipFill>
        <p:spPr>
          <a:xfrm>
            <a:off x="3060544" y="1601524"/>
            <a:ext cx="6070912" cy="1828894"/>
          </a:xfrm>
          <a:prstGeom prst="rect">
            <a:avLst/>
          </a:prstGeom>
        </p:spPr>
      </p:pic>
      <p:pic>
        <p:nvPicPr>
          <p:cNvPr id="5" name="Рисунок 4">
            <a:extLst>
              <a:ext uri="{FF2B5EF4-FFF2-40B4-BE49-F238E27FC236}">
                <a16:creationId xmlns:a16="http://schemas.microsoft.com/office/drawing/2014/main" id="{20C26A5D-EBB0-44AD-B2C4-A33F652774EF}"/>
              </a:ext>
            </a:extLst>
          </p:cNvPr>
          <p:cNvPicPr>
            <a:picLocks noChangeAspect="1"/>
          </p:cNvPicPr>
          <p:nvPr/>
        </p:nvPicPr>
        <p:blipFill>
          <a:blip r:embed="rId4"/>
          <a:stretch>
            <a:fillRect/>
          </a:stretch>
        </p:blipFill>
        <p:spPr>
          <a:xfrm>
            <a:off x="1240797" y="4693333"/>
            <a:ext cx="9710406" cy="1126285"/>
          </a:xfrm>
          <a:prstGeom prst="rect">
            <a:avLst/>
          </a:prstGeom>
        </p:spPr>
      </p:pic>
      <p:pic>
        <p:nvPicPr>
          <p:cNvPr id="6" name="Рисунок 5">
            <a:extLst>
              <a:ext uri="{FF2B5EF4-FFF2-40B4-BE49-F238E27FC236}">
                <a16:creationId xmlns:a16="http://schemas.microsoft.com/office/drawing/2014/main" id="{57AAA72A-43BA-43A2-A235-75A2105E126B}"/>
              </a:ext>
            </a:extLst>
          </p:cNvPr>
          <p:cNvPicPr>
            <a:picLocks noChangeAspect="1"/>
          </p:cNvPicPr>
          <p:nvPr/>
        </p:nvPicPr>
        <p:blipFill>
          <a:blip r:embed="rId5"/>
          <a:stretch>
            <a:fillRect/>
          </a:stretch>
        </p:blipFill>
        <p:spPr>
          <a:xfrm>
            <a:off x="311087" y="3660559"/>
            <a:ext cx="11569825" cy="681470"/>
          </a:xfrm>
          <a:prstGeom prst="rect">
            <a:avLst/>
          </a:prstGeom>
        </p:spPr>
      </p:pic>
    </p:spTree>
    <p:extLst>
      <p:ext uri="{BB962C8B-B14F-4D97-AF65-F5344CB8AC3E}">
        <p14:creationId xmlns:p14="http://schemas.microsoft.com/office/powerpoint/2010/main" val="3791745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ru-RU" dirty="0"/>
              <a:t>Теги могут содержать атрибуты, меняющие параметры форматирования содержимого тега:</a:t>
            </a:r>
          </a:p>
          <a:p>
            <a:pPr indent="309563"/>
            <a:r>
              <a:rPr lang="ru-RU" dirty="0"/>
              <a:t>&lt;тег атрибут1="значение" атрибут2="значение"&gt;</a:t>
            </a:r>
          </a:p>
          <a:p>
            <a:pPr indent="309563"/>
            <a:r>
              <a:rPr lang="ru-RU" dirty="0"/>
              <a:t>&lt;тег атрибут1="значение" атрибут2="значение"&gt;...&lt;/тег&gt;</a:t>
            </a:r>
          </a:p>
          <a:p>
            <a:r>
              <a:rPr lang="ru-RU" dirty="0"/>
              <a:t>Парные теги также называют контейнерами</a:t>
            </a:r>
            <a:endParaRPr lang="en-US" dirty="0"/>
          </a:p>
          <a:p>
            <a:r>
              <a:rPr lang="ru-RU" dirty="0"/>
              <a:t>Порядок атрибутов не важен</a:t>
            </a:r>
          </a:p>
        </p:txBody>
      </p:sp>
    </p:spTree>
    <p:extLst>
      <p:ext uri="{BB962C8B-B14F-4D97-AF65-F5344CB8AC3E}">
        <p14:creationId xmlns:p14="http://schemas.microsoft.com/office/powerpoint/2010/main" val="1156696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normAutofit fontScale="92500" lnSpcReduction="20000"/>
          </a:bodyPr>
          <a:lstStyle/>
          <a:p>
            <a:pPr marL="0" indent="0">
              <a:buNone/>
            </a:pPr>
            <a:r>
              <a:rPr lang="en-US" dirty="0"/>
              <a:t>&lt;!doctype html&gt;</a:t>
            </a:r>
          </a:p>
          <a:p>
            <a:pPr marL="0" indent="0">
              <a:buNone/>
            </a:pPr>
            <a:r>
              <a:rPr lang="en-US" dirty="0"/>
              <a:t>&lt;html&gt;</a:t>
            </a:r>
          </a:p>
          <a:p>
            <a:pPr marL="0" indent="0">
              <a:buNone/>
            </a:pPr>
            <a:r>
              <a:rPr lang="en-US" dirty="0"/>
              <a:t>  &lt;head&gt;</a:t>
            </a:r>
          </a:p>
          <a:p>
            <a:pPr marL="0" indent="0">
              <a:buNone/>
            </a:pPr>
            <a:r>
              <a:rPr lang="en-US" dirty="0"/>
              <a:t>    &lt;meta charset="utf-8" /&gt;</a:t>
            </a:r>
          </a:p>
          <a:p>
            <a:pPr marL="0" indent="0">
              <a:buNone/>
            </a:pPr>
            <a:r>
              <a:rPr lang="en-US" dirty="0"/>
              <a:t>    &lt;title&gt;</a:t>
            </a:r>
            <a:r>
              <a:rPr lang="ru-RU" dirty="0"/>
              <a:t>Моя тестовая страница&lt;/</a:t>
            </a:r>
            <a:r>
              <a:rPr lang="en-US" dirty="0"/>
              <a:t>title&gt;</a:t>
            </a:r>
          </a:p>
          <a:p>
            <a:pPr marL="0" indent="0">
              <a:buNone/>
            </a:pPr>
            <a:r>
              <a:rPr lang="en-US" dirty="0"/>
              <a:t>  &lt;/head&gt;</a:t>
            </a:r>
          </a:p>
          <a:p>
            <a:pPr marL="0" indent="0">
              <a:buNone/>
            </a:pPr>
            <a:r>
              <a:rPr lang="en-US" dirty="0"/>
              <a:t>  &lt;body&gt;</a:t>
            </a:r>
          </a:p>
          <a:p>
            <a:pPr marL="0" indent="0">
              <a:buNone/>
            </a:pPr>
            <a:r>
              <a:rPr lang="en-US" dirty="0"/>
              <a:t>    &lt;img </a:t>
            </a:r>
            <a:r>
              <a:rPr lang="en-US" dirty="0" err="1"/>
              <a:t>src</a:t>
            </a:r>
            <a:r>
              <a:rPr lang="en-US" dirty="0"/>
              <a:t>="img/img.png" alt="</a:t>
            </a:r>
            <a:r>
              <a:rPr lang="ru-RU" dirty="0"/>
              <a:t>Изображение" /&gt;</a:t>
            </a:r>
          </a:p>
          <a:p>
            <a:pPr marL="0" indent="0">
              <a:buNone/>
            </a:pPr>
            <a:r>
              <a:rPr lang="ru-RU" dirty="0"/>
              <a:t>  &lt;/</a:t>
            </a:r>
            <a:r>
              <a:rPr lang="en-US" dirty="0"/>
              <a:t>body&gt;</a:t>
            </a:r>
          </a:p>
          <a:p>
            <a:pPr marL="0" indent="0">
              <a:buNone/>
            </a:pPr>
            <a:r>
              <a:rPr lang="en-US" dirty="0"/>
              <a:t>&lt;/html&gt;</a:t>
            </a:r>
            <a:endParaRPr lang="ru-RU" dirty="0"/>
          </a:p>
        </p:txBody>
      </p:sp>
    </p:spTree>
    <p:extLst>
      <p:ext uri="{BB962C8B-B14F-4D97-AF65-F5344CB8AC3E}">
        <p14:creationId xmlns:p14="http://schemas.microsoft.com/office/powerpoint/2010/main" val="1039092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&lt;!DOCTYPE html&gt;</a:t>
            </a:r>
            <a:r>
              <a:rPr lang="ru-RU" dirty="0"/>
              <a:t> - указание типа документа, требуется для корректной проверки ошибок валидатором или браузером</a:t>
            </a:r>
          </a:p>
          <a:p>
            <a:r>
              <a:rPr lang="ru-RU" dirty="0"/>
              <a:t>Если не указать, могут быть использованы устаревшие стандарты при проверке ошибок, для </a:t>
            </a:r>
            <a:r>
              <a:rPr lang="en-US" dirty="0"/>
              <a:t>html5</a:t>
            </a:r>
            <a:r>
              <a:rPr lang="ru-RU" dirty="0"/>
              <a:t> следует указывать этот тег</a:t>
            </a:r>
          </a:p>
          <a:p>
            <a:r>
              <a:rPr lang="ru-RU" dirty="0"/>
              <a:t>Документ отражается последовательной обработкой всех тегов по порядку</a:t>
            </a:r>
          </a:p>
        </p:txBody>
      </p:sp>
    </p:spTree>
    <p:extLst>
      <p:ext uri="{BB962C8B-B14F-4D97-AF65-F5344CB8AC3E}">
        <p14:creationId xmlns:p14="http://schemas.microsoft.com/office/powerpoint/2010/main" val="3651126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endParaRPr lang="ru-RU" dirty="0"/>
          </a:p>
        </p:txBody>
      </p:sp>
      <p:pic>
        <p:nvPicPr>
          <p:cNvPr id="5" name="Рисунок 4">
            <a:extLst>
              <a:ext uri="{FF2B5EF4-FFF2-40B4-BE49-F238E27FC236}">
                <a16:creationId xmlns:a16="http://schemas.microsoft.com/office/drawing/2014/main" id="{398C4980-2B11-421C-A654-DF766299A3EB}"/>
              </a:ext>
            </a:extLst>
          </p:cNvPr>
          <p:cNvPicPr>
            <a:picLocks noChangeAspect="1"/>
          </p:cNvPicPr>
          <p:nvPr/>
        </p:nvPicPr>
        <p:blipFill>
          <a:blip r:embed="rId3"/>
          <a:stretch>
            <a:fillRect/>
          </a:stretch>
        </p:blipFill>
        <p:spPr>
          <a:xfrm>
            <a:off x="838200" y="2062491"/>
            <a:ext cx="10668386" cy="3877605"/>
          </a:xfrm>
          <a:prstGeom prst="rect">
            <a:avLst/>
          </a:prstGeom>
        </p:spPr>
      </p:pic>
    </p:spTree>
    <p:extLst>
      <p:ext uri="{BB962C8B-B14F-4D97-AF65-F5344CB8AC3E}">
        <p14:creationId xmlns:p14="http://schemas.microsoft.com/office/powerpoint/2010/main" val="3124680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ru-RU" dirty="0"/>
              <a:t>&lt;</a:t>
            </a:r>
            <a:r>
              <a:rPr lang="ru-RU" dirty="0" err="1"/>
              <a:t>html</a:t>
            </a:r>
            <a:r>
              <a:rPr lang="ru-RU" dirty="0"/>
              <a:t>&gt;&lt;/</a:t>
            </a:r>
            <a:r>
              <a:rPr lang="ru-RU" dirty="0" err="1"/>
              <a:t>html</a:t>
            </a:r>
            <a:r>
              <a:rPr lang="ru-RU" dirty="0"/>
              <a:t>&gt; - корневой элемент страницы </a:t>
            </a:r>
            <a:r>
              <a:rPr lang="ru-RU" dirty="0" err="1"/>
              <a:t>html</a:t>
            </a:r>
            <a:r>
              <a:rPr lang="en-US" dirty="0"/>
              <a:t>,</a:t>
            </a:r>
            <a:r>
              <a:rPr lang="ru-RU" dirty="0"/>
              <a:t> все прочие теги и весь контент должен располагаться в нем</a:t>
            </a:r>
          </a:p>
        </p:txBody>
      </p:sp>
    </p:spTree>
    <p:extLst>
      <p:ext uri="{BB962C8B-B14F-4D97-AF65-F5344CB8AC3E}">
        <p14:creationId xmlns:p14="http://schemas.microsoft.com/office/powerpoint/2010/main" val="2857957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&lt;head&gt;&lt;/head&gt;</a:t>
            </a:r>
            <a:r>
              <a:rPr lang="ru-RU" dirty="0"/>
              <a:t> - контейнер для содержимого веб-документа, не являющегося контентом – скрипты, заголовок страницы на вкладке в браузере, ключевые слова и описание страницы, стили </a:t>
            </a:r>
            <a:r>
              <a:rPr lang="en-US" dirty="0"/>
              <a:t>CSS </a:t>
            </a:r>
            <a:r>
              <a:rPr lang="ru-RU" dirty="0"/>
              <a:t>и др.</a:t>
            </a:r>
          </a:p>
        </p:txBody>
      </p:sp>
    </p:spTree>
    <p:extLst>
      <p:ext uri="{BB962C8B-B14F-4D97-AF65-F5344CB8AC3E}">
        <p14:creationId xmlns:p14="http://schemas.microsoft.com/office/powerpoint/2010/main" val="1318076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&lt;meta charset="utf-8"&gt;</a:t>
            </a:r>
            <a:r>
              <a:rPr lang="ru-RU" dirty="0"/>
              <a:t> - </a:t>
            </a:r>
            <a:r>
              <a:rPr lang="ru-RU" dirty="0" err="1"/>
              <a:t>метатег</a:t>
            </a:r>
            <a:r>
              <a:rPr lang="ru-RU" dirty="0"/>
              <a:t>, используется для передачи сведений браузеру информации обо всем документе (тип документа, ключевые слова, заголовки, …), в данном примере – кодировку текста</a:t>
            </a:r>
          </a:p>
          <a:p>
            <a:endParaRPr lang="en-US" dirty="0"/>
          </a:p>
          <a:p>
            <a:r>
              <a:rPr lang="en-US" i="1" dirty="0"/>
              <a:t>&lt;meta name="keywords" content=“</a:t>
            </a:r>
            <a:r>
              <a:rPr lang="en-US" i="1" dirty="0" err="1"/>
              <a:t>duckduckgo</a:t>
            </a:r>
            <a:r>
              <a:rPr lang="ru-RU" i="1" dirty="0"/>
              <a:t>, поисковая система" /&gt;</a:t>
            </a:r>
          </a:p>
        </p:txBody>
      </p:sp>
    </p:spTree>
    <p:extLst>
      <p:ext uri="{BB962C8B-B14F-4D97-AF65-F5344CB8AC3E}">
        <p14:creationId xmlns:p14="http://schemas.microsoft.com/office/powerpoint/2010/main" val="3115793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&lt;title&gt;&lt;/title&gt; -</a:t>
            </a:r>
            <a:r>
              <a:rPr lang="ru-RU" dirty="0"/>
              <a:t> заголовок страницы, отображается как </a:t>
            </a:r>
            <a:r>
              <a:rPr lang="ru-RU" dirty="0" err="1"/>
              <a:t>загловок</a:t>
            </a:r>
            <a:r>
              <a:rPr lang="ru-RU" dirty="0"/>
              <a:t> вкладки в браузере, при сохранении страницы в закладки и т.п.</a:t>
            </a:r>
            <a:endParaRPr lang="ru-RU" i="1" dirty="0"/>
          </a:p>
        </p:txBody>
      </p:sp>
    </p:spTree>
    <p:extLst>
      <p:ext uri="{BB962C8B-B14F-4D97-AF65-F5344CB8AC3E}">
        <p14:creationId xmlns:p14="http://schemas.microsoft.com/office/powerpoint/2010/main" val="3642679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&lt;body&gt;&lt;/body&gt; - </a:t>
            </a:r>
            <a:r>
              <a:rPr lang="ru-RU" dirty="0"/>
              <a:t>основное содержимое страницы – текст, медиафайлы, таблицы, скрипты и т.д.</a:t>
            </a:r>
          </a:p>
        </p:txBody>
      </p:sp>
    </p:spTree>
    <p:extLst>
      <p:ext uri="{BB962C8B-B14F-4D97-AF65-F5344CB8AC3E}">
        <p14:creationId xmlns:p14="http://schemas.microsoft.com/office/powerpoint/2010/main" val="4207767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endParaRPr lang="ru-RU" dirty="0"/>
          </a:p>
        </p:txBody>
      </p:sp>
      <p:pic>
        <p:nvPicPr>
          <p:cNvPr id="2050" name="Picture 2" descr="Подключаем скрипты правильно">
            <a:extLst>
              <a:ext uri="{FF2B5EF4-FFF2-40B4-BE49-F238E27FC236}">
                <a16:creationId xmlns:a16="http://schemas.microsoft.com/office/drawing/2014/main" id="{E74C77BF-16E7-4E92-B2FB-21F7333B1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982" y="1415875"/>
            <a:ext cx="8575964" cy="268892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Подключаем скрипты правильно">
            <a:extLst>
              <a:ext uri="{FF2B5EF4-FFF2-40B4-BE49-F238E27FC236}">
                <a16:creationId xmlns:a16="http://schemas.microsoft.com/office/drawing/2014/main" id="{2580B73A-770D-4EF0-94AC-27EEBFED12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9981" y="3675689"/>
            <a:ext cx="8575964" cy="3077521"/>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скругленные углы 3">
            <a:extLst>
              <a:ext uri="{FF2B5EF4-FFF2-40B4-BE49-F238E27FC236}">
                <a16:creationId xmlns:a16="http://schemas.microsoft.com/office/drawing/2014/main" id="{E3C0D6CB-84F4-446C-9830-92B06EC97738}"/>
              </a:ext>
            </a:extLst>
          </p:cNvPr>
          <p:cNvSpPr/>
          <p:nvPr/>
        </p:nvSpPr>
        <p:spPr>
          <a:xfrm>
            <a:off x="9885218" y="2008910"/>
            <a:ext cx="1385455" cy="10945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скрипт в </a:t>
            </a:r>
            <a:r>
              <a:rPr lang="en-US" dirty="0"/>
              <a:t>head</a:t>
            </a:r>
            <a:endParaRPr lang="ru-RU" dirty="0"/>
          </a:p>
        </p:txBody>
      </p:sp>
      <p:sp>
        <p:nvSpPr>
          <p:cNvPr id="7" name="Прямоугольник: скругленные углы 6">
            <a:extLst>
              <a:ext uri="{FF2B5EF4-FFF2-40B4-BE49-F238E27FC236}">
                <a16:creationId xmlns:a16="http://schemas.microsoft.com/office/drawing/2014/main" id="{1E639201-38E2-49D6-BD1C-090871B1EF11}"/>
              </a:ext>
            </a:extLst>
          </p:cNvPr>
          <p:cNvSpPr/>
          <p:nvPr/>
        </p:nvSpPr>
        <p:spPr>
          <a:xfrm>
            <a:off x="9885218" y="4667194"/>
            <a:ext cx="1385455" cy="10945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скрипт в </a:t>
            </a:r>
            <a:r>
              <a:rPr lang="en-US" dirty="0"/>
              <a:t>body</a:t>
            </a:r>
            <a:endParaRPr lang="ru-RU" dirty="0"/>
          </a:p>
        </p:txBody>
      </p:sp>
      <p:sp>
        <p:nvSpPr>
          <p:cNvPr id="6" name="Прямоугольник: скругленные углы 5">
            <a:extLst>
              <a:ext uri="{FF2B5EF4-FFF2-40B4-BE49-F238E27FC236}">
                <a16:creationId xmlns:a16="http://schemas.microsoft.com/office/drawing/2014/main" id="{08384DD1-DB63-4BA3-9897-57D5B7721418}"/>
              </a:ext>
            </a:extLst>
          </p:cNvPr>
          <p:cNvSpPr/>
          <p:nvPr/>
        </p:nvSpPr>
        <p:spPr>
          <a:xfrm>
            <a:off x="1066800" y="1415875"/>
            <a:ext cx="10515600" cy="2504962"/>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скругленные углы 8">
            <a:extLst>
              <a:ext uri="{FF2B5EF4-FFF2-40B4-BE49-F238E27FC236}">
                <a16:creationId xmlns:a16="http://schemas.microsoft.com/office/drawing/2014/main" id="{6B9E045D-3347-473C-96C7-36233674DED3}"/>
              </a:ext>
            </a:extLst>
          </p:cNvPr>
          <p:cNvSpPr/>
          <p:nvPr/>
        </p:nvSpPr>
        <p:spPr>
          <a:xfrm>
            <a:off x="1066800" y="3953198"/>
            <a:ext cx="10515600" cy="2800012"/>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718855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ru-RU" dirty="0"/>
              <a:t>Теги скриптов в большинстве случаев рекомендуют размещать в конце </a:t>
            </a:r>
            <a:r>
              <a:rPr lang="en-US" dirty="0"/>
              <a:t>body</a:t>
            </a:r>
            <a:r>
              <a:rPr lang="ru-RU" dirty="0"/>
              <a:t>, чтобы браузер обрабатывал их после того, как вывел основной контент страницы и пользователь получил доступ к нему как можно быстрее, пока в фоне подгружаются скрипты</a:t>
            </a:r>
          </a:p>
          <a:p>
            <a:r>
              <a:rPr lang="ru-RU" dirty="0"/>
              <a:t>Если скрипты легковесны и существенно влияют на оформление страницы – стоит размещать их теги в </a:t>
            </a:r>
            <a:r>
              <a:rPr lang="en-US" dirty="0"/>
              <a:t>head, </a:t>
            </a:r>
            <a:r>
              <a:rPr lang="ru-RU" dirty="0"/>
              <a:t>но необходимо проверить скорость загрузки перед публикацией</a:t>
            </a:r>
          </a:p>
        </p:txBody>
      </p:sp>
    </p:spTree>
    <p:extLst>
      <p:ext uri="{BB962C8B-B14F-4D97-AF65-F5344CB8AC3E}">
        <p14:creationId xmlns:p14="http://schemas.microsoft.com/office/powerpoint/2010/main" val="2819219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&lt;img </a:t>
            </a:r>
            <a:r>
              <a:rPr lang="en-US" dirty="0" err="1"/>
              <a:t>src</a:t>
            </a:r>
            <a:r>
              <a:rPr lang="en-US" dirty="0"/>
              <a:t>="img/img.png" alt="</a:t>
            </a:r>
            <a:r>
              <a:rPr lang="ru-RU" dirty="0"/>
              <a:t>Изображение" /&gt;</a:t>
            </a:r>
            <a:r>
              <a:rPr lang="en-US" dirty="0"/>
              <a:t> - </a:t>
            </a:r>
            <a:r>
              <a:rPr lang="ru-RU" dirty="0"/>
              <a:t>добавляет на страницу изображение</a:t>
            </a:r>
            <a:r>
              <a:rPr lang="en-US" dirty="0"/>
              <a:t>.</a:t>
            </a:r>
          </a:p>
          <a:p>
            <a:r>
              <a:rPr lang="ru-RU" dirty="0"/>
              <a:t>Атрибуты:</a:t>
            </a:r>
          </a:p>
          <a:p>
            <a:pPr indent="311150"/>
            <a:r>
              <a:rPr lang="en-US" dirty="0" err="1"/>
              <a:t>src</a:t>
            </a:r>
            <a:r>
              <a:rPr lang="en-US" dirty="0"/>
              <a:t> – </a:t>
            </a:r>
            <a:r>
              <a:rPr lang="ru-RU" dirty="0"/>
              <a:t>путь к файлу</a:t>
            </a:r>
          </a:p>
          <a:p>
            <a:pPr indent="311150"/>
            <a:r>
              <a:rPr lang="en-US" dirty="0"/>
              <a:t>alt – </a:t>
            </a:r>
            <a:r>
              <a:rPr lang="ru-RU" dirty="0"/>
              <a:t>текст, отображаемый вместо изображения, если файл недоступен или включен режим для слабовидящих и т.п.</a:t>
            </a:r>
            <a:endParaRPr lang="en-US" dirty="0"/>
          </a:p>
          <a:p>
            <a:pPr indent="311150"/>
            <a:r>
              <a:rPr lang="en-US" dirty="0"/>
              <a:t>title –</a:t>
            </a:r>
            <a:r>
              <a:rPr lang="ru-RU" dirty="0"/>
              <a:t> текст, отображаемый при наведении мышью на изображение</a:t>
            </a:r>
          </a:p>
        </p:txBody>
      </p:sp>
    </p:spTree>
    <p:extLst>
      <p:ext uri="{BB962C8B-B14F-4D97-AF65-F5344CB8AC3E}">
        <p14:creationId xmlns:p14="http://schemas.microsoft.com/office/powerpoint/2010/main" val="2361916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normAutofit lnSpcReduction="10000"/>
          </a:bodyPr>
          <a:lstStyle/>
          <a:p>
            <a:r>
              <a:rPr lang="en-US" dirty="0"/>
              <a:t>height="10" – </a:t>
            </a:r>
            <a:r>
              <a:rPr lang="ru-RU" dirty="0"/>
              <a:t>высота изображения в пикселах</a:t>
            </a:r>
          </a:p>
          <a:p>
            <a:r>
              <a:rPr lang="en-US" dirty="0"/>
              <a:t>width="10" – </a:t>
            </a:r>
            <a:r>
              <a:rPr lang="ru-RU" dirty="0"/>
              <a:t>ширина изображения в пикселах</a:t>
            </a:r>
          </a:p>
          <a:p>
            <a:r>
              <a:rPr lang="ru-RU" dirty="0"/>
              <a:t>Если указана только </a:t>
            </a:r>
            <a:r>
              <a:rPr lang="en-US" dirty="0"/>
              <a:t>height/width –</a:t>
            </a:r>
            <a:r>
              <a:rPr lang="ru-RU" dirty="0"/>
              <a:t> второй из параметров берется таким, чтобы сохранить исходные пропорции изображения</a:t>
            </a:r>
          </a:p>
          <a:p>
            <a:r>
              <a:rPr lang="en-US" dirty="0"/>
              <a:t>decoding</a:t>
            </a:r>
            <a:r>
              <a:rPr lang="ru-RU" dirty="0"/>
              <a:t>=</a:t>
            </a:r>
            <a:r>
              <a:rPr lang="en-US" dirty="0"/>
              <a:t>"</a:t>
            </a:r>
            <a:r>
              <a:rPr lang="ru-RU" dirty="0"/>
              <a:t>тип</a:t>
            </a:r>
            <a:r>
              <a:rPr lang="en-US" dirty="0"/>
              <a:t>"</a:t>
            </a:r>
            <a:r>
              <a:rPr lang="ru-RU" dirty="0"/>
              <a:t> – декодирование разных типов: </a:t>
            </a:r>
            <a:r>
              <a:rPr lang="en-US" dirty="0"/>
              <a:t>sync – </a:t>
            </a:r>
            <a:r>
              <a:rPr lang="ru-RU" dirty="0"/>
              <a:t>синхронно с загрузкой остального контента, </a:t>
            </a:r>
            <a:r>
              <a:rPr lang="en-US" dirty="0"/>
              <a:t>async – </a:t>
            </a:r>
            <a:r>
              <a:rPr lang="ru-RU" dirty="0"/>
              <a:t>асинхронно (в фоне параллельно другим элементам), </a:t>
            </a:r>
            <a:r>
              <a:rPr lang="en-US" dirty="0"/>
              <a:t>auto </a:t>
            </a:r>
            <a:r>
              <a:rPr lang="ru-RU" dirty="0"/>
              <a:t>– решает браузер</a:t>
            </a:r>
          </a:p>
          <a:p>
            <a:r>
              <a:rPr lang="en-US" dirty="0"/>
              <a:t>loading</a:t>
            </a:r>
            <a:r>
              <a:rPr lang="ru-RU" dirty="0"/>
              <a:t>=</a:t>
            </a:r>
            <a:r>
              <a:rPr lang="en-US" dirty="0"/>
              <a:t>"</a:t>
            </a:r>
            <a:r>
              <a:rPr lang="ru-RU" dirty="0"/>
              <a:t>тип</a:t>
            </a:r>
            <a:r>
              <a:rPr lang="en-US" dirty="0"/>
              <a:t>" – </a:t>
            </a:r>
            <a:r>
              <a:rPr lang="ru-RU" dirty="0"/>
              <a:t>загрузка, если тип </a:t>
            </a:r>
            <a:r>
              <a:rPr lang="en-US" dirty="0"/>
              <a:t>eager – </a:t>
            </a:r>
            <a:r>
              <a:rPr lang="ru-RU" dirty="0"/>
              <a:t>сразу же, независимо от того, в области ли оно просмотра, </a:t>
            </a:r>
            <a:r>
              <a:rPr lang="en-US" dirty="0"/>
              <a:t>lazy – </a:t>
            </a:r>
            <a:r>
              <a:rPr lang="ru-RU" dirty="0"/>
              <a:t>при приближении области просмотра к изображению</a:t>
            </a:r>
          </a:p>
          <a:p>
            <a:endParaRPr lang="ru-RU" dirty="0"/>
          </a:p>
        </p:txBody>
      </p:sp>
    </p:spTree>
    <p:extLst>
      <p:ext uri="{BB962C8B-B14F-4D97-AF65-F5344CB8AC3E}">
        <p14:creationId xmlns:p14="http://schemas.microsoft.com/office/powerpoint/2010/main" val="3434255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ru-RU" dirty="0"/>
              <a:t>&lt;h1&gt;Главный заголовок&lt;/h1&gt;</a:t>
            </a:r>
          </a:p>
          <a:p>
            <a:r>
              <a:rPr lang="ru-RU" dirty="0"/>
              <a:t>&lt;h2&gt;Заголовок верхнего уровня&lt;/h2&gt;</a:t>
            </a:r>
          </a:p>
          <a:p>
            <a:r>
              <a:rPr lang="ru-RU" dirty="0"/>
              <a:t>&lt;h3&gt;Подзаголовок&lt;/h3&gt;</a:t>
            </a:r>
          </a:p>
          <a:p>
            <a:r>
              <a:rPr lang="ru-RU" dirty="0"/>
              <a:t>&lt;h4&gt;Под-подзаголовок&lt;/h4&gt;</a:t>
            </a:r>
          </a:p>
          <a:p>
            <a:r>
              <a:rPr lang="ru-RU" dirty="0"/>
              <a:t>Доступны 6 уровней заголовков, рекомендуется использовать не более 4</a:t>
            </a:r>
            <a:endParaRPr lang="en-US" dirty="0"/>
          </a:p>
          <a:p>
            <a:r>
              <a:rPr lang="ru-RU" dirty="0"/>
              <a:t>Браузер способен отобразить страницу с отдельными тегами, даже без </a:t>
            </a:r>
            <a:r>
              <a:rPr lang="en-US" dirty="0"/>
              <a:t>html, body</a:t>
            </a:r>
            <a:r>
              <a:rPr lang="ru-RU" dirty="0"/>
              <a:t> (как 4 строки выше), в этом случае браузер сам исправляет ошибку, подставляя эти теги при рендере</a:t>
            </a:r>
          </a:p>
        </p:txBody>
      </p:sp>
      <p:pic>
        <p:nvPicPr>
          <p:cNvPr id="5" name="Рисунок 4">
            <a:extLst>
              <a:ext uri="{FF2B5EF4-FFF2-40B4-BE49-F238E27FC236}">
                <a16:creationId xmlns:a16="http://schemas.microsoft.com/office/drawing/2014/main" id="{9B47A650-014A-408D-860A-804A6D33E38B}"/>
              </a:ext>
            </a:extLst>
          </p:cNvPr>
          <p:cNvPicPr>
            <a:picLocks noChangeAspect="1"/>
          </p:cNvPicPr>
          <p:nvPr/>
        </p:nvPicPr>
        <p:blipFill>
          <a:blip r:embed="rId3"/>
          <a:stretch>
            <a:fillRect/>
          </a:stretch>
        </p:blipFill>
        <p:spPr>
          <a:xfrm>
            <a:off x="7355532" y="681037"/>
            <a:ext cx="4628651" cy="2664391"/>
          </a:xfrm>
          <a:prstGeom prst="rect">
            <a:avLst/>
          </a:prstGeom>
        </p:spPr>
      </p:pic>
    </p:spTree>
    <p:extLst>
      <p:ext uri="{BB962C8B-B14F-4D97-AF65-F5344CB8AC3E}">
        <p14:creationId xmlns:p14="http://schemas.microsoft.com/office/powerpoint/2010/main" val="829342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ru-RU" dirty="0"/>
              <a:t>&lt;p&gt;текст&lt;/p&gt; - одиночный абзац текста с переносом строки в конце</a:t>
            </a:r>
          </a:p>
          <a:p>
            <a:r>
              <a:rPr lang="en-US" dirty="0"/>
              <a:t>&lt;ul&gt;&lt;/ul&gt;</a:t>
            </a:r>
            <a:r>
              <a:rPr lang="ru-RU" dirty="0"/>
              <a:t> - ненумерованный список</a:t>
            </a:r>
            <a:endParaRPr lang="en-US" dirty="0"/>
          </a:p>
          <a:p>
            <a:r>
              <a:rPr lang="en-US" dirty="0"/>
              <a:t>&lt;</a:t>
            </a:r>
            <a:r>
              <a:rPr lang="en-US" dirty="0" err="1"/>
              <a:t>ol</a:t>
            </a:r>
            <a:r>
              <a:rPr lang="en-US" dirty="0"/>
              <a:t>&gt;&lt;/</a:t>
            </a:r>
            <a:r>
              <a:rPr lang="en-US" dirty="0" err="1"/>
              <a:t>ol</a:t>
            </a:r>
            <a:r>
              <a:rPr lang="en-US" dirty="0"/>
              <a:t>&gt; - </a:t>
            </a:r>
            <a:r>
              <a:rPr lang="ru-RU" dirty="0"/>
              <a:t>нумерованный список</a:t>
            </a:r>
          </a:p>
          <a:p>
            <a:r>
              <a:rPr lang="en-US" dirty="0"/>
              <a:t>&lt;li&gt;&lt;/li&gt; -</a:t>
            </a:r>
            <a:r>
              <a:rPr lang="ru-RU" dirty="0"/>
              <a:t> элементы списка, вложены в </a:t>
            </a:r>
            <a:r>
              <a:rPr lang="en-US" dirty="0"/>
              <a:t>&lt;ul&gt;</a:t>
            </a:r>
            <a:r>
              <a:rPr lang="ru-RU" dirty="0"/>
              <a:t> или </a:t>
            </a:r>
            <a:r>
              <a:rPr lang="en-US" dirty="0"/>
              <a:t>&lt;</a:t>
            </a:r>
            <a:r>
              <a:rPr lang="en-US" dirty="0" err="1"/>
              <a:t>ol</a:t>
            </a:r>
            <a:r>
              <a:rPr lang="en-US" dirty="0"/>
              <a:t>&gt;</a:t>
            </a:r>
            <a:endParaRPr lang="ru-RU" dirty="0"/>
          </a:p>
        </p:txBody>
      </p:sp>
      <p:pic>
        <p:nvPicPr>
          <p:cNvPr id="6" name="Рисунок 5">
            <a:extLst>
              <a:ext uri="{FF2B5EF4-FFF2-40B4-BE49-F238E27FC236}">
                <a16:creationId xmlns:a16="http://schemas.microsoft.com/office/drawing/2014/main" id="{08D47706-9795-43C1-9C90-4783FD380609}"/>
              </a:ext>
            </a:extLst>
          </p:cNvPr>
          <p:cNvPicPr>
            <a:picLocks noChangeAspect="1"/>
          </p:cNvPicPr>
          <p:nvPr/>
        </p:nvPicPr>
        <p:blipFill>
          <a:blip r:embed="rId3"/>
          <a:stretch>
            <a:fillRect/>
          </a:stretch>
        </p:blipFill>
        <p:spPr>
          <a:xfrm>
            <a:off x="2606931" y="4300766"/>
            <a:ext cx="2713215" cy="2469025"/>
          </a:xfrm>
          <a:prstGeom prst="rect">
            <a:avLst/>
          </a:prstGeom>
        </p:spPr>
      </p:pic>
      <p:pic>
        <p:nvPicPr>
          <p:cNvPr id="7" name="Рисунок 6">
            <a:extLst>
              <a:ext uri="{FF2B5EF4-FFF2-40B4-BE49-F238E27FC236}">
                <a16:creationId xmlns:a16="http://schemas.microsoft.com/office/drawing/2014/main" id="{9A34B5D0-6942-457A-B7D5-87A9482A6652}"/>
              </a:ext>
            </a:extLst>
          </p:cNvPr>
          <p:cNvPicPr>
            <a:picLocks noChangeAspect="1"/>
          </p:cNvPicPr>
          <p:nvPr/>
        </p:nvPicPr>
        <p:blipFill>
          <a:blip r:embed="rId4"/>
          <a:stretch>
            <a:fillRect/>
          </a:stretch>
        </p:blipFill>
        <p:spPr>
          <a:xfrm>
            <a:off x="6289576" y="4627418"/>
            <a:ext cx="1598602" cy="1995055"/>
          </a:xfrm>
          <a:prstGeom prst="rect">
            <a:avLst/>
          </a:prstGeom>
        </p:spPr>
      </p:pic>
    </p:spTree>
    <p:extLst>
      <p:ext uri="{BB962C8B-B14F-4D97-AF65-F5344CB8AC3E}">
        <p14:creationId xmlns:p14="http://schemas.microsoft.com/office/powerpoint/2010/main" val="3146691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ru-RU" dirty="0"/>
              <a:t>Теги для форматирования текста</a:t>
            </a:r>
          </a:p>
          <a:p>
            <a:r>
              <a:rPr lang="en-US" dirty="0"/>
              <a:t>&lt;</a:t>
            </a:r>
            <a:r>
              <a:rPr lang="en-US" dirty="0" err="1"/>
              <a:t>i</a:t>
            </a:r>
            <a:r>
              <a:rPr lang="en-US" dirty="0"/>
              <a:t>&gt;&lt;/</a:t>
            </a:r>
            <a:r>
              <a:rPr lang="en-US" dirty="0" err="1"/>
              <a:t>i</a:t>
            </a:r>
            <a:r>
              <a:rPr lang="en-US" dirty="0"/>
              <a:t>&gt; </a:t>
            </a:r>
            <a:r>
              <a:rPr lang="ru-RU" dirty="0"/>
              <a:t>- курсив</a:t>
            </a:r>
          </a:p>
          <a:p>
            <a:r>
              <a:rPr lang="en-US" dirty="0"/>
              <a:t>&lt;b&gt;&lt;/b&gt; -</a:t>
            </a:r>
            <a:r>
              <a:rPr lang="ru-RU" dirty="0"/>
              <a:t> полужирный</a:t>
            </a:r>
          </a:p>
        </p:txBody>
      </p:sp>
    </p:spTree>
    <p:extLst>
      <p:ext uri="{BB962C8B-B14F-4D97-AF65-F5344CB8AC3E}">
        <p14:creationId xmlns:p14="http://schemas.microsoft.com/office/powerpoint/2010/main" val="4049886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r>
              <a:rPr lang="en-US" dirty="0"/>
              <a:t>&lt;a </a:t>
            </a:r>
            <a:r>
              <a:rPr lang="en-US" dirty="0" err="1"/>
              <a:t>href</a:t>
            </a:r>
            <a:r>
              <a:rPr lang="en-US" dirty="0"/>
              <a:t>="</a:t>
            </a:r>
            <a:r>
              <a:rPr lang="ru-RU" dirty="0"/>
              <a:t>ссылка</a:t>
            </a:r>
            <a:r>
              <a:rPr lang="en-US" dirty="0"/>
              <a:t>“&gt;</a:t>
            </a:r>
            <a:r>
              <a:rPr lang="ru-RU" dirty="0"/>
              <a:t>текст ссылки</a:t>
            </a:r>
            <a:r>
              <a:rPr lang="en-US" dirty="0"/>
              <a:t>&lt;/a&gt;</a:t>
            </a:r>
            <a:r>
              <a:rPr lang="ru-RU" dirty="0"/>
              <a:t> - </a:t>
            </a:r>
            <a:r>
              <a:rPr lang="ru-RU" dirty="0" err="1"/>
              <a:t>кликабельная</a:t>
            </a:r>
            <a:r>
              <a:rPr lang="ru-RU" dirty="0"/>
              <a:t> гиперссылка по заключенному в контейнер тексту, аргумент </a:t>
            </a:r>
            <a:r>
              <a:rPr lang="en-US" dirty="0" err="1"/>
              <a:t>href</a:t>
            </a:r>
            <a:r>
              <a:rPr lang="en-US" dirty="0"/>
              <a:t> – </a:t>
            </a:r>
            <a:r>
              <a:rPr lang="ru-RU" dirty="0"/>
              <a:t>ссылка</a:t>
            </a:r>
          </a:p>
        </p:txBody>
      </p:sp>
    </p:spTree>
    <p:extLst>
      <p:ext uri="{BB962C8B-B14F-4D97-AF65-F5344CB8AC3E}">
        <p14:creationId xmlns:p14="http://schemas.microsoft.com/office/powerpoint/2010/main" val="25896835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3" name="Объект 2">
            <a:extLst>
              <a:ext uri="{FF2B5EF4-FFF2-40B4-BE49-F238E27FC236}">
                <a16:creationId xmlns:a16="http://schemas.microsoft.com/office/drawing/2014/main" id="{2AD70362-26E7-4E2D-9E66-4B16D9F11DF0}"/>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51D49162-B176-4B2F-8F24-0C436A7F9F75}"/>
              </a:ext>
            </a:extLst>
          </p:cNvPr>
          <p:cNvPicPr>
            <a:picLocks noChangeAspect="1"/>
          </p:cNvPicPr>
          <p:nvPr/>
        </p:nvPicPr>
        <p:blipFill>
          <a:blip r:embed="rId3"/>
          <a:stretch>
            <a:fillRect/>
          </a:stretch>
        </p:blipFill>
        <p:spPr>
          <a:xfrm>
            <a:off x="2363958" y="1601823"/>
            <a:ext cx="7464084" cy="543502"/>
          </a:xfrm>
          <a:prstGeom prst="rect">
            <a:avLst/>
          </a:prstGeom>
        </p:spPr>
      </p:pic>
      <p:pic>
        <p:nvPicPr>
          <p:cNvPr id="5" name="Рисунок 4">
            <a:extLst>
              <a:ext uri="{FF2B5EF4-FFF2-40B4-BE49-F238E27FC236}">
                <a16:creationId xmlns:a16="http://schemas.microsoft.com/office/drawing/2014/main" id="{D1328B87-F4BB-48C7-AFC0-7B3835E08B15}"/>
              </a:ext>
            </a:extLst>
          </p:cNvPr>
          <p:cNvPicPr>
            <a:picLocks noChangeAspect="1"/>
          </p:cNvPicPr>
          <p:nvPr/>
        </p:nvPicPr>
        <p:blipFill>
          <a:blip r:embed="rId4"/>
          <a:stretch>
            <a:fillRect/>
          </a:stretch>
        </p:blipFill>
        <p:spPr>
          <a:xfrm>
            <a:off x="3906032" y="2337615"/>
            <a:ext cx="4704964" cy="1263078"/>
          </a:xfrm>
          <a:prstGeom prst="rect">
            <a:avLst/>
          </a:prstGeom>
        </p:spPr>
      </p:pic>
      <p:pic>
        <p:nvPicPr>
          <p:cNvPr id="6" name="Рисунок 5">
            <a:extLst>
              <a:ext uri="{FF2B5EF4-FFF2-40B4-BE49-F238E27FC236}">
                <a16:creationId xmlns:a16="http://schemas.microsoft.com/office/drawing/2014/main" id="{3D7A4179-A987-43B0-B8BE-EEE0F3280A73}"/>
              </a:ext>
            </a:extLst>
          </p:cNvPr>
          <p:cNvPicPr>
            <a:picLocks noChangeAspect="1"/>
          </p:cNvPicPr>
          <p:nvPr/>
        </p:nvPicPr>
        <p:blipFill>
          <a:blip r:embed="rId5"/>
          <a:stretch>
            <a:fillRect/>
          </a:stretch>
        </p:blipFill>
        <p:spPr>
          <a:xfrm>
            <a:off x="3191424" y="3152262"/>
            <a:ext cx="5809151" cy="3120828"/>
          </a:xfrm>
          <a:prstGeom prst="rect">
            <a:avLst/>
          </a:prstGeom>
        </p:spPr>
      </p:pic>
    </p:spTree>
    <p:extLst>
      <p:ext uri="{BB962C8B-B14F-4D97-AF65-F5344CB8AC3E}">
        <p14:creationId xmlns:p14="http://schemas.microsoft.com/office/powerpoint/2010/main" val="4199547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pic>
        <p:nvPicPr>
          <p:cNvPr id="8" name="Объект 7">
            <a:extLst>
              <a:ext uri="{FF2B5EF4-FFF2-40B4-BE49-F238E27FC236}">
                <a16:creationId xmlns:a16="http://schemas.microsoft.com/office/drawing/2014/main" id="{5F599061-7C35-4AF2-B081-E9EBE3EAD7CD}"/>
              </a:ext>
            </a:extLst>
          </p:cNvPr>
          <p:cNvPicPr>
            <a:picLocks noGrp="1" noChangeAspect="1"/>
          </p:cNvPicPr>
          <p:nvPr>
            <p:ph idx="1"/>
          </p:nvPr>
        </p:nvPicPr>
        <p:blipFill>
          <a:blip r:embed="rId3"/>
          <a:stretch>
            <a:fillRect/>
          </a:stretch>
        </p:blipFill>
        <p:spPr>
          <a:xfrm>
            <a:off x="3699759" y="4568837"/>
            <a:ext cx="5542109" cy="2272456"/>
          </a:xfrm>
          <a:prstGeom prst="rect">
            <a:avLst/>
          </a:prstGeom>
        </p:spPr>
      </p:pic>
      <p:pic>
        <p:nvPicPr>
          <p:cNvPr id="4" name="Рисунок 3">
            <a:extLst>
              <a:ext uri="{FF2B5EF4-FFF2-40B4-BE49-F238E27FC236}">
                <a16:creationId xmlns:a16="http://schemas.microsoft.com/office/drawing/2014/main" id="{51D49162-B176-4B2F-8F24-0C436A7F9F75}"/>
              </a:ext>
            </a:extLst>
          </p:cNvPr>
          <p:cNvPicPr>
            <a:picLocks noChangeAspect="1"/>
          </p:cNvPicPr>
          <p:nvPr/>
        </p:nvPicPr>
        <p:blipFill>
          <a:blip r:embed="rId4"/>
          <a:stretch>
            <a:fillRect/>
          </a:stretch>
        </p:blipFill>
        <p:spPr>
          <a:xfrm>
            <a:off x="2363958" y="1601823"/>
            <a:ext cx="7464084" cy="543502"/>
          </a:xfrm>
          <a:prstGeom prst="rect">
            <a:avLst/>
          </a:prstGeom>
        </p:spPr>
      </p:pic>
      <p:pic>
        <p:nvPicPr>
          <p:cNvPr id="7" name="Рисунок 6">
            <a:extLst>
              <a:ext uri="{FF2B5EF4-FFF2-40B4-BE49-F238E27FC236}">
                <a16:creationId xmlns:a16="http://schemas.microsoft.com/office/drawing/2014/main" id="{F071BCCE-B91E-4463-AD72-AFB89F2BB9DE}"/>
              </a:ext>
            </a:extLst>
          </p:cNvPr>
          <p:cNvPicPr>
            <a:picLocks noChangeAspect="1"/>
          </p:cNvPicPr>
          <p:nvPr/>
        </p:nvPicPr>
        <p:blipFill>
          <a:blip r:embed="rId5"/>
          <a:stretch>
            <a:fillRect/>
          </a:stretch>
        </p:blipFill>
        <p:spPr>
          <a:xfrm>
            <a:off x="4845721" y="3705492"/>
            <a:ext cx="2825586" cy="758546"/>
          </a:xfrm>
          <a:prstGeom prst="rect">
            <a:avLst/>
          </a:prstGeom>
        </p:spPr>
      </p:pic>
      <p:pic>
        <p:nvPicPr>
          <p:cNvPr id="9" name="Рисунок 8">
            <a:extLst>
              <a:ext uri="{FF2B5EF4-FFF2-40B4-BE49-F238E27FC236}">
                <a16:creationId xmlns:a16="http://schemas.microsoft.com/office/drawing/2014/main" id="{6C2CC337-DC05-49FA-9F9C-E6E727021E45}"/>
              </a:ext>
            </a:extLst>
          </p:cNvPr>
          <p:cNvPicPr>
            <a:picLocks noChangeAspect="1"/>
          </p:cNvPicPr>
          <p:nvPr/>
        </p:nvPicPr>
        <p:blipFill>
          <a:blip r:embed="rId6"/>
          <a:stretch>
            <a:fillRect/>
          </a:stretch>
        </p:blipFill>
        <p:spPr>
          <a:xfrm>
            <a:off x="3906032" y="2337615"/>
            <a:ext cx="4704964" cy="1263078"/>
          </a:xfrm>
          <a:prstGeom prst="rect">
            <a:avLst/>
          </a:prstGeom>
        </p:spPr>
      </p:pic>
    </p:spTree>
    <p:extLst>
      <p:ext uri="{BB962C8B-B14F-4D97-AF65-F5344CB8AC3E}">
        <p14:creationId xmlns:p14="http://schemas.microsoft.com/office/powerpoint/2010/main" val="4018671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pic>
        <p:nvPicPr>
          <p:cNvPr id="8" name="Объект 7">
            <a:extLst>
              <a:ext uri="{FF2B5EF4-FFF2-40B4-BE49-F238E27FC236}">
                <a16:creationId xmlns:a16="http://schemas.microsoft.com/office/drawing/2014/main" id="{66721BAC-257E-487F-8A17-4F9617A861AF}"/>
              </a:ext>
            </a:extLst>
          </p:cNvPr>
          <p:cNvPicPr>
            <a:picLocks noGrp="1" noChangeAspect="1"/>
          </p:cNvPicPr>
          <p:nvPr>
            <p:ph idx="1"/>
          </p:nvPr>
        </p:nvPicPr>
        <p:blipFill>
          <a:blip r:embed="rId3"/>
          <a:stretch>
            <a:fillRect/>
          </a:stretch>
        </p:blipFill>
        <p:spPr>
          <a:xfrm>
            <a:off x="3669477" y="3677396"/>
            <a:ext cx="4563770" cy="2902806"/>
          </a:xfrm>
          <a:prstGeom prst="rect">
            <a:avLst/>
          </a:prstGeom>
        </p:spPr>
      </p:pic>
      <p:pic>
        <p:nvPicPr>
          <p:cNvPr id="5" name="Рисунок 4">
            <a:extLst>
              <a:ext uri="{FF2B5EF4-FFF2-40B4-BE49-F238E27FC236}">
                <a16:creationId xmlns:a16="http://schemas.microsoft.com/office/drawing/2014/main" id="{D1328B87-F4BB-48C7-AFC0-7B3835E08B15}"/>
              </a:ext>
            </a:extLst>
          </p:cNvPr>
          <p:cNvPicPr>
            <a:picLocks noChangeAspect="1"/>
          </p:cNvPicPr>
          <p:nvPr/>
        </p:nvPicPr>
        <p:blipFill>
          <a:blip r:embed="rId4"/>
          <a:stretch>
            <a:fillRect/>
          </a:stretch>
        </p:blipFill>
        <p:spPr>
          <a:xfrm>
            <a:off x="3906032" y="2337615"/>
            <a:ext cx="4704964" cy="1263078"/>
          </a:xfrm>
          <a:prstGeom prst="rect">
            <a:avLst/>
          </a:prstGeom>
        </p:spPr>
      </p:pic>
      <p:pic>
        <p:nvPicPr>
          <p:cNvPr id="7" name="Рисунок 6">
            <a:extLst>
              <a:ext uri="{FF2B5EF4-FFF2-40B4-BE49-F238E27FC236}">
                <a16:creationId xmlns:a16="http://schemas.microsoft.com/office/drawing/2014/main" id="{BFB21E07-23F5-4170-9700-2B8772DB9241}"/>
              </a:ext>
            </a:extLst>
          </p:cNvPr>
          <p:cNvPicPr>
            <a:picLocks noChangeAspect="1"/>
          </p:cNvPicPr>
          <p:nvPr/>
        </p:nvPicPr>
        <p:blipFill>
          <a:blip r:embed="rId5"/>
          <a:stretch>
            <a:fillRect/>
          </a:stretch>
        </p:blipFill>
        <p:spPr>
          <a:xfrm>
            <a:off x="2306816" y="1665022"/>
            <a:ext cx="7903395" cy="595890"/>
          </a:xfrm>
          <a:prstGeom prst="rect">
            <a:avLst/>
          </a:prstGeom>
        </p:spPr>
      </p:pic>
    </p:spTree>
    <p:extLst>
      <p:ext uri="{BB962C8B-B14F-4D97-AF65-F5344CB8AC3E}">
        <p14:creationId xmlns:p14="http://schemas.microsoft.com/office/powerpoint/2010/main" val="2685824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ru-RU" dirty="0"/>
              <a:t>При указании ссылки нужно указывать протокол в ее начале (</a:t>
            </a:r>
            <a:r>
              <a:rPr lang="en-US" dirty="0"/>
              <a:t>https://</a:t>
            </a:r>
            <a:r>
              <a:rPr lang="ru-RU" dirty="0"/>
              <a:t>, </a:t>
            </a:r>
            <a:r>
              <a:rPr lang="en-US" dirty="0"/>
              <a:t>ftp://), </a:t>
            </a:r>
            <a:r>
              <a:rPr lang="ru-RU" dirty="0"/>
              <a:t>иначе будет подставлен локальный протокол</a:t>
            </a:r>
            <a:r>
              <a:rPr lang="en-US" dirty="0"/>
              <a:t> file:// </a:t>
            </a:r>
            <a:r>
              <a:rPr lang="ru-RU" dirty="0"/>
              <a:t>и браузер попытается открыть локальный файл с именем, указанным в ссылке</a:t>
            </a:r>
          </a:p>
        </p:txBody>
      </p:sp>
    </p:spTree>
    <p:extLst>
      <p:ext uri="{BB962C8B-B14F-4D97-AF65-F5344CB8AC3E}">
        <p14:creationId xmlns:p14="http://schemas.microsoft.com/office/powerpoint/2010/main" val="591756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ru-RU" dirty="0"/>
              <a:t>В тег ссылки можно заключить не только текст, например, изображение: </a:t>
            </a:r>
            <a:r>
              <a:rPr lang="pt-BR" dirty="0"/>
              <a:t>&lt;a href="</a:t>
            </a:r>
            <a:r>
              <a:rPr lang="ru-RU" dirty="0"/>
              <a:t>ссылка</a:t>
            </a:r>
            <a:r>
              <a:rPr lang="pt-BR" dirty="0"/>
              <a:t>"&gt;&lt;img src="</a:t>
            </a:r>
            <a:r>
              <a:rPr lang="ru-RU" dirty="0"/>
              <a:t>путь</a:t>
            </a:r>
            <a:r>
              <a:rPr lang="pt-BR" dirty="0"/>
              <a:t>"&gt;&lt;/a&gt;</a:t>
            </a:r>
            <a:endParaRPr lang="ru-RU" dirty="0"/>
          </a:p>
        </p:txBody>
      </p:sp>
      <p:pic>
        <p:nvPicPr>
          <p:cNvPr id="3" name="Рисунок 2">
            <a:extLst>
              <a:ext uri="{FF2B5EF4-FFF2-40B4-BE49-F238E27FC236}">
                <a16:creationId xmlns:a16="http://schemas.microsoft.com/office/drawing/2014/main" id="{822BF32D-D076-4A8F-9CD3-0C70E2E51F6C}"/>
              </a:ext>
            </a:extLst>
          </p:cNvPr>
          <p:cNvPicPr>
            <a:picLocks noChangeAspect="1"/>
          </p:cNvPicPr>
          <p:nvPr/>
        </p:nvPicPr>
        <p:blipFill>
          <a:blip r:embed="rId3"/>
          <a:stretch>
            <a:fillRect/>
          </a:stretch>
        </p:blipFill>
        <p:spPr>
          <a:xfrm>
            <a:off x="3015949" y="4268196"/>
            <a:ext cx="1948319" cy="1708308"/>
          </a:xfrm>
          <a:prstGeom prst="rect">
            <a:avLst/>
          </a:prstGeom>
        </p:spPr>
      </p:pic>
      <p:pic>
        <p:nvPicPr>
          <p:cNvPr id="5" name="Рисунок 4">
            <a:extLst>
              <a:ext uri="{FF2B5EF4-FFF2-40B4-BE49-F238E27FC236}">
                <a16:creationId xmlns:a16="http://schemas.microsoft.com/office/drawing/2014/main" id="{29868417-11EE-407E-9D79-68A4BB02B539}"/>
              </a:ext>
            </a:extLst>
          </p:cNvPr>
          <p:cNvPicPr>
            <a:picLocks noChangeAspect="1"/>
          </p:cNvPicPr>
          <p:nvPr/>
        </p:nvPicPr>
        <p:blipFill>
          <a:blip r:embed="rId4"/>
          <a:stretch>
            <a:fillRect/>
          </a:stretch>
        </p:blipFill>
        <p:spPr>
          <a:xfrm>
            <a:off x="5927081" y="4001294"/>
            <a:ext cx="3300046" cy="1975210"/>
          </a:xfrm>
          <a:prstGeom prst="rect">
            <a:avLst/>
          </a:prstGeom>
        </p:spPr>
      </p:pic>
      <p:pic>
        <p:nvPicPr>
          <p:cNvPr id="6" name="Рисунок 5">
            <a:extLst>
              <a:ext uri="{FF2B5EF4-FFF2-40B4-BE49-F238E27FC236}">
                <a16:creationId xmlns:a16="http://schemas.microsoft.com/office/drawing/2014/main" id="{0A16EB1F-40FD-41C0-9245-C650FD9334C3}"/>
              </a:ext>
            </a:extLst>
          </p:cNvPr>
          <p:cNvPicPr>
            <a:picLocks noChangeAspect="1"/>
          </p:cNvPicPr>
          <p:nvPr/>
        </p:nvPicPr>
        <p:blipFill>
          <a:blip r:embed="rId5"/>
          <a:stretch>
            <a:fillRect/>
          </a:stretch>
        </p:blipFill>
        <p:spPr>
          <a:xfrm>
            <a:off x="385773" y="3208459"/>
            <a:ext cx="11681536" cy="441081"/>
          </a:xfrm>
          <a:prstGeom prst="rect">
            <a:avLst/>
          </a:prstGeom>
        </p:spPr>
      </p:pic>
    </p:spTree>
    <p:extLst>
      <p:ext uri="{BB962C8B-B14F-4D97-AF65-F5344CB8AC3E}">
        <p14:creationId xmlns:p14="http://schemas.microsoft.com/office/powerpoint/2010/main" val="385604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верстки</a:t>
            </a:r>
            <a:r>
              <a:rPr lang="en-US" dirty="0"/>
              <a:t> HTML</a:t>
            </a:r>
            <a:endParaRPr lang="ru-RU" dirty="0"/>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en-US" dirty="0"/>
              <a:t>&lt;</a:t>
            </a:r>
            <a:r>
              <a:rPr lang="en-US" dirty="0" err="1"/>
              <a:t>br</a:t>
            </a:r>
            <a:r>
              <a:rPr lang="en-US" dirty="0"/>
              <a:t>&gt; - </a:t>
            </a:r>
            <a:r>
              <a:rPr lang="ru-RU" dirty="0"/>
              <a:t>одиночный тег, добавляющий перенос строки между элементами</a:t>
            </a:r>
          </a:p>
        </p:txBody>
      </p:sp>
    </p:spTree>
    <p:extLst>
      <p:ext uri="{BB962C8B-B14F-4D97-AF65-F5344CB8AC3E}">
        <p14:creationId xmlns:p14="http://schemas.microsoft.com/office/powerpoint/2010/main" val="2157250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209A2-CFE8-4CE9-AC40-14449414EAB8}"/>
              </a:ext>
            </a:extLst>
          </p:cNvPr>
          <p:cNvSpPr>
            <a:spLocks noGrp="1"/>
          </p:cNvSpPr>
          <p:nvPr>
            <p:ph type="ctrTitle"/>
          </p:nvPr>
        </p:nvSpPr>
        <p:spPr/>
        <p:txBody>
          <a:bodyPr/>
          <a:lstStyle/>
          <a:p>
            <a:r>
              <a:rPr lang="ru-RU" dirty="0"/>
              <a:t>Расширенные инструменты верстки</a:t>
            </a:r>
          </a:p>
        </p:txBody>
      </p:sp>
      <p:sp>
        <p:nvSpPr>
          <p:cNvPr id="3" name="Подзаголовок 2">
            <a:extLst>
              <a:ext uri="{FF2B5EF4-FFF2-40B4-BE49-F238E27FC236}">
                <a16:creationId xmlns:a16="http://schemas.microsoft.com/office/drawing/2014/main" id="{7A288AB3-3988-4048-A010-34A72200D883}"/>
              </a:ext>
            </a:extLst>
          </p:cNvPr>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2437908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ru-RU" dirty="0"/>
              <a:t>Таблица строится из контейнеров:</a:t>
            </a:r>
          </a:p>
          <a:p>
            <a:pPr indent="311150"/>
            <a:r>
              <a:rPr lang="ru-RU" dirty="0"/>
              <a:t>&lt;</a:t>
            </a:r>
            <a:r>
              <a:rPr lang="ru-RU" dirty="0" err="1"/>
              <a:t>table</a:t>
            </a:r>
            <a:r>
              <a:rPr lang="ru-RU" dirty="0"/>
              <a:t>&gt;</a:t>
            </a:r>
            <a:r>
              <a:rPr lang="en-US" dirty="0"/>
              <a:t> - </a:t>
            </a:r>
            <a:r>
              <a:rPr lang="ru-RU" dirty="0"/>
              <a:t>таблица</a:t>
            </a:r>
          </a:p>
          <a:p>
            <a:pPr indent="311150"/>
            <a:r>
              <a:rPr lang="en-US" dirty="0"/>
              <a:t>&lt;caption&gt; -</a:t>
            </a:r>
            <a:r>
              <a:rPr lang="ru-RU" dirty="0"/>
              <a:t> заголовок над таблицей</a:t>
            </a:r>
          </a:p>
          <a:p>
            <a:pPr indent="311150"/>
            <a:r>
              <a:rPr lang="en-US" b="0" i="0" dirty="0">
                <a:solidFill>
                  <a:srgbClr val="000000"/>
                </a:solidFill>
                <a:effectLst/>
                <a:latin typeface="Ubuntu Mono"/>
              </a:rPr>
              <a:t>&lt;</a:t>
            </a:r>
            <a:r>
              <a:rPr lang="en-US" b="0" i="0" dirty="0" err="1">
                <a:solidFill>
                  <a:srgbClr val="000000"/>
                </a:solidFill>
                <a:effectLst/>
                <a:latin typeface="Ubuntu Mono"/>
              </a:rPr>
              <a:t>thead</a:t>
            </a:r>
            <a:r>
              <a:rPr lang="en-US" b="0" i="0" dirty="0">
                <a:solidFill>
                  <a:srgbClr val="000000"/>
                </a:solidFill>
                <a:effectLst/>
                <a:latin typeface="Ubuntu Mono"/>
              </a:rPr>
              <a:t>&gt;</a:t>
            </a:r>
            <a:r>
              <a:rPr lang="ru-RU" b="0" i="0" dirty="0">
                <a:solidFill>
                  <a:srgbClr val="000000"/>
                </a:solidFill>
                <a:effectLst/>
                <a:latin typeface="Ubuntu Mono"/>
              </a:rPr>
              <a:t> - заголовок (шапка) таблицы</a:t>
            </a:r>
          </a:p>
          <a:p>
            <a:pPr indent="311150"/>
            <a:r>
              <a:rPr lang="en-US" dirty="0">
                <a:solidFill>
                  <a:srgbClr val="000000"/>
                </a:solidFill>
                <a:latin typeface="Ubuntu Mono"/>
              </a:rPr>
              <a:t>&lt;</a:t>
            </a:r>
            <a:r>
              <a:rPr lang="en-US" dirty="0" err="1">
                <a:solidFill>
                  <a:srgbClr val="000000"/>
                </a:solidFill>
                <a:latin typeface="Ubuntu Mono"/>
              </a:rPr>
              <a:t>tbody</a:t>
            </a:r>
            <a:r>
              <a:rPr lang="en-US" dirty="0">
                <a:solidFill>
                  <a:srgbClr val="000000"/>
                </a:solidFill>
                <a:latin typeface="Ubuntu Mono"/>
              </a:rPr>
              <a:t>&gt; -</a:t>
            </a:r>
            <a:r>
              <a:rPr lang="ru-RU" dirty="0">
                <a:solidFill>
                  <a:srgbClr val="000000"/>
                </a:solidFill>
                <a:latin typeface="Ubuntu Mono"/>
              </a:rPr>
              <a:t> основная часть таблицы</a:t>
            </a:r>
            <a:endParaRPr lang="ru-RU" b="0" i="0" dirty="0">
              <a:solidFill>
                <a:srgbClr val="000000"/>
              </a:solidFill>
              <a:effectLst/>
              <a:latin typeface="Ubuntu Mono"/>
            </a:endParaRPr>
          </a:p>
          <a:p>
            <a:pPr indent="311150"/>
            <a:r>
              <a:rPr lang="en-US" dirty="0">
                <a:solidFill>
                  <a:srgbClr val="000000"/>
                </a:solidFill>
                <a:latin typeface="Ubuntu Mono"/>
              </a:rPr>
              <a:t>&lt;tr&gt; - </a:t>
            </a:r>
            <a:r>
              <a:rPr lang="ru-RU" dirty="0">
                <a:solidFill>
                  <a:srgbClr val="000000"/>
                </a:solidFill>
                <a:latin typeface="Ubuntu Mono"/>
              </a:rPr>
              <a:t>строка таблицы (в т.ч. заголовка)</a:t>
            </a:r>
          </a:p>
          <a:p>
            <a:pPr indent="311150"/>
            <a:r>
              <a:rPr lang="en-US" dirty="0">
                <a:solidFill>
                  <a:srgbClr val="000000"/>
                </a:solidFill>
                <a:latin typeface="Ubuntu Mono"/>
              </a:rPr>
              <a:t>&lt;</a:t>
            </a:r>
            <a:r>
              <a:rPr lang="en-US" dirty="0" err="1">
                <a:solidFill>
                  <a:srgbClr val="000000"/>
                </a:solidFill>
                <a:latin typeface="Ubuntu Mono"/>
              </a:rPr>
              <a:t>th</a:t>
            </a:r>
            <a:r>
              <a:rPr lang="en-US" dirty="0">
                <a:solidFill>
                  <a:srgbClr val="000000"/>
                </a:solidFill>
                <a:latin typeface="Ubuntu Mono"/>
              </a:rPr>
              <a:t>&gt; - </a:t>
            </a:r>
            <a:r>
              <a:rPr lang="ru-RU" dirty="0">
                <a:solidFill>
                  <a:srgbClr val="000000"/>
                </a:solidFill>
                <a:latin typeface="Ubuntu Mono"/>
              </a:rPr>
              <a:t>заголовок столбца (в </a:t>
            </a:r>
            <a:r>
              <a:rPr lang="en-US" dirty="0" err="1">
                <a:solidFill>
                  <a:srgbClr val="000000"/>
                </a:solidFill>
                <a:latin typeface="Ubuntu Mono"/>
              </a:rPr>
              <a:t>thead</a:t>
            </a:r>
            <a:r>
              <a:rPr lang="en-US" dirty="0">
                <a:solidFill>
                  <a:srgbClr val="000000"/>
                </a:solidFill>
                <a:latin typeface="Ubuntu Mono"/>
              </a:rPr>
              <a:t>)</a:t>
            </a:r>
          </a:p>
          <a:p>
            <a:pPr indent="311150"/>
            <a:r>
              <a:rPr lang="en-US" dirty="0">
                <a:solidFill>
                  <a:srgbClr val="000000"/>
                </a:solidFill>
                <a:latin typeface="Ubuntu Mono"/>
              </a:rPr>
              <a:t>&lt;td&gt; - </a:t>
            </a:r>
            <a:r>
              <a:rPr lang="ru-RU" dirty="0">
                <a:solidFill>
                  <a:srgbClr val="000000"/>
                </a:solidFill>
                <a:latin typeface="Ubuntu Mono"/>
              </a:rPr>
              <a:t>ячейка таблицы</a:t>
            </a:r>
            <a:endParaRPr lang="ru-RU" dirty="0"/>
          </a:p>
        </p:txBody>
      </p:sp>
    </p:spTree>
    <p:extLst>
      <p:ext uri="{BB962C8B-B14F-4D97-AF65-F5344CB8AC3E}">
        <p14:creationId xmlns:p14="http://schemas.microsoft.com/office/powerpoint/2010/main" val="2863043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endParaRPr lang="ru-RU" dirty="0"/>
          </a:p>
        </p:txBody>
      </p:sp>
      <p:pic>
        <p:nvPicPr>
          <p:cNvPr id="6" name="Рисунок 5">
            <a:extLst>
              <a:ext uri="{FF2B5EF4-FFF2-40B4-BE49-F238E27FC236}">
                <a16:creationId xmlns:a16="http://schemas.microsoft.com/office/drawing/2014/main" id="{432FF055-A932-4ABC-A59D-745FD7F61B95}"/>
              </a:ext>
            </a:extLst>
          </p:cNvPr>
          <p:cNvPicPr>
            <a:picLocks noChangeAspect="1"/>
          </p:cNvPicPr>
          <p:nvPr/>
        </p:nvPicPr>
        <p:blipFill>
          <a:blip r:embed="rId3"/>
          <a:stretch>
            <a:fillRect/>
          </a:stretch>
        </p:blipFill>
        <p:spPr>
          <a:xfrm>
            <a:off x="6445777" y="2997399"/>
            <a:ext cx="4097531" cy="2007790"/>
          </a:xfrm>
          <a:prstGeom prst="rect">
            <a:avLst/>
          </a:prstGeom>
        </p:spPr>
      </p:pic>
      <p:pic>
        <p:nvPicPr>
          <p:cNvPr id="7" name="Рисунок 6">
            <a:extLst>
              <a:ext uri="{FF2B5EF4-FFF2-40B4-BE49-F238E27FC236}">
                <a16:creationId xmlns:a16="http://schemas.microsoft.com/office/drawing/2014/main" id="{21EE52DE-A8CD-4DF0-81A3-35BE8EBA8E26}"/>
              </a:ext>
            </a:extLst>
          </p:cNvPr>
          <p:cNvPicPr>
            <a:picLocks noChangeAspect="1"/>
          </p:cNvPicPr>
          <p:nvPr/>
        </p:nvPicPr>
        <p:blipFill>
          <a:blip r:embed="rId4"/>
          <a:stretch>
            <a:fillRect/>
          </a:stretch>
        </p:blipFill>
        <p:spPr>
          <a:xfrm>
            <a:off x="1429272" y="1524076"/>
            <a:ext cx="4425433" cy="5203531"/>
          </a:xfrm>
          <a:prstGeom prst="rect">
            <a:avLst/>
          </a:prstGeom>
        </p:spPr>
      </p:pic>
    </p:spTree>
    <p:extLst>
      <p:ext uri="{BB962C8B-B14F-4D97-AF65-F5344CB8AC3E}">
        <p14:creationId xmlns:p14="http://schemas.microsoft.com/office/powerpoint/2010/main" val="907411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ru-RU" dirty="0"/>
              <a:t>Аргументы </a:t>
            </a:r>
            <a:r>
              <a:rPr lang="en-US" dirty="0"/>
              <a:t>width, height</a:t>
            </a:r>
            <a:r>
              <a:rPr lang="ru-RU" dirty="0"/>
              <a:t> применимы и к тегу </a:t>
            </a:r>
            <a:r>
              <a:rPr lang="en-US" dirty="0"/>
              <a:t>table</a:t>
            </a:r>
          </a:p>
          <a:p>
            <a:r>
              <a:rPr lang="en-US" dirty="0"/>
              <a:t>width="100%</a:t>
            </a:r>
            <a:r>
              <a:rPr lang="ru-RU" dirty="0"/>
              <a:t>"</a:t>
            </a:r>
            <a:r>
              <a:rPr lang="en-US" dirty="0"/>
              <a:t> </a:t>
            </a:r>
            <a:r>
              <a:rPr lang="ru-RU" dirty="0"/>
              <a:t>растягивает таблицу на всю ширину окна</a:t>
            </a:r>
            <a:endParaRPr lang="en-US" dirty="0"/>
          </a:p>
          <a:p>
            <a:r>
              <a:rPr lang="en-US" dirty="0"/>
              <a:t>border=</a:t>
            </a:r>
            <a:r>
              <a:rPr lang="ru-RU" dirty="0"/>
              <a:t> "число" добавляет границу к таблице, устаревший тег, рекомендуется использовать </a:t>
            </a:r>
            <a:r>
              <a:rPr lang="en-US" dirty="0"/>
              <a:t>CSS </a:t>
            </a:r>
            <a:r>
              <a:rPr lang="ru-RU" dirty="0"/>
              <a:t>для смены оформления таблиц</a:t>
            </a:r>
          </a:p>
        </p:txBody>
      </p:sp>
    </p:spTree>
    <p:extLst>
      <p:ext uri="{BB962C8B-B14F-4D97-AF65-F5344CB8AC3E}">
        <p14:creationId xmlns:p14="http://schemas.microsoft.com/office/powerpoint/2010/main" val="1723931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en-US" dirty="0"/>
              <a:t>&lt;iframe&gt; </a:t>
            </a:r>
            <a:r>
              <a:rPr lang="ru-RU" dirty="0"/>
              <a:t>- встраивание другой страницы</a:t>
            </a:r>
          </a:p>
          <a:p>
            <a:r>
              <a:rPr lang="ru-RU" dirty="0"/>
              <a:t>Аргументы: </a:t>
            </a:r>
            <a:r>
              <a:rPr lang="en-US" dirty="0"/>
              <a:t>width, height – </a:t>
            </a:r>
            <a:r>
              <a:rPr lang="ru-RU" dirty="0"/>
              <a:t>размер,</a:t>
            </a:r>
            <a:r>
              <a:rPr lang="en-US" dirty="0"/>
              <a:t> </a:t>
            </a:r>
            <a:r>
              <a:rPr lang="en-US" dirty="0" err="1"/>
              <a:t>src</a:t>
            </a:r>
            <a:r>
              <a:rPr lang="en-US" dirty="0"/>
              <a:t> – </a:t>
            </a:r>
            <a:r>
              <a:rPr lang="ru-RU" dirty="0"/>
              <a:t>ссылка на страницу</a:t>
            </a:r>
          </a:p>
          <a:p>
            <a:r>
              <a:rPr lang="ru-RU" dirty="0"/>
              <a:t>Можно использовать для ускорения работы с сайтом, при работе с областью </a:t>
            </a:r>
            <a:r>
              <a:rPr lang="en-US" dirty="0"/>
              <a:t>iframe </a:t>
            </a:r>
            <a:r>
              <a:rPr lang="ru-RU" dirty="0"/>
              <a:t>будет обновляться только ее часть</a:t>
            </a:r>
          </a:p>
        </p:txBody>
      </p:sp>
      <p:pic>
        <p:nvPicPr>
          <p:cNvPr id="6" name="Рисунок 5">
            <a:extLst>
              <a:ext uri="{FF2B5EF4-FFF2-40B4-BE49-F238E27FC236}">
                <a16:creationId xmlns:a16="http://schemas.microsoft.com/office/drawing/2014/main" id="{85B32BAF-9403-45ED-9890-C977D2459DC9}"/>
              </a:ext>
            </a:extLst>
          </p:cNvPr>
          <p:cNvPicPr>
            <a:picLocks noChangeAspect="1"/>
          </p:cNvPicPr>
          <p:nvPr/>
        </p:nvPicPr>
        <p:blipFill>
          <a:blip r:embed="rId3"/>
          <a:stretch>
            <a:fillRect/>
          </a:stretch>
        </p:blipFill>
        <p:spPr>
          <a:xfrm>
            <a:off x="1619990" y="4001294"/>
            <a:ext cx="8952020" cy="726217"/>
          </a:xfrm>
          <a:prstGeom prst="rect">
            <a:avLst/>
          </a:prstGeom>
        </p:spPr>
      </p:pic>
    </p:spTree>
    <p:extLst>
      <p:ext uri="{BB962C8B-B14F-4D97-AF65-F5344CB8AC3E}">
        <p14:creationId xmlns:p14="http://schemas.microsoft.com/office/powerpoint/2010/main" val="21711110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endParaRPr lang="ru-RU" dirty="0"/>
          </a:p>
        </p:txBody>
      </p:sp>
      <p:pic>
        <p:nvPicPr>
          <p:cNvPr id="3" name="Рисунок 2">
            <a:extLst>
              <a:ext uri="{FF2B5EF4-FFF2-40B4-BE49-F238E27FC236}">
                <a16:creationId xmlns:a16="http://schemas.microsoft.com/office/drawing/2014/main" id="{437CEC6B-D616-4FFD-9AB6-3D557F1011DB}"/>
              </a:ext>
            </a:extLst>
          </p:cNvPr>
          <p:cNvPicPr>
            <a:picLocks noChangeAspect="1"/>
          </p:cNvPicPr>
          <p:nvPr/>
        </p:nvPicPr>
        <p:blipFill>
          <a:blip r:embed="rId3"/>
          <a:stretch>
            <a:fillRect/>
          </a:stretch>
        </p:blipFill>
        <p:spPr>
          <a:xfrm>
            <a:off x="1696355" y="1986780"/>
            <a:ext cx="8952020" cy="726217"/>
          </a:xfrm>
          <a:prstGeom prst="rect">
            <a:avLst/>
          </a:prstGeom>
        </p:spPr>
      </p:pic>
      <p:pic>
        <p:nvPicPr>
          <p:cNvPr id="5" name="Рисунок 4">
            <a:extLst>
              <a:ext uri="{FF2B5EF4-FFF2-40B4-BE49-F238E27FC236}">
                <a16:creationId xmlns:a16="http://schemas.microsoft.com/office/drawing/2014/main" id="{F11929F0-1220-4CEC-AA11-1E6D0D4EB8C3}"/>
              </a:ext>
            </a:extLst>
          </p:cNvPr>
          <p:cNvPicPr>
            <a:picLocks noChangeAspect="1"/>
          </p:cNvPicPr>
          <p:nvPr/>
        </p:nvPicPr>
        <p:blipFill>
          <a:blip r:embed="rId4"/>
          <a:stretch>
            <a:fillRect/>
          </a:stretch>
        </p:blipFill>
        <p:spPr>
          <a:xfrm>
            <a:off x="3624365" y="2847934"/>
            <a:ext cx="4943270" cy="3644941"/>
          </a:xfrm>
          <a:prstGeom prst="rect">
            <a:avLst/>
          </a:prstGeom>
        </p:spPr>
      </p:pic>
    </p:spTree>
    <p:extLst>
      <p:ext uri="{BB962C8B-B14F-4D97-AF65-F5344CB8AC3E}">
        <p14:creationId xmlns:p14="http://schemas.microsoft.com/office/powerpoint/2010/main" val="929201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Расширенный </a:t>
            </a:r>
            <a:r>
              <a:rPr lang="en-US" dirty="0"/>
              <a:t>HTML</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По умолчанию вызываемый </a:t>
            </a:r>
            <a:r>
              <a:rPr lang="en-US" dirty="0"/>
              <a:t>iframe </a:t>
            </a:r>
            <a:r>
              <a:rPr lang="ru-RU" dirty="0"/>
              <a:t>ресурс может иметь слишком много прав (выполнять скрипты и т.д.)</a:t>
            </a:r>
          </a:p>
          <a:p>
            <a:r>
              <a:rPr lang="ru-RU" dirty="0"/>
              <a:t>Чтобы ограничить права </a:t>
            </a:r>
            <a:r>
              <a:rPr lang="en-US" dirty="0"/>
              <a:t>iframe </a:t>
            </a:r>
            <a:r>
              <a:rPr lang="ru-RU" dirty="0"/>
              <a:t>нужно в его тег добавить аргумент </a:t>
            </a:r>
            <a:r>
              <a:rPr lang="en-US" dirty="0"/>
              <a:t>sandbox</a:t>
            </a:r>
            <a:endParaRPr lang="ru-RU" dirty="0"/>
          </a:p>
        </p:txBody>
      </p:sp>
    </p:spTree>
    <p:extLst>
      <p:ext uri="{BB962C8B-B14F-4D97-AF65-F5344CB8AC3E}">
        <p14:creationId xmlns:p14="http://schemas.microsoft.com/office/powerpoint/2010/main" val="3908725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a:xfrm>
            <a:off x="838200" y="1825625"/>
            <a:ext cx="10515600" cy="4852266"/>
          </a:xfrm>
        </p:spPr>
        <p:txBody>
          <a:bodyPr>
            <a:normAutofit/>
          </a:bodyPr>
          <a:lstStyle/>
          <a:p>
            <a:r>
              <a:rPr lang="en-US" dirty="0"/>
              <a:t>&lt;div&gt; -</a:t>
            </a:r>
            <a:r>
              <a:rPr lang="ru-RU" dirty="0"/>
              <a:t> контейнер для отдельного блока страницы, используется, чтобы применять к разным блокам различное оформление, скрипты и т.д.</a:t>
            </a:r>
          </a:p>
        </p:txBody>
      </p:sp>
      <p:pic>
        <p:nvPicPr>
          <p:cNvPr id="3" name="Рисунок 2">
            <a:extLst>
              <a:ext uri="{FF2B5EF4-FFF2-40B4-BE49-F238E27FC236}">
                <a16:creationId xmlns:a16="http://schemas.microsoft.com/office/drawing/2014/main" id="{749B1DF5-F4C0-4BCF-BA20-92D1A9B46CB9}"/>
              </a:ext>
            </a:extLst>
          </p:cNvPr>
          <p:cNvPicPr>
            <a:picLocks noChangeAspect="1"/>
          </p:cNvPicPr>
          <p:nvPr/>
        </p:nvPicPr>
        <p:blipFill>
          <a:blip r:embed="rId3"/>
          <a:stretch>
            <a:fillRect/>
          </a:stretch>
        </p:blipFill>
        <p:spPr>
          <a:xfrm>
            <a:off x="838200" y="3057897"/>
            <a:ext cx="5499383" cy="1193861"/>
          </a:xfrm>
          <a:prstGeom prst="rect">
            <a:avLst/>
          </a:prstGeom>
        </p:spPr>
      </p:pic>
      <p:pic>
        <p:nvPicPr>
          <p:cNvPr id="5" name="Рисунок 4">
            <a:extLst>
              <a:ext uri="{FF2B5EF4-FFF2-40B4-BE49-F238E27FC236}">
                <a16:creationId xmlns:a16="http://schemas.microsoft.com/office/drawing/2014/main" id="{649F23BF-AB7C-4F7A-AEB1-9E032DF8E67B}"/>
              </a:ext>
            </a:extLst>
          </p:cNvPr>
          <p:cNvPicPr>
            <a:picLocks noChangeAspect="1"/>
          </p:cNvPicPr>
          <p:nvPr/>
        </p:nvPicPr>
        <p:blipFill>
          <a:blip r:embed="rId4"/>
          <a:stretch>
            <a:fillRect/>
          </a:stretch>
        </p:blipFill>
        <p:spPr>
          <a:xfrm>
            <a:off x="6518675" y="3236960"/>
            <a:ext cx="4881617" cy="835733"/>
          </a:xfrm>
          <a:prstGeom prst="rect">
            <a:avLst/>
          </a:prstGeom>
        </p:spPr>
      </p:pic>
      <p:pic>
        <p:nvPicPr>
          <p:cNvPr id="6" name="Рисунок 5">
            <a:extLst>
              <a:ext uri="{FF2B5EF4-FFF2-40B4-BE49-F238E27FC236}">
                <a16:creationId xmlns:a16="http://schemas.microsoft.com/office/drawing/2014/main" id="{0761BE8C-A042-4ACB-BF96-FCBAD77DA906}"/>
              </a:ext>
            </a:extLst>
          </p:cNvPr>
          <p:cNvPicPr>
            <a:picLocks noChangeAspect="1"/>
          </p:cNvPicPr>
          <p:nvPr/>
        </p:nvPicPr>
        <p:blipFill>
          <a:blip r:embed="rId5"/>
          <a:stretch>
            <a:fillRect/>
          </a:stretch>
        </p:blipFill>
        <p:spPr>
          <a:xfrm>
            <a:off x="838200" y="4386695"/>
            <a:ext cx="5391427" cy="723937"/>
          </a:xfrm>
          <a:prstGeom prst="rect">
            <a:avLst/>
          </a:prstGeom>
        </p:spPr>
      </p:pic>
      <p:pic>
        <p:nvPicPr>
          <p:cNvPr id="7" name="Рисунок 6">
            <a:extLst>
              <a:ext uri="{FF2B5EF4-FFF2-40B4-BE49-F238E27FC236}">
                <a16:creationId xmlns:a16="http://schemas.microsoft.com/office/drawing/2014/main" id="{3EF8B06D-D079-4AC6-B906-F58B6D5C1136}"/>
              </a:ext>
            </a:extLst>
          </p:cNvPr>
          <p:cNvPicPr>
            <a:picLocks noChangeAspect="1"/>
          </p:cNvPicPr>
          <p:nvPr/>
        </p:nvPicPr>
        <p:blipFill>
          <a:blip r:embed="rId6"/>
          <a:stretch>
            <a:fillRect/>
          </a:stretch>
        </p:blipFill>
        <p:spPr>
          <a:xfrm>
            <a:off x="1127248" y="5155393"/>
            <a:ext cx="4737343" cy="1657435"/>
          </a:xfrm>
          <a:prstGeom prst="rect">
            <a:avLst/>
          </a:prstGeom>
        </p:spPr>
      </p:pic>
      <p:pic>
        <p:nvPicPr>
          <p:cNvPr id="8" name="Рисунок 7">
            <a:extLst>
              <a:ext uri="{FF2B5EF4-FFF2-40B4-BE49-F238E27FC236}">
                <a16:creationId xmlns:a16="http://schemas.microsoft.com/office/drawing/2014/main" id="{84CFAA1B-08A0-4278-9BB4-682DFB8E5497}"/>
              </a:ext>
            </a:extLst>
          </p:cNvPr>
          <p:cNvPicPr>
            <a:picLocks noChangeAspect="1"/>
          </p:cNvPicPr>
          <p:nvPr/>
        </p:nvPicPr>
        <p:blipFill>
          <a:blip r:embed="rId7"/>
          <a:stretch>
            <a:fillRect/>
          </a:stretch>
        </p:blipFill>
        <p:spPr>
          <a:xfrm>
            <a:off x="6518675" y="4907770"/>
            <a:ext cx="3736770" cy="1426312"/>
          </a:xfrm>
          <a:prstGeom prst="rect">
            <a:avLst/>
          </a:prstGeom>
        </p:spPr>
      </p:pic>
    </p:spTree>
    <p:extLst>
      <p:ext uri="{BB962C8B-B14F-4D97-AF65-F5344CB8AC3E}">
        <p14:creationId xmlns:p14="http://schemas.microsoft.com/office/powerpoint/2010/main" val="2741558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a:xfrm>
            <a:off x="838200" y="1825625"/>
            <a:ext cx="10515600" cy="4852266"/>
          </a:xfrm>
        </p:spPr>
        <p:txBody>
          <a:bodyPr>
            <a:normAutofit/>
          </a:bodyPr>
          <a:lstStyle/>
          <a:p>
            <a:r>
              <a:rPr lang="en-US" dirty="0"/>
              <a:t>&lt;span&gt; -</a:t>
            </a:r>
            <a:r>
              <a:rPr lang="ru-RU" dirty="0"/>
              <a:t> контейнер для присвоения стилей элементом внутри строчных элементов (параграф, ячейка, …)</a:t>
            </a:r>
          </a:p>
        </p:txBody>
      </p:sp>
      <p:pic>
        <p:nvPicPr>
          <p:cNvPr id="10" name="Рисунок 9">
            <a:extLst>
              <a:ext uri="{FF2B5EF4-FFF2-40B4-BE49-F238E27FC236}">
                <a16:creationId xmlns:a16="http://schemas.microsoft.com/office/drawing/2014/main" id="{A8FAE103-EE48-4F02-9ED4-7F3B8D3BB172}"/>
              </a:ext>
            </a:extLst>
          </p:cNvPr>
          <p:cNvPicPr>
            <a:picLocks noChangeAspect="1"/>
          </p:cNvPicPr>
          <p:nvPr/>
        </p:nvPicPr>
        <p:blipFill>
          <a:blip r:embed="rId3"/>
          <a:stretch>
            <a:fillRect/>
          </a:stretch>
        </p:blipFill>
        <p:spPr>
          <a:xfrm>
            <a:off x="935182" y="2983619"/>
            <a:ext cx="5596096" cy="3177004"/>
          </a:xfrm>
          <a:prstGeom prst="rect">
            <a:avLst/>
          </a:prstGeom>
        </p:spPr>
      </p:pic>
      <p:pic>
        <p:nvPicPr>
          <p:cNvPr id="11" name="Рисунок 10">
            <a:extLst>
              <a:ext uri="{FF2B5EF4-FFF2-40B4-BE49-F238E27FC236}">
                <a16:creationId xmlns:a16="http://schemas.microsoft.com/office/drawing/2014/main" id="{BFF708C2-883A-44A1-8D65-06AE67D76BB5}"/>
              </a:ext>
            </a:extLst>
          </p:cNvPr>
          <p:cNvPicPr>
            <a:picLocks noChangeAspect="1"/>
          </p:cNvPicPr>
          <p:nvPr/>
        </p:nvPicPr>
        <p:blipFill>
          <a:blip r:embed="rId4"/>
          <a:stretch>
            <a:fillRect/>
          </a:stretch>
        </p:blipFill>
        <p:spPr>
          <a:xfrm>
            <a:off x="7021907" y="3736907"/>
            <a:ext cx="2981074" cy="1670428"/>
          </a:xfrm>
          <a:prstGeom prst="rect">
            <a:avLst/>
          </a:prstGeom>
        </p:spPr>
      </p:pic>
    </p:spTree>
    <p:extLst>
      <p:ext uri="{BB962C8B-B14F-4D97-AF65-F5344CB8AC3E}">
        <p14:creationId xmlns:p14="http://schemas.microsoft.com/office/powerpoint/2010/main" val="2238779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a:xfrm>
            <a:off x="838200" y="1825625"/>
            <a:ext cx="10515600" cy="4852266"/>
          </a:xfrm>
        </p:spPr>
        <p:txBody>
          <a:bodyPr>
            <a:normAutofit/>
          </a:bodyPr>
          <a:lstStyle/>
          <a:p>
            <a:r>
              <a:rPr lang="ru-RU" dirty="0"/>
              <a:t>В </a:t>
            </a:r>
            <a:r>
              <a:rPr lang="en-US" dirty="0"/>
              <a:t>HTML5 </a:t>
            </a:r>
            <a:r>
              <a:rPr lang="ru-RU" dirty="0"/>
              <a:t>для удобства организации структурных частей </a:t>
            </a:r>
            <a:r>
              <a:rPr lang="en-US" dirty="0"/>
              <a:t>body </a:t>
            </a:r>
            <a:r>
              <a:rPr lang="ru-RU" dirty="0"/>
              <a:t>введены теги контейнеров, разделяющих их по смыслу (сами не меняют форматирование, если использовать без аргументов)</a:t>
            </a:r>
            <a:r>
              <a:rPr lang="en-US" dirty="0"/>
              <a:t>:</a:t>
            </a:r>
            <a:endParaRPr lang="ru-RU" dirty="0"/>
          </a:p>
          <a:p>
            <a:r>
              <a:rPr lang="en-US" dirty="0"/>
              <a:t>&lt;header&gt; - </a:t>
            </a:r>
            <a:r>
              <a:rPr lang="ru-RU" dirty="0"/>
              <a:t>блок в верхней части страницы (меню, заголовок, …)</a:t>
            </a:r>
          </a:p>
          <a:p>
            <a:r>
              <a:rPr lang="en-US" dirty="0"/>
              <a:t>&lt;menu&gt; </a:t>
            </a:r>
            <a:r>
              <a:rPr lang="ru-RU" dirty="0"/>
              <a:t>- меню сайта</a:t>
            </a:r>
          </a:p>
          <a:p>
            <a:r>
              <a:rPr lang="en-US" dirty="0"/>
              <a:t>&lt;article&gt; -</a:t>
            </a:r>
            <a:r>
              <a:rPr lang="ru-RU" dirty="0"/>
              <a:t> содержимое с самодостаточным контентом, к примеру, статья, отзыв и т.д.</a:t>
            </a:r>
            <a:endParaRPr lang="en-US" dirty="0"/>
          </a:p>
          <a:p>
            <a:r>
              <a:rPr lang="en-US" dirty="0"/>
              <a:t>&lt;main&gt; - </a:t>
            </a:r>
            <a:r>
              <a:rPr lang="ru-RU" dirty="0"/>
              <a:t>основное содержимое</a:t>
            </a:r>
          </a:p>
          <a:p>
            <a:r>
              <a:rPr lang="en-US" dirty="0"/>
              <a:t>&lt;aside&gt; - </a:t>
            </a:r>
            <a:r>
              <a:rPr lang="ru-RU" dirty="0"/>
              <a:t>блоки дополнительной информации – реклама, ссылки по теме статьи, …</a:t>
            </a:r>
          </a:p>
        </p:txBody>
      </p:sp>
    </p:spTree>
    <p:extLst>
      <p:ext uri="{BB962C8B-B14F-4D97-AF65-F5344CB8AC3E}">
        <p14:creationId xmlns:p14="http://schemas.microsoft.com/office/powerpoint/2010/main" val="33109609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a:xfrm>
            <a:off x="838200" y="1825625"/>
            <a:ext cx="10515600" cy="4852266"/>
          </a:xfrm>
        </p:spPr>
        <p:txBody>
          <a:bodyPr>
            <a:normAutofit/>
          </a:bodyPr>
          <a:lstStyle/>
          <a:p>
            <a:r>
              <a:rPr lang="en-US" dirty="0"/>
              <a:t>&lt;section&gt;</a:t>
            </a:r>
            <a:r>
              <a:rPr lang="ru-RU" dirty="0"/>
              <a:t> </a:t>
            </a:r>
            <a:r>
              <a:rPr lang="en-US" dirty="0"/>
              <a:t>- </a:t>
            </a:r>
            <a:r>
              <a:rPr lang="ru-RU" dirty="0"/>
              <a:t>отдельный по теме блок страницы</a:t>
            </a:r>
          </a:p>
          <a:p>
            <a:r>
              <a:rPr lang="en-US" dirty="0"/>
              <a:t>&lt;nav&gt; - </a:t>
            </a:r>
            <a:r>
              <a:rPr lang="ru-RU" dirty="0"/>
              <a:t>блок навигации по странице</a:t>
            </a:r>
          </a:p>
          <a:p>
            <a:r>
              <a:rPr lang="en-US" dirty="0"/>
              <a:t>&lt;footer&gt; - </a:t>
            </a:r>
            <a:r>
              <a:rPr lang="ru-RU" dirty="0"/>
              <a:t>контактная и пр. информация, авторские права и т.д., как правило внизу сайте</a:t>
            </a:r>
          </a:p>
          <a:p>
            <a:r>
              <a:rPr lang="ru-RU" dirty="0"/>
              <a:t>Преимущество этих контейнеров перед </a:t>
            </a:r>
            <a:r>
              <a:rPr lang="en-US" dirty="0"/>
              <a:t>div </a:t>
            </a:r>
            <a:r>
              <a:rPr lang="ru-RU" dirty="0"/>
              <a:t>в лучшей читаемости кода и большим вниманием поисковиков к </a:t>
            </a:r>
            <a:r>
              <a:rPr lang="en-US" dirty="0"/>
              <a:t>header, footer, …, </a:t>
            </a:r>
            <a:r>
              <a:rPr lang="ru-RU" dirty="0"/>
              <a:t>чем к </a:t>
            </a:r>
            <a:r>
              <a:rPr lang="en-US" dirty="0"/>
              <a:t>div</a:t>
            </a:r>
          </a:p>
          <a:p>
            <a:endParaRPr lang="ru-RU" dirty="0"/>
          </a:p>
          <a:p>
            <a:endParaRPr lang="ru-RU" dirty="0"/>
          </a:p>
        </p:txBody>
      </p:sp>
    </p:spTree>
    <p:extLst>
      <p:ext uri="{BB962C8B-B14F-4D97-AF65-F5344CB8AC3E}">
        <p14:creationId xmlns:p14="http://schemas.microsoft.com/office/powerpoint/2010/main" val="23973601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a:xfrm>
            <a:off x="838200" y="1825625"/>
            <a:ext cx="10515600" cy="4852266"/>
          </a:xfrm>
        </p:spPr>
        <p:txBody>
          <a:bodyPr>
            <a:normAutofit/>
          </a:bodyPr>
          <a:lstStyle/>
          <a:p>
            <a:r>
              <a:rPr lang="ru-RU" dirty="0"/>
              <a:t>Новые теги для мультимедиа в </a:t>
            </a:r>
            <a:r>
              <a:rPr lang="en-US" dirty="0"/>
              <a:t>HTML5:</a:t>
            </a:r>
          </a:p>
          <a:p>
            <a:pPr indent="311150"/>
            <a:r>
              <a:rPr lang="en-US" dirty="0"/>
              <a:t>&lt;</a:t>
            </a:r>
            <a:r>
              <a:rPr lang="en-US" dirty="0" err="1"/>
              <a:t>svg</a:t>
            </a:r>
            <a:r>
              <a:rPr lang="en-US" dirty="0"/>
              <a:t>&gt; - </a:t>
            </a:r>
            <a:r>
              <a:rPr lang="ru-RU" dirty="0"/>
              <a:t>вставка векторных файлов </a:t>
            </a:r>
            <a:r>
              <a:rPr lang="en-US" dirty="0" err="1"/>
              <a:t>svg</a:t>
            </a:r>
            <a:endParaRPr lang="en-US" dirty="0"/>
          </a:p>
          <a:p>
            <a:pPr indent="311150"/>
            <a:r>
              <a:rPr lang="en-US" dirty="0"/>
              <a:t>&lt;audio&gt; - </a:t>
            </a:r>
            <a:r>
              <a:rPr lang="ru-RU" dirty="0"/>
              <a:t>вставка аудио</a:t>
            </a:r>
            <a:endParaRPr lang="en-US" dirty="0"/>
          </a:p>
          <a:p>
            <a:pPr indent="311150"/>
            <a:r>
              <a:rPr lang="en-US" dirty="0"/>
              <a:t>&lt;video&gt;</a:t>
            </a:r>
            <a:r>
              <a:rPr lang="ru-RU" dirty="0"/>
              <a:t> - вставка видео </a:t>
            </a:r>
            <a:r>
              <a:rPr lang="en-US" dirty="0"/>
              <a:t>mp4, </a:t>
            </a:r>
            <a:r>
              <a:rPr lang="en-US" dirty="0" err="1"/>
              <a:t>webm</a:t>
            </a:r>
            <a:r>
              <a:rPr lang="en-US" dirty="0"/>
              <a:t>, </a:t>
            </a:r>
            <a:r>
              <a:rPr lang="en-US" dirty="0" err="1"/>
              <a:t>ogg</a:t>
            </a:r>
            <a:endParaRPr lang="en-US" dirty="0"/>
          </a:p>
          <a:p>
            <a:r>
              <a:rPr lang="ru-RU" dirty="0"/>
              <a:t>Аргументы </a:t>
            </a:r>
            <a:r>
              <a:rPr lang="en-US" dirty="0"/>
              <a:t>video, audio:</a:t>
            </a:r>
          </a:p>
          <a:p>
            <a:pPr indent="311150"/>
            <a:r>
              <a:rPr lang="en-US" dirty="0" err="1"/>
              <a:t>src</a:t>
            </a:r>
            <a:r>
              <a:rPr lang="en-US" dirty="0"/>
              <a:t> </a:t>
            </a:r>
            <a:r>
              <a:rPr lang="ru-RU" dirty="0"/>
              <a:t>– источник</a:t>
            </a:r>
          </a:p>
          <a:p>
            <a:pPr indent="311150"/>
            <a:r>
              <a:rPr lang="en-US" dirty="0"/>
              <a:t>controls – </a:t>
            </a:r>
            <a:r>
              <a:rPr lang="ru-RU" dirty="0"/>
              <a:t>вывести элементы управления</a:t>
            </a:r>
            <a:endParaRPr lang="en-US" dirty="0"/>
          </a:p>
          <a:p>
            <a:endParaRPr lang="ru-RU" dirty="0"/>
          </a:p>
          <a:p>
            <a:endParaRPr lang="ru-RU" dirty="0"/>
          </a:p>
        </p:txBody>
      </p:sp>
      <p:pic>
        <p:nvPicPr>
          <p:cNvPr id="5" name="Рисунок 4">
            <a:extLst>
              <a:ext uri="{FF2B5EF4-FFF2-40B4-BE49-F238E27FC236}">
                <a16:creationId xmlns:a16="http://schemas.microsoft.com/office/drawing/2014/main" id="{980E83C8-D6B6-4239-97E5-DA22EDDC1443}"/>
              </a:ext>
            </a:extLst>
          </p:cNvPr>
          <p:cNvPicPr>
            <a:picLocks noChangeAspect="1"/>
          </p:cNvPicPr>
          <p:nvPr/>
        </p:nvPicPr>
        <p:blipFill>
          <a:blip r:embed="rId3"/>
          <a:stretch>
            <a:fillRect/>
          </a:stretch>
        </p:blipFill>
        <p:spPr>
          <a:xfrm>
            <a:off x="7970482" y="4067917"/>
            <a:ext cx="3979309" cy="2744911"/>
          </a:xfrm>
          <a:prstGeom prst="rect">
            <a:avLst/>
          </a:prstGeom>
        </p:spPr>
      </p:pic>
      <p:pic>
        <p:nvPicPr>
          <p:cNvPr id="6" name="Рисунок 5">
            <a:extLst>
              <a:ext uri="{FF2B5EF4-FFF2-40B4-BE49-F238E27FC236}">
                <a16:creationId xmlns:a16="http://schemas.microsoft.com/office/drawing/2014/main" id="{D597A7EF-71D2-4627-9B68-A383454AC8EE}"/>
              </a:ext>
            </a:extLst>
          </p:cNvPr>
          <p:cNvPicPr>
            <a:picLocks noChangeAspect="1"/>
          </p:cNvPicPr>
          <p:nvPr/>
        </p:nvPicPr>
        <p:blipFill>
          <a:blip r:embed="rId4"/>
          <a:stretch>
            <a:fillRect/>
          </a:stretch>
        </p:blipFill>
        <p:spPr>
          <a:xfrm>
            <a:off x="7970482" y="1731696"/>
            <a:ext cx="3979309" cy="1754320"/>
          </a:xfrm>
          <a:prstGeom prst="rect">
            <a:avLst/>
          </a:prstGeom>
        </p:spPr>
      </p:pic>
    </p:spTree>
    <p:extLst>
      <p:ext uri="{BB962C8B-B14F-4D97-AF65-F5344CB8AC3E}">
        <p14:creationId xmlns:p14="http://schemas.microsoft.com/office/powerpoint/2010/main" val="1016211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en-US" dirty="0"/>
              <a:t>DOM</a:t>
            </a:r>
            <a:r>
              <a:rPr lang="ru-RU" dirty="0"/>
              <a:t> (</a:t>
            </a:r>
            <a:r>
              <a:rPr lang="en-US" dirty="0"/>
              <a:t>document object model) – API, </a:t>
            </a:r>
            <a:r>
              <a:rPr lang="ru-RU" dirty="0"/>
              <a:t>объектная модель документа, результат преобразования кода </a:t>
            </a:r>
            <a:r>
              <a:rPr lang="en-US" dirty="0"/>
              <a:t>html </a:t>
            </a:r>
            <a:r>
              <a:rPr lang="ru-RU" dirty="0"/>
              <a:t>в, условно говоря, древовидную иерархию объектов документа, используется для обращения к элементам документа </a:t>
            </a:r>
            <a:r>
              <a:rPr lang="en-US" dirty="0"/>
              <a:t>JS </a:t>
            </a:r>
            <a:r>
              <a:rPr lang="ru-RU" dirty="0"/>
              <a:t>и др.</a:t>
            </a:r>
            <a:endParaRPr lang="en-US" dirty="0"/>
          </a:p>
        </p:txBody>
      </p:sp>
    </p:spTree>
    <p:extLst>
      <p:ext uri="{BB962C8B-B14F-4D97-AF65-F5344CB8AC3E}">
        <p14:creationId xmlns:p14="http://schemas.microsoft.com/office/powerpoint/2010/main" val="20173799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endParaRPr lang="en-US" dirty="0"/>
          </a:p>
        </p:txBody>
      </p:sp>
      <p:pic>
        <p:nvPicPr>
          <p:cNvPr id="3" name="Рисунок 2">
            <a:extLst>
              <a:ext uri="{FF2B5EF4-FFF2-40B4-BE49-F238E27FC236}">
                <a16:creationId xmlns:a16="http://schemas.microsoft.com/office/drawing/2014/main" id="{5CC85FD3-2F5F-4620-910D-1009679E8293}"/>
              </a:ext>
            </a:extLst>
          </p:cNvPr>
          <p:cNvPicPr>
            <a:picLocks noChangeAspect="1"/>
          </p:cNvPicPr>
          <p:nvPr/>
        </p:nvPicPr>
        <p:blipFill>
          <a:blip r:embed="rId3"/>
          <a:stretch>
            <a:fillRect/>
          </a:stretch>
        </p:blipFill>
        <p:spPr>
          <a:xfrm>
            <a:off x="1746083" y="2334333"/>
            <a:ext cx="4116456" cy="3333921"/>
          </a:xfrm>
          <a:prstGeom prst="rect">
            <a:avLst/>
          </a:prstGeom>
        </p:spPr>
      </p:pic>
      <p:pic>
        <p:nvPicPr>
          <p:cNvPr id="5" name="Рисунок 4">
            <a:extLst>
              <a:ext uri="{FF2B5EF4-FFF2-40B4-BE49-F238E27FC236}">
                <a16:creationId xmlns:a16="http://schemas.microsoft.com/office/drawing/2014/main" id="{46269303-9526-40F1-B48B-DB63101C637B}"/>
              </a:ext>
            </a:extLst>
          </p:cNvPr>
          <p:cNvPicPr>
            <a:picLocks noChangeAspect="1"/>
          </p:cNvPicPr>
          <p:nvPr/>
        </p:nvPicPr>
        <p:blipFill>
          <a:blip r:embed="rId4"/>
          <a:stretch>
            <a:fillRect/>
          </a:stretch>
        </p:blipFill>
        <p:spPr>
          <a:xfrm>
            <a:off x="6096000" y="1940386"/>
            <a:ext cx="3768516" cy="4121813"/>
          </a:xfrm>
          <a:prstGeom prst="rect">
            <a:avLst/>
          </a:prstGeom>
        </p:spPr>
      </p:pic>
    </p:spTree>
    <p:extLst>
      <p:ext uri="{BB962C8B-B14F-4D97-AF65-F5344CB8AC3E}">
        <p14:creationId xmlns:p14="http://schemas.microsoft.com/office/powerpoint/2010/main" val="9942894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endParaRPr lang="en-US" dirty="0"/>
          </a:p>
        </p:txBody>
      </p:sp>
      <p:pic>
        <p:nvPicPr>
          <p:cNvPr id="8194" name="Picture 2" descr="Объектная модель документа: что такое DOM и чем не является?">
            <a:extLst>
              <a:ext uri="{FF2B5EF4-FFF2-40B4-BE49-F238E27FC236}">
                <a16:creationId xmlns:a16="http://schemas.microsoft.com/office/drawing/2014/main" id="{CD0C7B8B-16F3-44B3-9B75-BA0E02A7D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2815" y="2567465"/>
            <a:ext cx="3480668" cy="355498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Объектная модель документа: что такое DOM и чем не является?">
            <a:extLst>
              <a:ext uri="{FF2B5EF4-FFF2-40B4-BE49-F238E27FC236}">
                <a16:creationId xmlns:a16="http://schemas.microsoft.com/office/drawing/2014/main" id="{B42E8E44-D5DE-4DC3-B852-BFACA0D5E8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8518" y="4344959"/>
            <a:ext cx="3554988" cy="2155289"/>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a:extLst>
              <a:ext uri="{FF2B5EF4-FFF2-40B4-BE49-F238E27FC236}">
                <a16:creationId xmlns:a16="http://schemas.microsoft.com/office/drawing/2014/main" id="{B0F5FE01-0500-483D-B4F7-B134F549401A}"/>
              </a:ext>
            </a:extLst>
          </p:cNvPr>
          <p:cNvPicPr>
            <a:picLocks noChangeAspect="1"/>
          </p:cNvPicPr>
          <p:nvPr/>
        </p:nvPicPr>
        <p:blipFill>
          <a:blip r:embed="rId5"/>
          <a:stretch>
            <a:fillRect/>
          </a:stretch>
        </p:blipFill>
        <p:spPr>
          <a:xfrm>
            <a:off x="5938914" y="1533944"/>
            <a:ext cx="5207068" cy="2467350"/>
          </a:xfrm>
          <a:prstGeom prst="rect">
            <a:avLst/>
          </a:prstGeom>
        </p:spPr>
      </p:pic>
    </p:spTree>
    <p:extLst>
      <p:ext uri="{BB962C8B-B14F-4D97-AF65-F5344CB8AC3E}">
        <p14:creationId xmlns:p14="http://schemas.microsoft.com/office/powerpoint/2010/main" val="21663928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209A2-CFE8-4CE9-AC40-14449414EAB8}"/>
              </a:ext>
            </a:extLst>
          </p:cNvPr>
          <p:cNvSpPr>
            <a:spLocks noGrp="1"/>
          </p:cNvSpPr>
          <p:nvPr>
            <p:ph type="ctrTitle"/>
          </p:nvPr>
        </p:nvSpPr>
        <p:spPr/>
        <p:txBody>
          <a:bodyPr/>
          <a:lstStyle/>
          <a:p>
            <a:r>
              <a:rPr lang="ru-RU" dirty="0"/>
              <a:t>Оформление </a:t>
            </a:r>
            <a:r>
              <a:rPr lang="en-US" dirty="0"/>
              <a:t>web-</a:t>
            </a:r>
            <a:r>
              <a:rPr lang="ru-RU" dirty="0"/>
              <a:t>страниц</a:t>
            </a:r>
          </a:p>
        </p:txBody>
      </p:sp>
      <p:sp>
        <p:nvSpPr>
          <p:cNvPr id="3" name="Подзаголовок 2">
            <a:extLst>
              <a:ext uri="{FF2B5EF4-FFF2-40B4-BE49-F238E27FC236}">
                <a16:creationId xmlns:a16="http://schemas.microsoft.com/office/drawing/2014/main" id="{7A288AB3-3988-4048-A010-34A72200D883}"/>
              </a:ext>
            </a:extLst>
          </p:cNvPr>
          <p:cNvSpPr>
            <a:spLocks noGrp="1"/>
          </p:cNvSpPr>
          <p:nvPr>
            <p:ph type="subTitle" idx="1"/>
          </p:nvPr>
        </p:nvSpPr>
        <p:spPr/>
        <p:txBody>
          <a:bodyPr/>
          <a:lstStyle/>
          <a:p>
            <a:r>
              <a:rPr lang="ru-RU" dirty="0"/>
              <a:t>Адаптивные изображения. Работа с мультимедиа в </a:t>
            </a:r>
            <a:r>
              <a:rPr lang="en-US" dirty="0"/>
              <a:t>HTML5</a:t>
            </a:r>
            <a:r>
              <a:rPr lang="ru-RU" dirty="0"/>
              <a:t>. </a:t>
            </a:r>
            <a:r>
              <a:rPr lang="en-US" dirty="0"/>
              <a:t>CSS</a:t>
            </a:r>
            <a:endParaRPr lang="ru-RU" dirty="0"/>
          </a:p>
        </p:txBody>
      </p:sp>
    </p:spTree>
    <p:extLst>
      <p:ext uri="{BB962C8B-B14F-4D97-AF65-F5344CB8AC3E}">
        <p14:creationId xmlns:p14="http://schemas.microsoft.com/office/powerpoint/2010/main" val="34620985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209A2-CFE8-4CE9-AC40-14449414EAB8}"/>
              </a:ext>
            </a:extLst>
          </p:cNvPr>
          <p:cNvSpPr>
            <a:spLocks noGrp="1"/>
          </p:cNvSpPr>
          <p:nvPr>
            <p:ph type="ctrTitle"/>
          </p:nvPr>
        </p:nvSpPr>
        <p:spPr/>
        <p:txBody>
          <a:bodyPr/>
          <a:lstStyle/>
          <a:p>
            <a:r>
              <a:rPr lang="ru-RU" dirty="0"/>
              <a:t>Адаптивные изображения</a:t>
            </a:r>
          </a:p>
        </p:txBody>
      </p:sp>
      <p:sp>
        <p:nvSpPr>
          <p:cNvPr id="3" name="Подзаголовок 2">
            <a:extLst>
              <a:ext uri="{FF2B5EF4-FFF2-40B4-BE49-F238E27FC236}">
                <a16:creationId xmlns:a16="http://schemas.microsoft.com/office/drawing/2014/main" id="{7A288AB3-3988-4048-A010-34A72200D883}"/>
              </a:ext>
            </a:extLst>
          </p:cNvPr>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1073078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pic>
        <p:nvPicPr>
          <p:cNvPr id="1026" name="Picture 2" descr="Microsoft Surface Laptop 4 13,5 AMD Ryzen 5 16GB 256GB Ice Blue : Store  Surface Pro, В нашем интернет магазине вы можете купить Surface Pro и  Surface Book">
            <a:extLst>
              <a:ext uri="{FF2B5EF4-FFF2-40B4-BE49-F238E27FC236}">
                <a16:creationId xmlns:a16="http://schemas.microsoft.com/office/drawing/2014/main" id="{32970013-791A-429E-BFF5-AE72CDF1541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55996" y="1321088"/>
            <a:ext cx="8495904" cy="56639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et extensions to customize Safari on iPhone - Apple Support (MZ)">
            <a:extLst>
              <a:ext uri="{FF2B5EF4-FFF2-40B4-BE49-F238E27FC236}">
                <a16:creationId xmlns:a16="http://schemas.microsoft.com/office/drawing/2014/main" id="{8E272126-20D8-4E07-8A98-2447FF5619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7873" y="2194502"/>
            <a:ext cx="1592448" cy="3243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9346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F4D2E2E-D55A-42A6-8AE0-145A05F147F1}"/>
              </a:ext>
            </a:extLst>
          </p:cNvPr>
          <p:cNvSpPr>
            <a:spLocks noGrp="1"/>
          </p:cNvSpPr>
          <p:nvPr>
            <p:ph idx="1"/>
          </p:nvPr>
        </p:nvSpPr>
        <p:spPr/>
        <p:txBody>
          <a:bodyPr/>
          <a:lstStyle/>
          <a:p>
            <a:endParaRPr lang="ru-RU" dirty="0"/>
          </a:p>
        </p:txBody>
      </p:sp>
      <p:pic>
        <p:nvPicPr>
          <p:cNvPr id="9" name="Picture 2" descr="Microsoft Surface Laptop 4 13,5 AMD Ryzen 5 16GB 256GB Ice Blue : Store  Surface Pro, В нашем интернет магазине вы можете купить Surface Pro и  Surface Book">
            <a:extLst>
              <a:ext uri="{FF2B5EF4-FFF2-40B4-BE49-F238E27FC236}">
                <a16:creationId xmlns:a16="http://schemas.microsoft.com/office/drawing/2014/main" id="{3A859EC7-169A-4F7E-9B91-071186905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996" y="1321088"/>
            <a:ext cx="8495904" cy="566393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Get extensions to customize Safari on iPhone - Apple Support (MZ)">
            <a:extLst>
              <a:ext uri="{FF2B5EF4-FFF2-40B4-BE49-F238E27FC236}">
                <a16:creationId xmlns:a16="http://schemas.microsoft.com/office/drawing/2014/main" id="{4243ED96-A1AC-4299-BC00-1DF3CCECC7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7873" y="2194502"/>
            <a:ext cx="1592448" cy="3243460"/>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pic>
        <p:nvPicPr>
          <p:cNvPr id="3074" name="Picture 2" descr="Premium Photo | Man looking into the distance">
            <a:extLst>
              <a:ext uri="{FF2B5EF4-FFF2-40B4-BE49-F238E27FC236}">
                <a16:creationId xmlns:a16="http://schemas.microsoft.com/office/drawing/2014/main" id="{D498EF2A-EEAB-4C60-BC5C-2C2FEA90F9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6557" y="1910913"/>
            <a:ext cx="5504221" cy="36665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remium Photo | Man looking into the distance">
            <a:extLst>
              <a:ext uri="{FF2B5EF4-FFF2-40B4-BE49-F238E27FC236}">
                <a16:creationId xmlns:a16="http://schemas.microsoft.com/office/drawing/2014/main" id="{E3A9C9EF-41B3-4624-9489-027B9422DD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8684" y="3428999"/>
            <a:ext cx="1426116" cy="94998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hinese guy Meme Generator">
            <a:extLst>
              <a:ext uri="{FF2B5EF4-FFF2-40B4-BE49-F238E27FC236}">
                <a16:creationId xmlns:a16="http://schemas.microsoft.com/office/drawing/2014/main" id="{B4FC2E46-7200-42FE-969D-EB6F2397E28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10000" r="90000">
                        <a14:foregroundMark x1="10000" y1="73052" x2="10800" y2="78896"/>
                        <a14:foregroundMark x1="21000" y1="76299" x2="52600" y2="78571"/>
                        <a14:foregroundMark x1="52600" y1="78571" x2="78600" y2="78247"/>
                        <a14:foregroundMark x1="78600" y1="78247" x2="32800" y2="63312"/>
                        <a14:foregroundMark x1="32800" y1="63312" x2="20200" y2="72727"/>
                      </a14:backgroundRemoval>
                    </a14:imgEffect>
                  </a14:imgLayer>
                </a14:imgProps>
              </a:ext>
              <a:ext uri="{28A0092B-C50C-407E-A947-70E740481C1C}">
                <a14:useLocalDpi xmlns:a14="http://schemas.microsoft.com/office/drawing/2010/main" val="0"/>
              </a:ext>
            </a:extLst>
          </a:blip>
          <a:srcRect/>
          <a:stretch>
            <a:fillRect/>
          </a:stretch>
        </p:blipFill>
        <p:spPr bwMode="auto">
          <a:xfrm>
            <a:off x="9162852" y="4605140"/>
            <a:ext cx="4381896" cy="2699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919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F4D2E2E-D55A-42A6-8AE0-145A05F147F1}"/>
              </a:ext>
            </a:extLst>
          </p:cNvPr>
          <p:cNvSpPr>
            <a:spLocks noGrp="1"/>
          </p:cNvSpPr>
          <p:nvPr>
            <p:ph idx="1"/>
          </p:nvPr>
        </p:nvSpPr>
        <p:spPr/>
        <p:txBody>
          <a:bodyPr/>
          <a:lstStyle/>
          <a:p>
            <a:endParaRPr lang="ru-RU" dirty="0"/>
          </a:p>
        </p:txBody>
      </p:sp>
      <p:pic>
        <p:nvPicPr>
          <p:cNvPr id="9" name="Picture 2" descr="Microsoft Surface Laptop 4 13,5 AMD Ryzen 5 16GB 256GB Ice Blue : Store  Surface Pro, В нашем интернет магазине вы можете купить Surface Pro и  Surface Book">
            <a:extLst>
              <a:ext uri="{FF2B5EF4-FFF2-40B4-BE49-F238E27FC236}">
                <a16:creationId xmlns:a16="http://schemas.microsoft.com/office/drawing/2014/main" id="{3A859EC7-169A-4F7E-9B91-071186905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996" y="1321088"/>
            <a:ext cx="8495904" cy="566393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Get extensions to customize Safari on iPhone - Apple Support (MZ)">
            <a:extLst>
              <a:ext uri="{FF2B5EF4-FFF2-40B4-BE49-F238E27FC236}">
                <a16:creationId xmlns:a16="http://schemas.microsoft.com/office/drawing/2014/main" id="{4243ED96-A1AC-4299-BC00-1DF3CCECC7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7873" y="2194502"/>
            <a:ext cx="1592448" cy="3243460"/>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pic>
        <p:nvPicPr>
          <p:cNvPr id="3074" name="Picture 2" descr="Premium Photo | Man looking into the distance">
            <a:extLst>
              <a:ext uri="{FF2B5EF4-FFF2-40B4-BE49-F238E27FC236}">
                <a16:creationId xmlns:a16="http://schemas.microsoft.com/office/drawing/2014/main" id="{D498EF2A-EEAB-4C60-BC5C-2C2FEA90F9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6557" y="1910913"/>
            <a:ext cx="5504221" cy="36665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remium Photo | Man looking into the distance">
            <a:extLst>
              <a:ext uri="{FF2B5EF4-FFF2-40B4-BE49-F238E27FC236}">
                <a16:creationId xmlns:a16="http://schemas.microsoft.com/office/drawing/2014/main" id="{E3A9C9EF-41B3-4624-9489-027B9422DD1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4549" r="24776"/>
          <a:stretch/>
        </p:blipFill>
        <p:spPr bwMode="auto">
          <a:xfrm>
            <a:off x="9036051" y="2881353"/>
            <a:ext cx="1422400" cy="1869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1114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p:txBody>
          <a:bodyPr/>
          <a:lstStyle/>
          <a:p>
            <a:endParaRPr lang="ru-RU" dirty="0"/>
          </a:p>
        </p:txBody>
      </p:sp>
      <p:pic>
        <p:nvPicPr>
          <p:cNvPr id="2050" name="Picture 2" descr="JavaScript — Википедия">
            <a:extLst>
              <a:ext uri="{FF2B5EF4-FFF2-40B4-BE49-F238E27FC236}">
                <a16:creationId xmlns:a16="http://schemas.microsoft.com/office/drawing/2014/main" id="{85E72504-8C3D-4A49-BECB-6A07E94AF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4745" y="1825625"/>
            <a:ext cx="4142509" cy="4142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582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p:txBody>
          <a:bodyPr/>
          <a:lstStyle/>
          <a:p>
            <a:r>
              <a:rPr lang="ru-RU" dirty="0"/>
              <a:t>Изображения веб-страницы должны быть адаптируемыми к разрешению окна браузера, в первую очередь, к ширине</a:t>
            </a:r>
          </a:p>
          <a:p>
            <a:r>
              <a:rPr lang="ru-RU" dirty="0"/>
              <a:t>Масштабирование изображений скриптом вызывает задержку загрузки страницы в среднем на 20%</a:t>
            </a:r>
          </a:p>
          <a:p>
            <a:r>
              <a:rPr lang="ru-RU" dirty="0"/>
              <a:t>Лучший выход – воспользоваться несколькими изображениями под разную ширину экрана с помощью техники адаптивных (</a:t>
            </a:r>
            <a:r>
              <a:rPr lang="en-US" dirty="0"/>
              <a:t>responsive, </a:t>
            </a:r>
            <a:r>
              <a:rPr lang="ru-RU" dirty="0"/>
              <a:t>иногда называют гибкими) изображений</a:t>
            </a:r>
          </a:p>
        </p:txBody>
      </p:sp>
    </p:spTree>
    <p:extLst>
      <p:ext uri="{BB962C8B-B14F-4D97-AF65-F5344CB8AC3E}">
        <p14:creationId xmlns:p14="http://schemas.microsoft.com/office/powerpoint/2010/main" val="2910039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p:txBody>
          <a:bodyPr/>
          <a:lstStyle/>
          <a:p>
            <a:r>
              <a:rPr lang="en-US" dirty="0"/>
              <a:t>3</a:t>
            </a:r>
            <a:r>
              <a:rPr lang="ru-RU" dirty="0"/>
              <a:t> способа создания адаптивных изображений:</a:t>
            </a:r>
          </a:p>
          <a:p>
            <a:r>
              <a:rPr lang="ru-RU" dirty="0"/>
              <a:t>1) векторная графика;</a:t>
            </a:r>
          </a:p>
          <a:p>
            <a:r>
              <a:rPr lang="ru-RU" dirty="0"/>
              <a:t>2) переключение разрешений;</a:t>
            </a:r>
          </a:p>
          <a:p>
            <a:r>
              <a:rPr lang="ru-RU" dirty="0"/>
              <a:t>3) художественное оформление</a:t>
            </a:r>
          </a:p>
        </p:txBody>
      </p:sp>
    </p:spTree>
    <p:extLst>
      <p:ext uri="{BB962C8B-B14F-4D97-AF65-F5344CB8AC3E}">
        <p14:creationId xmlns:p14="http://schemas.microsoft.com/office/powerpoint/2010/main" val="23128428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p:txBody>
          <a:bodyPr/>
          <a:lstStyle/>
          <a:p>
            <a:r>
              <a:rPr lang="ru-RU" dirty="0"/>
              <a:t>Векторные изображения хранят информацию не в виде отдельных пикселов, но в виде фигур, линий и т.д.</a:t>
            </a:r>
            <a:r>
              <a:rPr lang="en-US" dirty="0"/>
              <a:t>, </a:t>
            </a:r>
            <a:r>
              <a:rPr lang="ru-RU" dirty="0"/>
              <a:t>они масштабируются без потери качества</a:t>
            </a:r>
            <a:endParaRPr lang="en-US" dirty="0"/>
          </a:p>
          <a:p>
            <a:r>
              <a:rPr lang="en-US" dirty="0"/>
              <a:t>&lt;img </a:t>
            </a:r>
            <a:r>
              <a:rPr lang="en-US" dirty="0" err="1"/>
              <a:t>src</a:t>
            </a:r>
            <a:r>
              <a:rPr lang="en-US" dirty="0"/>
              <a:t>="</a:t>
            </a:r>
            <a:r>
              <a:rPr lang="en-US" dirty="0" err="1"/>
              <a:t>picture.svg</a:t>
            </a:r>
            <a:r>
              <a:rPr lang="en-US" dirty="0"/>
              <a:t>"&gt; -</a:t>
            </a:r>
            <a:r>
              <a:rPr lang="ru-RU" dirty="0"/>
              <a:t> добавляет векторное изображение </a:t>
            </a:r>
            <a:r>
              <a:rPr lang="en-US" dirty="0" err="1"/>
              <a:t>svg</a:t>
            </a:r>
            <a:endParaRPr lang="ru-RU" dirty="0"/>
          </a:p>
          <a:p>
            <a:endParaRPr lang="ru-RU" dirty="0"/>
          </a:p>
        </p:txBody>
      </p:sp>
      <p:pic>
        <p:nvPicPr>
          <p:cNvPr id="4" name="Рисунок 3">
            <a:extLst>
              <a:ext uri="{FF2B5EF4-FFF2-40B4-BE49-F238E27FC236}">
                <a16:creationId xmlns:a16="http://schemas.microsoft.com/office/drawing/2014/main" id="{4E047E8A-AE55-4C72-AABA-BE50B143B061}"/>
              </a:ext>
            </a:extLst>
          </p:cNvPr>
          <p:cNvPicPr>
            <a:picLocks noChangeAspect="1"/>
          </p:cNvPicPr>
          <p:nvPr/>
        </p:nvPicPr>
        <p:blipFill rotWithShape="1">
          <a:blip r:embed="rId3"/>
          <a:srcRect l="11650" t="9674" r="3487" b="10723"/>
          <a:stretch/>
        </p:blipFill>
        <p:spPr>
          <a:xfrm>
            <a:off x="2078180" y="3643744"/>
            <a:ext cx="3449783" cy="3081897"/>
          </a:xfrm>
          <a:prstGeom prst="rect">
            <a:avLst/>
          </a:prstGeom>
        </p:spPr>
      </p:pic>
      <p:pic>
        <p:nvPicPr>
          <p:cNvPr id="5" name="Рисунок 4">
            <a:extLst>
              <a:ext uri="{FF2B5EF4-FFF2-40B4-BE49-F238E27FC236}">
                <a16:creationId xmlns:a16="http://schemas.microsoft.com/office/drawing/2014/main" id="{00F68780-66DE-4FE7-8259-3C0CEDD88A44}"/>
              </a:ext>
            </a:extLst>
          </p:cNvPr>
          <p:cNvPicPr>
            <a:picLocks noChangeAspect="1"/>
          </p:cNvPicPr>
          <p:nvPr/>
        </p:nvPicPr>
        <p:blipFill>
          <a:blip r:embed="rId4"/>
          <a:stretch>
            <a:fillRect/>
          </a:stretch>
        </p:blipFill>
        <p:spPr>
          <a:xfrm>
            <a:off x="6220691" y="3753994"/>
            <a:ext cx="3312259" cy="2861395"/>
          </a:xfrm>
          <a:prstGeom prst="rect">
            <a:avLst/>
          </a:prstGeom>
        </p:spPr>
      </p:pic>
    </p:spTree>
    <p:extLst>
      <p:ext uri="{BB962C8B-B14F-4D97-AF65-F5344CB8AC3E}">
        <p14:creationId xmlns:p14="http://schemas.microsoft.com/office/powerpoint/2010/main" val="13953905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838200" y="1825624"/>
            <a:ext cx="11049000" cy="5032375"/>
          </a:xfrm>
        </p:spPr>
        <p:txBody>
          <a:bodyPr>
            <a:normAutofit/>
          </a:bodyPr>
          <a:lstStyle/>
          <a:p>
            <a:r>
              <a:rPr lang="ru-RU" dirty="0"/>
              <a:t>Для отображения </a:t>
            </a:r>
            <a:r>
              <a:rPr lang="en-US" dirty="0" err="1"/>
              <a:t>svg</a:t>
            </a:r>
            <a:r>
              <a:rPr lang="en-US" dirty="0"/>
              <a:t> </a:t>
            </a:r>
            <a:r>
              <a:rPr lang="ru-RU" dirty="0"/>
              <a:t>требуется вычисление итогового</a:t>
            </a:r>
            <a:r>
              <a:rPr lang="en-US" dirty="0"/>
              <a:t> </a:t>
            </a:r>
            <a:r>
              <a:rPr lang="ru-RU" dirty="0"/>
              <a:t>изображения, что для сложных изображений может вызывать задержки</a:t>
            </a:r>
          </a:p>
          <a:p>
            <a:r>
              <a:rPr lang="ru-RU" dirty="0"/>
              <a:t>Тегом </a:t>
            </a:r>
            <a:r>
              <a:rPr lang="en-US" dirty="0" err="1"/>
              <a:t>svg</a:t>
            </a:r>
            <a:r>
              <a:rPr lang="en-US" dirty="0"/>
              <a:t> </a:t>
            </a:r>
            <a:r>
              <a:rPr lang="ru-RU" dirty="0"/>
              <a:t>можно добавлять векторное изображение в виде фигур, путей и т.п., в </a:t>
            </a:r>
            <a:r>
              <a:rPr lang="en-US" dirty="0"/>
              <a:t>xml </a:t>
            </a:r>
            <a:r>
              <a:rPr lang="ru-RU" dirty="0"/>
              <a:t>формате (</a:t>
            </a:r>
            <a:r>
              <a:rPr lang="en-US" dirty="0" err="1"/>
              <a:t>svg</a:t>
            </a:r>
            <a:r>
              <a:rPr lang="en-US" dirty="0"/>
              <a:t> – </a:t>
            </a:r>
            <a:r>
              <a:rPr lang="ru-RU" dirty="0"/>
              <a:t>документ</a:t>
            </a:r>
            <a:r>
              <a:rPr lang="en-US" dirty="0"/>
              <a:t> </a:t>
            </a:r>
            <a:r>
              <a:rPr lang="ru-RU" dirty="0"/>
              <a:t>подвида </a:t>
            </a:r>
            <a:r>
              <a:rPr lang="en-US" dirty="0"/>
              <a:t>xml</a:t>
            </a:r>
            <a:r>
              <a:rPr lang="ru-RU" dirty="0"/>
              <a:t>)</a:t>
            </a:r>
          </a:p>
          <a:p>
            <a:r>
              <a:rPr lang="ru-RU" dirty="0"/>
              <a:t>Существуют и другие векторные форматы графики, но для </a:t>
            </a:r>
            <a:r>
              <a:rPr lang="en-US" dirty="0"/>
              <a:t>HTML </a:t>
            </a:r>
            <a:r>
              <a:rPr lang="ru-RU" dirty="0"/>
              <a:t>используют </a:t>
            </a:r>
            <a:r>
              <a:rPr lang="en-US" dirty="0" err="1"/>
              <a:t>svg</a:t>
            </a:r>
            <a:endParaRPr lang="en-US" dirty="0"/>
          </a:p>
          <a:p>
            <a:r>
              <a:rPr lang="ru-RU" dirty="0"/>
              <a:t>Изображения </a:t>
            </a:r>
            <a:r>
              <a:rPr lang="en-US" dirty="0" err="1"/>
              <a:t>svg</a:t>
            </a:r>
            <a:r>
              <a:rPr lang="en-US" dirty="0"/>
              <a:t> </a:t>
            </a:r>
            <a:r>
              <a:rPr lang="ru-RU" dirty="0"/>
              <a:t>рекомендуют использовать для</a:t>
            </a:r>
            <a:br>
              <a:rPr lang="en-US" dirty="0"/>
            </a:br>
            <a:r>
              <a:rPr lang="ru-RU" dirty="0"/>
              <a:t>схем, иллюстраций, иногда логотипов</a:t>
            </a:r>
          </a:p>
        </p:txBody>
      </p:sp>
      <p:pic>
        <p:nvPicPr>
          <p:cNvPr id="4098" name="Picture 2">
            <a:extLst>
              <a:ext uri="{FF2B5EF4-FFF2-40B4-BE49-F238E27FC236}">
                <a16:creationId xmlns:a16="http://schemas.microsoft.com/office/drawing/2014/main" id="{C40E302E-650E-464F-8CDC-1CB3654AA9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9631" y="4221785"/>
            <a:ext cx="1685059" cy="2409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6540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838200" y="1825624"/>
            <a:ext cx="11049000" cy="5032375"/>
          </a:xfrm>
        </p:spPr>
        <p:txBody>
          <a:bodyPr>
            <a:normAutofit/>
          </a:bodyPr>
          <a:lstStyle/>
          <a:p>
            <a:pPr marL="0" indent="0">
              <a:buNone/>
            </a:pPr>
            <a:r>
              <a:rPr lang="en-US" dirty="0"/>
              <a:t>&lt;</a:t>
            </a:r>
            <a:r>
              <a:rPr lang="en-US" dirty="0" err="1"/>
              <a:t>svg</a:t>
            </a:r>
            <a:endParaRPr lang="en-US" dirty="0"/>
          </a:p>
          <a:p>
            <a:pPr marL="0" indent="0">
              <a:buNone/>
            </a:pPr>
            <a:r>
              <a:rPr lang="en-US" dirty="0"/>
              <a:t>  version="1.1"</a:t>
            </a:r>
          </a:p>
          <a:p>
            <a:pPr marL="0" indent="0">
              <a:buNone/>
            </a:pPr>
            <a:r>
              <a:rPr lang="en-US" dirty="0"/>
              <a:t>  </a:t>
            </a:r>
            <a:r>
              <a:rPr lang="en-US" dirty="0" err="1"/>
              <a:t>baseProfile</a:t>
            </a:r>
            <a:r>
              <a:rPr lang="en-US" dirty="0"/>
              <a:t>="full"</a:t>
            </a:r>
          </a:p>
          <a:p>
            <a:pPr marL="0" indent="0">
              <a:buNone/>
            </a:pPr>
            <a:r>
              <a:rPr lang="en-US" dirty="0"/>
              <a:t>  width="300"</a:t>
            </a:r>
          </a:p>
          <a:p>
            <a:pPr marL="0" indent="0">
              <a:buNone/>
            </a:pPr>
            <a:r>
              <a:rPr lang="en-US" dirty="0"/>
              <a:t>  height="200"</a:t>
            </a:r>
          </a:p>
          <a:p>
            <a:pPr marL="0" indent="0">
              <a:buNone/>
            </a:pPr>
            <a:r>
              <a:rPr lang="en-US" dirty="0"/>
              <a:t>  </a:t>
            </a:r>
            <a:r>
              <a:rPr lang="en-US" dirty="0" err="1"/>
              <a:t>xmlns</a:t>
            </a:r>
            <a:r>
              <a:rPr lang="en-US" dirty="0"/>
              <a:t>="http://www.w3.org/2000/svg"&gt;</a:t>
            </a:r>
          </a:p>
          <a:p>
            <a:pPr marL="0" indent="0">
              <a:buNone/>
            </a:pPr>
            <a:r>
              <a:rPr lang="en-US" dirty="0"/>
              <a:t>  &lt;</a:t>
            </a:r>
            <a:r>
              <a:rPr lang="en-US" dirty="0" err="1"/>
              <a:t>rect</a:t>
            </a:r>
            <a:r>
              <a:rPr lang="en-US" dirty="0"/>
              <a:t> width="100%" height="100%" fill="black" /&gt;</a:t>
            </a:r>
          </a:p>
          <a:p>
            <a:pPr marL="0" indent="0">
              <a:buNone/>
            </a:pPr>
            <a:r>
              <a:rPr lang="en-US" dirty="0"/>
              <a:t>  &lt;circle cx="150" cy="100" r="90" fill="blue" /&gt;</a:t>
            </a:r>
          </a:p>
          <a:p>
            <a:pPr marL="0" indent="0">
              <a:buNone/>
            </a:pPr>
            <a:r>
              <a:rPr lang="en-US" dirty="0"/>
              <a:t>&lt;/</a:t>
            </a:r>
            <a:r>
              <a:rPr lang="en-US" dirty="0" err="1"/>
              <a:t>svg</a:t>
            </a:r>
            <a:r>
              <a:rPr lang="en-US" dirty="0"/>
              <a:t>&gt;</a:t>
            </a:r>
            <a:endParaRPr lang="ru-RU" dirty="0"/>
          </a:p>
        </p:txBody>
      </p:sp>
      <p:pic>
        <p:nvPicPr>
          <p:cNvPr id="4" name="Рисунок 3">
            <a:extLst>
              <a:ext uri="{FF2B5EF4-FFF2-40B4-BE49-F238E27FC236}">
                <a16:creationId xmlns:a16="http://schemas.microsoft.com/office/drawing/2014/main" id="{B5F75CDA-4968-408E-B0CC-E239BD2F0D00}"/>
              </a:ext>
            </a:extLst>
          </p:cNvPr>
          <p:cNvPicPr>
            <a:picLocks noChangeAspect="1"/>
          </p:cNvPicPr>
          <p:nvPr/>
        </p:nvPicPr>
        <p:blipFill>
          <a:blip r:embed="rId3"/>
          <a:stretch>
            <a:fillRect/>
          </a:stretch>
        </p:blipFill>
        <p:spPr>
          <a:xfrm>
            <a:off x="8108300" y="2021273"/>
            <a:ext cx="2819545" cy="1873346"/>
          </a:xfrm>
          <a:prstGeom prst="rect">
            <a:avLst/>
          </a:prstGeom>
        </p:spPr>
      </p:pic>
    </p:spTree>
    <p:extLst>
      <p:ext uri="{BB962C8B-B14F-4D97-AF65-F5344CB8AC3E}">
        <p14:creationId xmlns:p14="http://schemas.microsoft.com/office/powerpoint/2010/main" val="18640773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p:txBody>
          <a:bodyPr/>
          <a:lstStyle/>
          <a:p>
            <a:r>
              <a:rPr lang="ru-RU" dirty="0"/>
              <a:t>Переключение разрешений</a:t>
            </a:r>
            <a:r>
              <a:rPr lang="en-US" dirty="0"/>
              <a:t> </a:t>
            </a:r>
            <a:r>
              <a:rPr lang="ru-RU" dirty="0"/>
              <a:t>изображения в теге </a:t>
            </a:r>
            <a:r>
              <a:rPr lang="en-US" dirty="0"/>
              <a:t>img </a:t>
            </a:r>
            <a:r>
              <a:rPr lang="ru-RU" dirty="0"/>
              <a:t>возможна аргументами </a:t>
            </a:r>
            <a:r>
              <a:rPr lang="en-US" dirty="0" err="1"/>
              <a:t>srcset</a:t>
            </a:r>
            <a:r>
              <a:rPr lang="en-US" dirty="0"/>
              <a:t> </a:t>
            </a:r>
            <a:r>
              <a:rPr lang="ru-RU" dirty="0"/>
              <a:t>и </a:t>
            </a:r>
            <a:r>
              <a:rPr lang="en-US" dirty="0"/>
              <a:t>sizes</a:t>
            </a:r>
            <a:endParaRPr lang="ru-RU" dirty="0"/>
          </a:p>
          <a:p>
            <a:pPr marL="0" indent="0">
              <a:buNone/>
            </a:pPr>
            <a:r>
              <a:rPr lang="en-US" dirty="0"/>
              <a:t>&lt;img  </a:t>
            </a:r>
            <a:r>
              <a:rPr lang="en-US" dirty="0" err="1"/>
              <a:t>srcset</a:t>
            </a:r>
            <a:r>
              <a:rPr lang="en-US" dirty="0"/>
              <a:t>="</a:t>
            </a:r>
            <a:r>
              <a:rPr lang="ru-RU" dirty="0"/>
              <a:t>файл1.</a:t>
            </a:r>
            <a:r>
              <a:rPr lang="en-US" dirty="0"/>
              <a:t>jpg </a:t>
            </a:r>
            <a:r>
              <a:rPr lang="ru-RU" dirty="0"/>
              <a:t>ширина</a:t>
            </a:r>
            <a:r>
              <a:rPr lang="en-US" dirty="0"/>
              <a:t>_</a:t>
            </a:r>
            <a:r>
              <a:rPr lang="ru-RU" dirty="0" err="1"/>
              <a:t>в_пикселах</a:t>
            </a:r>
            <a:r>
              <a:rPr lang="en-US" u="sng" dirty="0"/>
              <a:t>w</a:t>
            </a:r>
            <a:r>
              <a:rPr lang="ru-RU" dirty="0"/>
              <a:t>,</a:t>
            </a:r>
            <a:br>
              <a:rPr lang="ru-RU" dirty="0"/>
            </a:br>
            <a:r>
              <a:rPr lang="ru-RU" dirty="0"/>
              <a:t>		 файл2.</a:t>
            </a:r>
            <a:r>
              <a:rPr lang="en-US" dirty="0"/>
              <a:t>jpg </a:t>
            </a:r>
            <a:r>
              <a:rPr lang="ru-RU" dirty="0"/>
              <a:t>ширина</a:t>
            </a:r>
            <a:r>
              <a:rPr lang="en-US" dirty="0"/>
              <a:t>_</a:t>
            </a:r>
            <a:r>
              <a:rPr lang="ru-RU" dirty="0" err="1"/>
              <a:t>в_пикселах</a:t>
            </a:r>
            <a:r>
              <a:rPr lang="en-US" u="sng" dirty="0"/>
              <a:t>w,</a:t>
            </a:r>
            <a:br>
              <a:rPr lang="en-US" u="sng" dirty="0"/>
            </a:br>
            <a:r>
              <a:rPr lang="en-US" dirty="0"/>
              <a:t> 		 </a:t>
            </a:r>
            <a:r>
              <a:rPr lang="ru-RU" dirty="0"/>
              <a:t>файл3.</a:t>
            </a:r>
            <a:r>
              <a:rPr lang="en-US" dirty="0"/>
              <a:t>jpg </a:t>
            </a:r>
            <a:r>
              <a:rPr lang="ru-RU" dirty="0"/>
              <a:t>ширина</a:t>
            </a:r>
            <a:r>
              <a:rPr lang="en-US" dirty="0"/>
              <a:t>_</a:t>
            </a:r>
            <a:r>
              <a:rPr lang="ru-RU" dirty="0" err="1"/>
              <a:t>в_пикселах</a:t>
            </a:r>
            <a:r>
              <a:rPr lang="en-US" u="sng" dirty="0"/>
              <a:t>w</a:t>
            </a:r>
            <a:r>
              <a:rPr lang="en-US" dirty="0"/>
              <a:t>" </a:t>
            </a:r>
            <a:br>
              <a:rPr lang="ru-RU" dirty="0"/>
            </a:br>
            <a:r>
              <a:rPr lang="ru-RU" dirty="0"/>
              <a:t>	</a:t>
            </a:r>
            <a:r>
              <a:rPr lang="en-US" dirty="0"/>
              <a:t>sizes="(max-width:</a:t>
            </a:r>
            <a:r>
              <a:rPr lang="ru-RU" dirty="0" err="1"/>
              <a:t>ширина_вьюпорта</a:t>
            </a:r>
            <a:r>
              <a:rPr lang="en-US" u="sng" dirty="0"/>
              <a:t>px</a:t>
            </a:r>
            <a:r>
              <a:rPr lang="en-US" dirty="0"/>
              <a:t>): </a:t>
            </a:r>
            <a:r>
              <a:rPr lang="ru-RU" dirty="0" err="1"/>
              <a:t>ширина_слота</a:t>
            </a:r>
            <a:r>
              <a:rPr lang="en-US" u="sng" dirty="0"/>
              <a:t>px,</a:t>
            </a:r>
            <a:br>
              <a:rPr lang="en-US" u="sng" dirty="0"/>
            </a:br>
            <a:r>
              <a:rPr lang="en-US" dirty="0"/>
              <a:t>		 (max-width:</a:t>
            </a:r>
            <a:r>
              <a:rPr lang="ru-RU" dirty="0" err="1"/>
              <a:t>ширина_вьюпорта</a:t>
            </a:r>
            <a:r>
              <a:rPr lang="en-US" u="sng" dirty="0"/>
              <a:t>px</a:t>
            </a:r>
            <a:r>
              <a:rPr lang="en-US" dirty="0"/>
              <a:t>): </a:t>
            </a:r>
            <a:r>
              <a:rPr lang="ru-RU" dirty="0" err="1"/>
              <a:t>ширина_слота</a:t>
            </a:r>
            <a:r>
              <a:rPr lang="en-US" u="sng" dirty="0"/>
              <a:t>px,</a:t>
            </a:r>
            <a:br>
              <a:rPr lang="en-US" u="sng" dirty="0"/>
            </a:br>
            <a:r>
              <a:rPr lang="en-US" dirty="0"/>
              <a:t>		</a:t>
            </a:r>
            <a:r>
              <a:rPr lang="ru-RU" dirty="0"/>
              <a:t> </a:t>
            </a:r>
            <a:r>
              <a:rPr lang="ru-RU" dirty="0" err="1"/>
              <a:t>ширина_слота</a:t>
            </a:r>
            <a:r>
              <a:rPr lang="en-US" u="sng" dirty="0"/>
              <a:t>px</a:t>
            </a:r>
            <a:r>
              <a:rPr lang="en-US" dirty="0"/>
              <a:t>"</a:t>
            </a:r>
            <a:br>
              <a:rPr lang="en-US" dirty="0"/>
            </a:br>
            <a:r>
              <a:rPr lang="en-US" dirty="0"/>
              <a:t>	</a:t>
            </a:r>
            <a:r>
              <a:rPr lang="en-US" dirty="0" err="1"/>
              <a:t>src</a:t>
            </a:r>
            <a:r>
              <a:rPr lang="en-US" dirty="0"/>
              <a:t>="</a:t>
            </a:r>
            <a:r>
              <a:rPr lang="ru-RU" dirty="0" err="1"/>
              <a:t>файл_по_умолчанию</a:t>
            </a:r>
            <a:r>
              <a:rPr lang="ru-RU" dirty="0"/>
              <a:t>.</a:t>
            </a:r>
            <a:r>
              <a:rPr lang="en-US" dirty="0"/>
              <a:t>jpg"/&gt;</a:t>
            </a:r>
            <a:endParaRPr lang="ru-RU" dirty="0"/>
          </a:p>
        </p:txBody>
      </p:sp>
    </p:spTree>
    <p:extLst>
      <p:ext uri="{BB962C8B-B14F-4D97-AF65-F5344CB8AC3E}">
        <p14:creationId xmlns:p14="http://schemas.microsoft.com/office/powerpoint/2010/main" val="27372217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838200" y="1825624"/>
            <a:ext cx="10515600" cy="5157067"/>
          </a:xfrm>
        </p:spPr>
        <p:txBody>
          <a:bodyPr>
            <a:normAutofit/>
          </a:bodyPr>
          <a:lstStyle/>
          <a:p>
            <a:r>
              <a:rPr lang="ru-RU" dirty="0" err="1"/>
              <a:t>sr</a:t>
            </a:r>
            <a:r>
              <a:rPr lang="en-US" dirty="0"/>
              <a:t>c</a:t>
            </a:r>
            <a:r>
              <a:rPr lang="ru-RU" dirty="0" err="1"/>
              <a:t>set</a:t>
            </a:r>
            <a:r>
              <a:rPr lang="en-US" dirty="0"/>
              <a:t> – </a:t>
            </a:r>
            <a:r>
              <a:rPr lang="ru-RU" dirty="0"/>
              <a:t>массив ссылок на изображения с указанием их ширины в пикселах </a:t>
            </a:r>
          </a:p>
          <a:p>
            <a:r>
              <a:rPr lang="en-US" dirty="0"/>
              <a:t>sizes – </a:t>
            </a:r>
            <a:r>
              <a:rPr lang="ru-RU" dirty="0"/>
              <a:t>так называемые медиа-правила, которые выбирают одно из изображений </a:t>
            </a:r>
            <a:r>
              <a:rPr lang="en-US" dirty="0" err="1"/>
              <a:t>srcset</a:t>
            </a:r>
            <a:r>
              <a:rPr lang="ru-RU" dirty="0"/>
              <a:t>, ширина которого наиболее близка к ширине слота правила</a:t>
            </a:r>
          </a:p>
          <a:p>
            <a:r>
              <a:rPr lang="ru-RU" dirty="0" err="1"/>
              <a:t>ширина_вьюпорта</a:t>
            </a:r>
            <a:r>
              <a:rPr lang="ru-RU" dirty="0"/>
              <a:t> – текущая ширина окна браузера</a:t>
            </a:r>
          </a:p>
          <a:p>
            <a:r>
              <a:rPr lang="ru-RU" dirty="0" err="1"/>
              <a:t>ширина_слота</a:t>
            </a:r>
            <a:r>
              <a:rPr lang="ru-RU" dirty="0"/>
              <a:t> – задаваемая ширина изображения</a:t>
            </a:r>
          </a:p>
        </p:txBody>
      </p:sp>
    </p:spTree>
    <p:extLst>
      <p:ext uri="{BB962C8B-B14F-4D97-AF65-F5344CB8AC3E}">
        <p14:creationId xmlns:p14="http://schemas.microsoft.com/office/powerpoint/2010/main" val="6892171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838200" y="1825624"/>
            <a:ext cx="10515600" cy="5157067"/>
          </a:xfrm>
        </p:spPr>
        <p:txBody>
          <a:bodyPr>
            <a:normAutofit/>
          </a:bodyPr>
          <a:lstStyle/>
          <a:p>
            <a:r>
              <a:rPr lang="ru-RU" dirty="0"/>
              <a:t>(</a:t>
            </a:r>
            <a:r>
              <a:rPr lang="en-US" dirty="0"/>
              <a:t>max-width:</a:t>
            </a:r>
            <a:r>
              <a:rPr lang="ru-RU" dirty="0"/>
              <a:t>800</a:t>
            </a:r>
            <a:r>
              <a:rPr lang="en-US" dirty="0"/>
              <a:t>px): </a:t>
            </a:r>
            <a:r>
              <a:rPr lang="ru-RU" dirty="0"/>
              <a:t>800</a:t>
            </a:r>
            <a:r>
              <a:rPr lang="en-US" dirty="0"/>
              <a:t>px</a:t>
            </a:r>
            <a:r>
              <a:rPr lang="ru-RU" dirty="0"/>
              <a:t> = если ширина окна (</a:t>
            </a:r>
            <a:r>
              <a:rPr lang="ru-RU" dirty="0" err="1"/>
              <a:t>вьюпорт</a:t>
            </a:r>
            <a:r>
              <a:rPr lang="ru-RU" dirty="0"/>
              <a:t>) не более 800 пикселов, измени размер области, занимаемой изображением (слот) на 800</a:t>
            </a:r>
          </a:p>
          <a:p>
            <a:r>
              <a:rPr lang="en-US" dirty="0" err="1"/>
              <a:t>src</a:t>
            </a:r>
            <a:r>
              <a:rPr lang="en-US" dirty="0"/>
              <a:t> – </a:t>
            </a:r>
            <a:r>
              <a:rPr lang="ru-RU" dirty="0"/>
              <a:t>изображение по умолчанию для старых браузеров, которые не понимают медиа-правила</a:t>
            </a:r>
          </a:p>
        </p:txBody>
      </p:sp>
    </p:spTree>
    <p:extLst>
      <p:ext uri="{BB962C8B-B14F-4D97-AF65-F5344CB8AC3E}">
        <p14:creationId xmlns:p14="http://schemas.microsoft.com/office/powerpoint/2010/main" val="31949265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838200" y="1825624"/>
            <a:ext cx="10515600" cy="5157067"/>
          </a:xfrm>
        </p:spPr>
        <p:txBody>
          <a:bodyPr>
            <a:normAutofit/>
          </a:bodyPr>
          <a:lstStyle/>
          <a:p>
            <a:endParaRPr lang="ru-RU" dirty="0"/>
          </a:p>
        </p:txBody>
      </p:sp>
      <p:pic>
        <p:nvPicPr>
          <p:cNvPr id="5" name="Рисунок 4">
            <a:extLst>
              <a:ext uri="{FF2B5EF4-FFF2-40B4-BE49-F238E27FC236}">
                <a16:creationId xmlns:a16="http://schemas.microsoft.com/office/drawing/2014/main" id="{944940E9-E330-4602-978A-0199DCEC976E}"/>
              </a:ext>
            </a:extLst>
          </p:cNvPr>
          <p:cNvPicPr>
            <a:picLocks noChangeAspect="1"/>
          </p:cNvPicPr>
          <p:nvPr/>
        </p:nvPicPr>
        <p:blipFill>
          <a:blip r:embed="rId3"/>
          <a:stretch>
            <a:fillRect/>
          </a:stretch>
        </p:blipFill>
        <p:spPr>
          <a:xfrm>
            <a:off x="6470073" y="1649251"/>
            <a:ext cx="4628738" cy="2779484"/>
          </a:xfrm>
          <a:prstGeom prst="rect">
            <a:avLst/>
          </a:prstGeom>
        </p:spPr>
      </p:pic>
      <p:pic>
        <p:nvPicPr>
          <p:cNvPr id="6" name="Рисунок 5">
            <a:extLst>
              <a:ext uri="{FF2B5EF4-FFF2-40B4-BE49-F238E27FC236}">
                <a16:creationId xmlns:a16="http://schemas.microsoft.com/office/drawing/2014/main" id="{B34B22D4-32FF-4110-8DEA-91C1D0F3669B}"/>
              </a:ext>
            </a:extLst>
          </p:cNvPr>
          <p:cNvPicPr>
            <a:picLocks noChangeAspect="1"/>
          </p:cNvPicPr>
          <p:nvPr/>
        </p:nvPicPr>
        <p:blipFill>
          <a:blip r:embed="rId4"/>
          <a:stretch>
            <a:fillRect/>
          </a:stretch>
        </p:blipFill>
        <p:spPr>
          <a:xfrm>
            <a:off x="541020" y="1649251"/>
            <a:ext cx="5319453" cy="2779484"/>
          </a:xfrm>
          <a:prstGeom prst="rect">
            <a:avLst/>
          </a:prstGeom>
        </p:spPr>
      </p:pic>
      <p:pic>
        <p:nvPicPr>
          <p:cNvPr id="7" name="Рисунок 6">
            <a:extLst>
              <a:ext uri="{FF2B5EF4-FFF2-40B4-BE49-F238E27FC236}">
                <a16:creationId xmlns:a16="http://schemas.microsoft.com/office/drawing/2014/main" id="{F90B5164-4B64-40A0-AB5F-197CB9EDB3D8}"/>
              </a:ext>
            </a:extLst>
          </p:cNvPr>
          <p:cNvPicPr>
            <a:picLocks noChangeAspect="1"/>
          </p:cNvPicPr>
          <p:nvPr/>
        </p:nvPicPr>
        <p:blipFill>
          <a:blip r:embed="rId5"/>
          <a:stretch>
            <a:fillRect/>
          </a:stretch>
        </p:blipFill>
        <p:spPr>
          <a:xfrm>
            <a:off x="4566594" y="4568824"/>
            <a:ext cx="3058812" cy="2289176"/>
          </a:xfrm>
          <a:prstGeom prst="rect">
            <a:avLst/>
          </a:prstGeom>
        </p:spPr>
      </p:pic>
    </p:spTree>
    <p:extLst>
      <p:ext uri="{BB962C8B-B14F-4D97-AF65-F5344CB8AC3E}">
        <p14:creationId xmlns:p14="http://schemas.microsoft.com/office/powerpoint/2010/main" val="9477286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838200" y="1825624"/>
            <a:ext cx="10515600" cy="5157067"/>
          </a:xfrm>
        </p:spPr>
        <p:txBody>
          <a:bodyPr>
            <a:normAutofit/>
          </a:bodyPr>
          <a:lstStyle/>
          <a:p>
            <a:r>
              <a:rPr lang="ru-RU" dirty="0"/>
              <a:t>Для корректной работы адаптивных изображений в мобильных браузерах необходимо в </a:t>
            </a:r>
            <a:r>
              <a:rPr lang="en-US" dirty="0"/>
              <a:t>head </a:t>
            </a:r>
            <a:r>
              <a:rPr lang="ru-RU" dirty="0"/>
              <a:t>указывать тег </a:t>
            </a:r>
          </a:p>
          <a:p>
            <a:r>
              <a:rPr lang="en-US" dirty="0"/>
              <a:t>&lt;meta name="viewport" content="width=device-width"&gt;</a:t>
            </a:r>
            <a:endParaRPr lang="ru-RU" dirty="0"/>
          </a:p>
          <a:p>
            <a:endParaRPr lang="ru-RU" dirty="0"/>
          </a:p>
        </p:txBody>
      </p:sp>
    </p:spTree>
    <p:extLst>
      <p:ext uri="{BB962C8B-B14F-4D97-AF65-F5344CB8AC3E}">
        <p14:creationId xmlns:p14="http://schemas.microsoft.com/office/powerpoint/2010/main" val="24136954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332509" y="1825624"/>
            <a:ext cx="11859491" cy="5157067"/>
          </a:xfrm>
        </p:spPr>
        <p:txBody>
          <a:bodyPr>
            <a:normAutofit/>
          </a:bodyPr>
          <a:lstStyle/>
          <a:p>
            <a:r>
              <a:rPr lang="ru-RU" dirty="0"/>
              <a:t>Для ручного выбора изображений в зависимости от медиа-условий </a:t>
            </a:r>
            <a:br>
              <a:rPr lang="en-US" dirty="0"/>
            </a:br>
            <a:r>
              <a:rPr lang="ru-RU" dirty="0"/>
              <a:t>можно использовать тег </a:t>
            </a:r>
            <a:r>
              <a:rPr lang="en-US" dirty="0"/>
              <a:t>picture</a:t>
            </a:r>
          </a:p>
          <a:p>
            <a:pPr marL="0" indent="0">
              <a:buNone/>
            </a:pPr>
            <a:r>
              <a:rPr lang="ru-RU" dirty="0"/>
              <a:t>       </a:t>
            </a:r>
            <a:r>
              <a:rPr lang="en-US" dirty="0"/>
              <a:t>&lt;picture&gt;</a:t>
            </a:r>
          </a:p>
          <a:p>
            <a:pPr marL="0" indent="0">
              <a:buNone/>
            </a:pPr>
            <a:r>
              <a:rPr lang="en-US" dirty="0"/>
              <a:t>            &lt;source media="(max-width: 800px)" </a:t>
            </a:r>
            <a:r>
              <a:rPr lang="en-US" dirty="0" err="1"/>
              <a:t>srcset</a:t>
            </a:r>
            <a:r>
              <a:rPr lang="en-US" dirty="0"/>
              <a:t>=“</a:t>
            </a:r>
            <a:r>
              <a:rPr lang="ru-RU" dirty="0"/>
              <a:t>файл1</a:t>
            </a:r>
            <a:r>
              <a:rPr lang="en-US" dirty="0"/>
              <a:t>.jpg"/&gt;</a:t>
            </a:r>
          </a:p>
          <a:p>
            <a:pPr marL="0" indent="0">
              <a:buNone/>
            </a:pPr>
            <a:r>
              <a:rPr lang="en-US" dirty="0"/>
              <a:t>            &lt;source media="(max-width: 1200px)" </a:t>
            </a:r>
            <a:r>
              <a:rPr lang="en-US" dirty="0" err="1"/>
              <a:t>srcset</a:t>
            </a:r>
            <a:r>
              <a:rPr lang="en-US" dirty="0"/>
              <a:t>="</a:t>
            </a:r>
            <a:r>
              <a:rPr lang="ru-RU" dirty="0"/>
              <a:t> файл2</a:t>
            </a:r>
            <a:r>
              <a:rPr lang="en-US" dirty="0"/>
              <a:t>.jpg"/&gt;</a:t>
            </a:r>
          </a:p>
          <a:p>
            <a:pPr marL="0" indent="0">
              <a:buNone/>
            </a:pPr>
            <a:r>
              <a:rPr lang="en-US" dirty="0"/>
              <a:t>            &lt;source media="(min-width: 1201px)" </a:t>
            </a:r>
            <a:r>
              <a:rPr lang="en-US" dirty="0" err="1"/>
              <a:t>srcset</a:t>
            </a:r>
            <a:r>
              <a:rPr lang="en-US" dirty="0"/>
              <a:t>="</a:t>
            </a:r>
            <a:r>
              <a:rPr lang="ru-RU" dirty="0"/>
              <a:t> файл3</a:t>
            </a:r>
            <a:r>
              <a:rPr lang="en-US" dirty="0"/>
              <a:t>.jpg"/&gt;</a:t>
            </a:r>
          </a:p>
          <a:p>
            <a:pPr marL="0" indent="0">
              <a:buNone/>
            </a:pPr>
            <a:r>
              <a:rPr lang="en-US" dirty="0"/>
              <a:t>            &lt;img </a:t>
            </a:r>
            <a:r>
              <a:rPr lang="en-US" dirty="0" err="1"/>
              <a:t>src</a:t>
            </a:r>
            <a:r>
              <a:rPr lang="en-US" dirty="0"/>
              <a:t>="</a:t>
            </a:r>
            <a:r>
              <a:rPr lang="ru-RU" dirty="0" err="1"/>
              <a:t>файл_по_умолчанию</a:t>
            </a:r>
            <a:r>
              <a:rPr lang="en-US" dirty="0"/>
              <a:t>.jpg" alt="</a:t>
            </a:r>
            <a:r>
              <a:rPr lang="ru-RU" dirty="0"/>
              <a:t>Описание"/&gt;</a:t>
            </a:r>
          </a:p>
          <a:p>
            <a:pPr marL="0" indent="0">
              <a:buNone/>
            </a:pPr>
            <a:r>
              <a:rPr lang="ru-RU" dirty="0"/>
              <a:t>        &lt;/</a:t>
            </a:r>
            <a:r>
              <a:rPr lang="en-US" dirty="0"/>
              <a:t>picture&gt;</a:t>
            </a:r>
            <a:endParaRPr lang="ru-RU" dirty="0"/>
          </a:p>
        </p:txBody>
      </p:sp>
    </p:spTree>
    <p:extLst>
      <p:ext uri="{BB962C8B-B14F-4D97-AF65-F5344CB8AC3E}">
        <p14:creationId xmlns:p14="http://schemas.microsoft.com/office/powerpoint/2010/main" val="18218429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a:t>Адаптивные изображения</a:t>
            </a:r>
            <a:endParaRPr lang="ru-RU" dirty="0"/>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838200" y="1825624"/>
            <a:ext cx="10515600" cy="5157067"/>
          </a:xfrm>
        </p:spPr>
        <p:txBody>
          <a:bodyPr>
            <a:normAutofit/>
          </a:bodyPr>
          <a:lstStyle/>
          <a:p>
            <a:r>
              <a:rPr lang="ru-RU" dirty="0"/>
              <a:t>Внутри контейнера </a:t>
            </a:r>
            <a:r>
              <a:rPr lang="en-US" dirty="0"/>
              <a:t>picture </a:t>
            </a:r>
            <a:r>
              <a:rPr lang="ru-RU" dirty="0"/>
              <a:t>указываются несколько источников изображений </a:t>
            </a:r>
            <a:r>
              <a:rPr lang="en-US" dirty="0"/>
              <a:t>source </a:t>
            </a:r>
            <a:r>
              <a:rPr lang="ru-RU" dirty="0"/>
              <a:t>с соответствующими медиа-правилами</a:t>
            </a:r>
          </a:p>
          <a:p>
            <a:r>
              <a:rPr lang="ru-RU" dirty="0"/>
              <a:t>Каждый </a:t>
            </a:r>
            <a:r>
              <a:rPr lang="en-US" dirty="0"/>
              <a:t>source </a:t>
            </a:r>
            <a:r>
              <a:rPr lang="ru-RU" dirty="0"/>
              <a:t>может содержать несколько изображений, т.к. аргумент источника – </a:t>
            </a:r>
            <a:r>
              <a:rPr lang="en-US" dirty="0" err="1"/>
              <a:t>srcset</a:t>
            </a:r>
            <a:r>
              <a:rPr lang="en-US" dirty="0"/>
              <a:t> </a:t>
            </a:r>
          </a:p>
          <a:p>
            <a:r>
              <a:rPr lang="ru-RU" dirty="0"/>
              <a:t>Перед закрывающим </a:t>
            </a:r>
            <a:r>
              <a:rPr lang="en-US" dirty="0"/>
              <a:t>&lt;/picture&gt; </a:t>
            </a:r>
            <a:r>
              <a:rPr lang="ru-RU" dirty="0"/>
              <a:t>должен стоять тег </a:t>
            </a:r>
            <a:r>
              <a:rPr lang="en-US" dirty="0"/>
              <a:t>img </a:t>
            </a:r>
            <a:r>
              <a:rPr lang="ru-RU" dirty="0"/>
              <a:t>с изображением по умолчанию, оно используется в устаревших браузерах, не поддерживающих медиа-правила, а также оформления всего блока изображения</a:t>
            </a:r>
          </a:p>
          <a:p>
            <a:r>
              <a:rPr lang="en-US" dirty="0"/>
              <a:t>min-width – </a:t>
            </a:r>
            <a:r>
              <a:rPr lang="ru-RU" dirty="0"/>
              <a:t>медиа-правило, выполняемое, если размер экрана не более указанного значения</a:t>
            </a:r>
          </a:p>
        </p:txBody>
      </p:sp>
    </p:spTree>
    <p:extLst>
      <p:ext uri="{BB962C8B-B14F-4D97-AF65-F5344CB8AC3E}">
        <p14:creationId xmlns:p14="http://schemas.microsoft.com/office/powerpoint/2010/main" val="3961029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Адаптивные изображения</a:t>
            </a:r>
          </a:p>
        </p:txBody>
      </p:sp>
      <p:sp>
        <p:nvSpPr>
          <p:cNvPr id="3" name="Объект 2">
            <a:extLst>
              <a:ext uri="{FF2B5EF4-FFF2-40B4-BE49-F238E27FC236}">
                <a16:creationId xmlns:a16="http://schemas.microsoft.com/office/drawing/2014/main" id="{B62B118B-F73F-4147-BC7C-FF4DE93C88DC}"/>
              </a:ext>
            </a:extLst>
          </p:cNvPr>
          <p:cNvSpPr>
            <a:spLocks noGrp="1"/>
          </p:cNvSpPr>
          <p:nvPr>
            <p:ph idx="1"/>
          </p:nvPr>
        </p:nvSpPr>
        <p:spPr>
          <a:xfrm>
            <a:off x="838200" y="1825624"/>
            <a:ext cx="10515600" cy="5157067"/>
          </a:xfrm>
        </p:spPr>
        <p:txBody>
          <a:bodyPr>
            <a:normAutofit/>
          </a:bodyPr>
          <a:lstStyle/>
          <a:p>
            <a:r>
              <a:rPr lang="ru-RU" dirty="0"/>
              <a:t>Рекомендуется использовать </a:t>
            </a:r>
            <a:r>
              <a:rPr lang="en-US" dirty="0"/>
              <a:t>picture </a:t>
            </a:r>
            <a:r>
              <a:rPr lang="ru-RU" dirty="0"/>
              <a:t>только для художественного оформления (</a:t>
            </a:r>
            <a:r>
              <a:rPr lang="en-US" dirty="0"/>
              <a:t>art direction) – </a:t>
            </a:r>
            <a:r>
              <a:rPr lang="ru-RU" dirty="0"/>
              <a:t>использования </a:t>
            </a:r>
            <a:r>
              <a:rPr lang="ru-RU" dirty="0" err="1"/>
              <a:t>кадрированных</a:t>
            </a:r>
            <a:r>
              <a:rPr lang="ru-RU" dirty="0"/>
              <a:t> изображений по строгим правилам</a:t>
            </a:r>
          </a:p>
          <a:p>
            <a:r>
              <a:rPr lang="ru-RU" dirty="0"/>
              <a:t>Подход </a:t>
            </a:r>
            <a:r>
              <a:rPr lang="en-US" dirty="0" err="1"/>
              <a:t>scrset+sizes</a:t>
            </a:r>
            <a:r>
              <a:rPr lang="ru-RU" dirty="0"/>
              <a:t> дает возможность браузеру самому выбирать оптимальный размер изображения, из-за чего рекомендуется для переключения разрешений</a:t>
            </a:r>
          </a:p>
        </p:txBody>
      </p:sp>
    </p:spTree>
    <p:extLst>
      <p:ext uri="{BB962C8B-B14F-4D97-AF65-F5344CB8AC3E}">
        <p14:creationId xmlns:p14="http://schemas.microsoft.com/office/powerpoint/2010/main" val="1710277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209A2-CFE8-4CE9-AC40-14449414EAB8}"/>
              </a:ext>
            </a:extLst>
          </p:cNvPr>
          <p:cNvSpPr>
            <a:spLocks noGrp="1"/>
          </p:cNvSpPr>
          <p:nvPr>
            <p:ph type="ctr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Подзаголовок 2">
            <a:extLst>
              <a:ext uri="{FF2B5EF4-FFF2-40B4-BE49-F238E27FC236}">
                <a16:creationId xmlns:a16="http://schemas.microsoft.com/office/drawing/2014/main" id="{7A288AB3-3988-4048-A010-34A72200D883}"/>
              </a:ext>
            </a:extLst>
          </p:cNvPr>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38896650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Изображения логичнее размещать с заголовками</a:t>
            </a:r>
            <a:endParaRPr lang="en-US" dirty="0"/>
          </a:p>
          <a:p>
            <a:r>
              <a:rPr lang="ru-RU" dirty="0"/>
              <a:t>Чтобы было понятно, что заголовок относится к изображению, логично разместить</a:t>
            </a:r>
            <a:r>
              <a:rPr lang="en-US" dirty="0"/>
              <a:t> p </a:t>
            </a:r>
            <a:r>
              <a:rPr lang="ru-RU" dirty="0"/>
              <a:t>и </a:t>
            </a:r>
            <a:r>
              <a:rPr lang="en-US" dirty="0" err="1"/>
              <a:t>img</a:t>
            </a:r>
            <a:r>
              <a:rPr lang="en-US" dirty="0"/>
              <a:t> </a:t>
            </a:r>
            <a:r>
              <a:rPr lang="ru-RU" dirty="0"/>
              <a:t>в одном </a:t>
            </a:r>
            <a:r>
              <a:rPr lang="en-US" dirty="0"/>
              <a:t>div:</a:t>
            </a:r>
          </a:p>
          <a:p>
            <a:pPr marL="0" indent="0">
              <a:buNone/>
            </a:pPr>
            <a:r>
              <a:rPr lang="en-US" dirty="0"/>
              <a:t>&lt;div&gt;</a:t>
            </a:r>
          </a:p>
          <a:p>
            <a:pPr marL="0" indent="534988">
              <a:buNone/>
            </a:pPr>
            <a:r>
              <a:rPr lang="en-US" dirty="0"/>
              <a:t>&lt;</a:t>
            </a:r>
            <a:r>
              <a:rPr lang="en-US" dirty="0" err="1"/>
              <a:t>img</a:t>
            </a:r>
            <a:r>
              <a:rPr lang="en-US" dirty="0"/>
              <a:t> </a:t>
            </a:r>
            <a:r>
              <a:rPr lang="en-US" dirty="0" err="1"/>
              <a:t>src</a:t>
            </a:r>
            <a:r>
              <a:rPr lang="en-US" dirty="0"/>
              <a:t>="image.jpg"/&gt;</a:t>
            </a:r>
          </a:p>
          <a:p>
            <a:pPr marL="0" indent="534988">
              <a:buNone/>
            </a:pPr>
            <a:r>
              <a:rPr lang="en-US" dirty="0"/>
              <a:t>&lt;p&gt;</a:t>
            </a:r>
            <a:r>
              <a:rPr lang="ru-RU" dirty="0"/>
              <a:t>Подпись рисунка</a:t>
            </a:r>
            <a:r>
              <a:rPr lang="en-US" dirty="0"/>
              <a:t>&lt;/p&gt;</a:t>
            </a:r>
          </a:p>
          <a:p>
            <a:pPr marL="0" indent="0">
              <a:buNone/>
            </a:pPr>
            <a:r>
              <a:rPr lang="en-US" dirty="0"/>
              <a:t>&lt;/div&gt;</a:t>
            </a:r>
            <a:endParaRPr lang="ru-RU" dirty="0"/>
          </a:p>
        </p:txBody>
      </p:sp>
    </p:spTree>
    <p:extLst>
      <p:ext uri="{BB962C8B-B14F-4D97-AF65-F5344CB8AC3E}">
        <p14:creationId xmlns:p14="http://schemas.microsoft.com/office/powerpoint/2010/main" val="31000770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Но такое объединение может быть малопонятным для просматривающего код, поэтому в </a:t>
            </a:r>
            <a:r>
              <a:rPr lang="en-US" dirty="0"/>
              <a:t>HTML5 </a:t>
            </a:r>
            <a:r>
              <a:rPr lang="ru-RU" dirty="0"/>
              <a:t>была введена пара </a:t>
            </a:r>
            <a:r>
              <a:rPr lang="en-US" dirty="0" err="1"/>
              <a:t>figure+figcaption</a:t>
            </a:r>
            <a:endParaRPr lang="en-US" dirty="0"/>
          </a:p>
          <a:p>
            <a:pPr marL="0" indent="0">
              <a:buNone/>
            </a:pPr>
            <a:r>
              <a:rPr lang="en-US" dirty="0"/>
              <a:t>&lt;figure&gt;</a:t>
            </a:r>
          </a:p>
          <a:p>
            <a:pPr marL="0" indent="534988">
              <a:buNone/>
            </a:pPr>
            <a:r>
              <a:rPr lang="en-US" dirty="0"/>
              <a:t>&lt;</a:t>
            </a:r>
            <a:r>
              <a:rPr lang="en-US" dirty="0" err="1"/>
              <a:t>img</a:t>
            </a:r>
            <a:r>
              <a:rPr lang="en-US" dirty="0"/>
              <a:t> </a:t>
            </a:r>
            <a:r>
              <a:rPr lang="en-US" dirty="0" err="1"/>
              <a:t>src</a:t>
            </a:r>
            <a:r>
              <a:rPr lang="en-US" dirty="0"/>
              <a:t>="image.jpg"/&gt;</a:t>
            </a:r>
          </a:p>
          <a:p>
            <a:pPr marL="0" indent="534988">
              <a:buNone/>
            </a:pPr>
            <a:r>
              <a:rPr lang="en-US" dirty="0"/>
              <a:t>&lt;</a:t>
            </a:r>
            <a:r>
              <a:rPr lang="en-US" dirty="0" err="1"/>
              <a:t>figcaption</a:t>
            </a:r>
            <a:r>
              <a:rPr lang="en-US" dirty="0"/>
              <a:t>&gt;</a:t>
            </a:r>
            <a:r>
              <a:rPr lang="ru-RU" dirty="0"/>
              <a:t>Подпись рисунка</a:t>
            </a:r>
            <a:r>
              <a:rPr lang="en-US" dirty="0"/>
              <a:t>&lt;</a:t>
            </a:r>
            <a:r>
              <a:rPr lang="en-US" dirty="0" err="1"/>
              <a:t>figcaption</a:t>
            </a:r>
            <a:r>
              <a:rPr lang="en-US" dirty="0"/>
              <a:t>/&gt;</a:t>
            </a:r>
          </a:p>
          <a:p>
            <a:pPr marL="0" indent="0">
              <a:buNone/>
            </a:pPr>
            <a:r>
              <a:rPr lang="en-US" dirty="0"/>
              <a:t>&lt;/figure&gt;</a:t>
            </a:r>
            <a:endParaRPr lang="ru-RU" dirty="0"/>
          </a:p>
        </p:txBody>
      </p:sp>
    </p:spTree>
    <p:extLst>
      <p:ext uri="{BB962C8B-B14F-4D97-AF65-F5344CB8AC3E}">
        <p14:creationId xmlns:p14="http://schemas.microsoft.com/office/powerpoint/2010/main" val="16706745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1026" name="Picture 2" descr="Complete List Audio/Video File Formats for Your Applications">
            <a:extLst>
              <a:ext uri="{FF2B5EF4-FFF2-40B4-BE49-F238E27FC236}">
                <a16:creationId xmlns:a16="http://schemas.microsoft.com/office/drawing/2014/main" id="{6E9BB00C-F25F-4782-9CB7-BCEF457AA0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04" t="15874" r="51982" b="14532"/>
          <a:stretch/>
        </p:blipFill>
        <p:spPr bwMode="auto">
          <a:xfrm>
            <a:off x="312233" y="1583473"/>
            <a:ext cx="3441919" cy="26478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chnical Info Digital audio file formats explained.">
            <a:extLst>
              <a:ext uri="{FF2B5EF4-FFF2-40B4-BE49-F238E27FC236}">
                <a16:creationId xmlns:a16="http://schemas.microsoft.com/office/drawing/2014/main" id="{3CFF895F-14F5-4CB1-8AC5-1E018B2482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5665" y="3852269"/>
            <a:ext cx="4765380" cy="2824570"/>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a:extLst>
              <a:ext uri="{FF2B5EF4-FFF2-40B4-BE49-F238E27FC236}">
                <a16:creationId xmlns:a16="http://schemas.microsoft.com/office/drawing/2014/main" id="{CEC5B6ED-3393-4174-8A6E-C1E6963E268E}"/>
              </a:ext>
            </a:extLst>
          </p:cNvPr>
          <p:cNvPicPr>
            <a:picLocks noChangeAspect="1"/>
          </p:cNvPicPr>
          <p:nvPr/>
        </p:nvPicPr>
        <p:blipFill>
          <a:blip r:embed="rId5"/>
          <a:stretch>
            <a:fillRect/>
          </a:stretch>
        </p:blipFill>
        <p:spPr>
          <a:xfrm>
            <a:off x="7528867" y="1583473"/>
            <a:ext cx="4248743" cy="2076740"/>
          </a:xfrm>
          <a:prstGeom prst="rect">
            <a:avLst/>
          </a:prstGeom>
        </p:spPr>
      </p:pic>
    </p:spTree>
    <p:extLst>
      <p:ext uri="{BB962C8B-B14F-4D97-AF65-F5344CB8AC3E}">
        <p14:creationId xmlns:p14="http://schemas.microsoft.com/office/powerpoint/2010/main" val="9831454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12" name="Рисунок 11">
            <a:extLst>
              <a:ext uri="{FF2B5EF4-FFF2-40B4-BE49-F238E27FC236}">
                <a16:creationId xmlns:a16="http://schemas.microsoft.com/office/drawing/2014/main" id="{43982AE0-E239-4784-949B-C952476963EE}"/>
              </a:ext>
            </a:extLst>
          </p:cNvPr>
          <p:cNvPicPr>
            <a:picLocks noChangeAspect="1"/>
          </p:cNvPicPr>
          <p:nvPr/>
        </p:nvPicPr>
        <p:blipFill>
          <a:blip r:embed="rId3"/>
          <a:stretch>
            <a:fillRect/>
          </a:stretch>
        </p:blipFill>
        <p:spPr>
          <a:xfrm>
            <a:off x="2902045" y="2152185"/>
            <a:ext cx="6387910" cy="3122342"/>
          </a:xfrm>
          <a:prstGeom prst="rect">
            <a:avLst/>
          </a:prstGeom>
        </p:spPr>
      </p:pic>
    </p:spTree>
    <p:extLst>
      <p:ext uri="{BB962C8B-B14F-4D97-AF65-F5344CB8AC3E}">
        <p14:creationId xmlns:p14="http://schemas.microsoft.com/office/powerpoint/2010/main" val="30513339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2050" name="Picture 2" descr="Сравнение WebP с популярными декодерами PNG">
            <a:extLst>
              <a:ext uri="{FF2B5EF4-FFF2-40B4-BE49-F238E27FC236}">
                <a16:creationId xmlns:a16="http://schemas.microsoft.com/office/drawing/2014/main" id="{F7B8DE03-CDC3-43A8-82BA-7C31C2C5A9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8" y="2123030"/>
            <a:ext cx="6105254" cy="349935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Сравнение WEBP с JPG / Блог с перчинкой">
            <a:extLst>
              <a:ext uri="{FF2B5EF4-FFF2-40B4-BE49-F238E27FC236}">
                <a16:creationId xmlns:a16="http://schemas.microsoft.com/office/drawing/2014/main" id="{B113D816-6C1D-40C5-A995-33453B2DE4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9375" y="1246013"/>
            <a:ext cx="4408449" cy="275528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JPEG Vs. Google's WebP">
            <a:extLst>
              <a:ext uri="{FF2B5EF4-FFF2-40B4-BE49-F238E27FC236}">
                <a16:creationId xmlns:a16="http://schemas.microsoft.com/office/drawing/2014/main" id="{25F18606-2F2F-4864-8E21-0F62359CB5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4114800"/>
            <a:ext cx="48768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76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5" name="Рисунок 4">
            <a:extLst>
              <a:ext uri="{FF2B5EF4-FFF2-40B4-BE49-F238E27FC236}">
                <a16:creationId xmlns:a16="http://schemas.microsoft.com/office/drawing/2014/main" id="{657203A6-1C10-484E-B76F-7801761830D5}"/>
              </a:ext>
            </a:extLst>
          </p:cNvPr>
          <p:cNvPicPr>
            <a:picLocks noChangeAspect="1"/>
          </p:cNvPicPr>
          <p:nvPr/>
        </p:nvPicPr>
        <p:blipFill>
          <a:blip r:embed="rId3"/>
          <a:stretch>
            <a:fillRect/>
          </a:stretch>
        </p:blipFill>
        <p:spPr>
          <a:xfrm>
            <a:off x="75290" y="2415641"/>
            <a:ext cx="12041420" cy="3171305"/>
          </a:xfrm>
          <a:prstGeom prst="rect">
            <a:avLst/>
          </a:prstGeom>
        </p:spPr>
      </p:pic>
    </p:spTree>
    <p:extLst>
      <p:ext uri="{BB962C8B-B14F-4D97-AF65-F5344CB8AC3E}">
        <p14:creationId xmlns:p14="http://schemas.microsoft.com/office/powerpoint/2010/main" val="10124821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normAutofit lnSpcReduction="10000"/>
          </a:bodyPr>
          <a:lstStyle/>
          <a:p>
            <a:r>
              <a:rPr lang="ru-RU" dirty="0"/>
              <a:t>При размещении изображений</a:t>
            </a:r>
            <a:r>
              <a:rPr lang="en-US" dirty="0"/>
              <a:t> </a:t>
            </a:r>
            <a:r>
              <a:rPr lang="ru-RU" dirty="0"/>
              <a:t>через </a:t>
            </a:r>
            <a:r>
              <a:rPr lang="en-US" dirty="0"/>
              <a:t>picture</a:t>
            </a:r>
            <a:r>
              <a:rPr lang="ru-RU" dirty="0"/>
              <a:t> можно указывать несколько источников разных типов через </a:t>
            </a:r>
            <a:r>
              <a:rPr lang="en-US" dirty="0"/>
              <a:t>source</a:t>
            </a:r>
            <a:r>
              <a:rPr lang="ru-RU" dirty="0"/>
              <a:t>, браузер пользователя выберет наиболее подходящий или покажет содержимое </a:t>
            </a:r>
            <a:r>
              <a:rPr lang="en-US" dirty="0"/>
              <a:t>&lt;</a:t>
            </a:r>
            <a:r>
              <a:rPr lang="en-US" dirty="0" err="1"/>
              <a:t>img</a:t>
            </a:r>
            <a:r>
              <a:rPr lang="en-US" dirty="0"/>
              <a:t>&gt;, </a:t>
            </a:r>
            <a:r>
              <a:rPr lang="ru-RU" dirty="0"/>
              <a:t>если ни один из форматов не поддерживается:</a:t>
            </a:r>
            <a:endParaRPr lang="en-US" dirty="0"/>
          </a:p>
          <a:p>
            <a:pPr marL="0" indent="0">
              <a:buNone/>
            </a:pPr>
            <a:r>
              <a:rPr lang="en-US" dirty="0"/>
              <a:t>&lt;picture&gt;</a:t>
            </a:r>
          </a:p>
          <a:p>
            <a:pPr marL="0" indent="0">
              <a:buNone/>
            </a:pPr>
            <a:r>
              <a:rPr lang="en-US" dirty="0"/>
              <a:t>            &lt;source </a:t>
            </a:r>
            <a:r>
              <a:rPr lang="en-US" dirty="0" err="1"/>
              <a:t>srcset</a:t>
            </a:r>
            <a:r>
              <a:rPr lang="en-US" dirty="0"/>
              <a:t>="</a:t>
            </a:r>
            <a:r>
              <a:rPr lang="en-US" dirty="0" err="1"/>
              <a:t>image.avif</a:t>
            </a:r>
            <a:r>
              <a:rPr lang="en-US" dirty="0"/>
              <a:t>" type="image/</a:t>
            </a:r>
            <a:r>
              <a:rPr lang="en-US" dirty="0" err="1"/>
              <a:t>avif</a:t>
            </a:r>
            <a:r>
              <a:rPr lang="en-US" dirty="0"/>
              <a:t>"/&gt;</a:t>
            </a:r>
          </a:p>
          <a:p>
            <a:pPr marL="0" indent="0">
              <a:buNone/>
            </a:pPr>
            <a:r>
              <a:rPr lang="en-US" dirty="0"/>
              <a:t>            &lt;source </a:t>
            </a:r>
            <a:r>
              <a:rPr lang="en-US" dirty="0" err="1"/>
              <a:t>srcset</a:t>
            </a:r>
            <a:r>
              <a:rPr lang="en-US" dirty="0"/>
              <a:t>="</a:t>
            </a:r>
            <a:r>
              <a:rPr lang="en-US" dirty="0" err="1"/>
              <a:t>image.webp</a:t>
            </a:r>
            <a:r>
              <a:rPr lang="en-US" dirty="0"/>
              <a:t>" type="image/</a:t>
            </a:r>
            <a:r>
              <a:rPr lang="en-US" dirty="0" err="1"/>
              <a:t>webp</a:t>
            </a:r>
            <a:r>
              <a:rPr lang="en-US" dirty="0"/>
              <a:t>"/&gt;</a:t>
            </a:r>
          </a:p>
          <a:p>
            <a:pPr marL="0" indent="0">
              <a:buNone/>
            </a:pPr>
            <a:r>
              <a:rPr lang="en-US" dirty="0"/>
              <a:t>            &lt;</a:t>
            </a:r>
            <a:r>
              <a:rPr lang="en-US" dirty="0" err="1"/>
              <a:t>img</a:t>
            </a:r>
            <a:r>
              <a:rPr lang="en-US" dirty="0"/>
              <a:t> </a:t>
            </a:r>
            <a:r>
              <a:rPr lang="en-US" dirty="0" err="1"/>
              <a:t>src</a:t>
            </a:r>
            <a:r>
              <a:rPr lang="en-US" dirty="0"/>
              <a:t>="image.jpg"/&gt;</a:t>
            </a:r>
          </a:p>
          <a:p>
            <a:pPr marL="0" indent="0">
              <a:buNone/>
            </a:pPr>
            <a:r>
              <a:rPr lang="en-US" dirty="0"/>
              <a:t>&lt;/picture&gt;</a:t>
            </a:r>
            <a:endParaRPr lang="ru-RU" dirty="0"/>
          </a:p>
        </p:txBody>
      </p:sp>
    </p:spTree>
    <p:extLst>
      <p:ext uri="{BB962C8B-B14F-4D97-AF65-F5344CB8AC3E}">
        <p14:creationId xmlns:p14="http://schemas.microsoft.com/office/powerpoint/2010/main" val="17562898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Аргумент </a:t>
            </a:r>
            <a:r>
              <a:rPr lang="en-US" dirty="0"/>
              <a:t>type </a:t>
            </a:r>
            <a:r>
              <a:rPr lang="ru-RU" dirty="0"/>
              <a:t>должен иметь значение формата выбранного медиафайла, чтобы браузер понимал, поддерживается ли он</a:t>
            </a:r>
          </a:p>
          <a:p>
            <a:r>
              <a:rPr lang="ru-RU" dirty="0"/>
              <a:t>Примеры форматов: </a:t>
            </a:r>
            <a:r>
              <a:rPr lang="en-US" dirty="0"/>
              <a:t>video/mp4</a:t>
            </a:r>
            <a:r>
              <a:rPr lang="ru-RU" dirty="0"/>
              <a:t>, </a:t>
            </a:r>
            <a:r>
              <a:rPr lang="en-US" dirty="0"/>
              <a:t>video/</a:t>
            </a:r>
            <a:r>
              <a:rPr lang="en-US" dirty="0" err="1"/>
              <a:t>webm</a:t>
            </a:r>
            <a:r>
              <a:rPr lang="en-US" dirty="0"/>
              <a:t>, video/</a:t>
            </a:r>
            <a:r>
              <a:rPr lang="en-US" dirty="0" err="1"/>
              <a:t>ogg</a:t>
            </a:r>
            <a:r>
              <a:rPr lang="en-US" dirty="0"/>
              <a:t>, audio/mp3, audio/</a:t>
            </a:r>
            <a:r>
              <a:rPr lang="en-US" dirty="0" err="1"/>
              <a:t>ogg</a:t>
            </a:r>
            <a:r>
              <a:rPr lang="en-US" dirty="0"/>
              <a:t>, audio/</a:t>
            </a:r>
            <a:r>
              <a:rPr lang="en-US" dirty="0" err="1"/>
              <a:t>aac</a:t>
            </a:r>
            <a:r>
              <a:rPr lang="en-US" dirty="0"/>
              <a:t>, image/</a:t>
            </a:r>
            <a:r>
              <a:rPr lang="en-US" dirty="0" err="1"/>
              <a:t>avif</a:t>
            </a:r>
            <a:r>
              <a:rPr lang="en-US" dirty="0"/>
              <a:t>, image/</a:t>
            </a:r>
            <a:r>
              <a:rPr lang="en-US" dirty="0" err="1"/>
              <a:t>webp</a:t>
            </a:r>
            <a:r>
              <a:rPr lang="en-US" dirty="0"/>
              <a:t>, image/gif, image/</a:t>
            </a:r>
            <a:r>
              <a:rPr lang="en-US" dirty="0" err="1"/>
              <a:t>png</a:t>
            </a:r>
            <a:r>
              <a:rPr lang="en-US" dirty="0"/>
              <a:t>, image/</a:t>
            </a:r>
            <a:r>
              <a:rPr lang="en-US" dirty="0" err="1"/>
              <a:t>svg+xml</a:t>
            </a:r>
            <a:r>
              <a:rPr lang="en-US" dirty="0"/>
              <a:t>, image/jpeg</a:t>
            </a:r>
            <a:endParaRPr lang="ru-RU" dirty="0"/>
          </a:p>
        </p:txBody>
      </p:sp>
    </p:spTree>
    <p:extLst>
      <p:ext uri="{BB962C8B-B14F-4D97-AF65-F5344CB8AC3E}">
        <p14:creationId xmlns:p14="http://schemas.microsoft.com/office/powerpoint/2010/main" val="34336702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3074" name="Picture 2" descr="VP9 encoding/decoding performance vs. HEVC/H.264 | Ronald S. Bultje">
            <a:extLst>
              <a:ext uri="{FF2B5EF4-FFF2-40B4-BE49-F238E27FC236}">
                <a16:creationId xmlns:a16="http://schemas.microsoft.com/office/drawing/2014/main" id="{72353551-BFD0-43CA-8636-0E98E91398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0686" y="1444090"/>
            <a:ext cx="7090627" cy="5160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8859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По аналогии</a:t>
            </a:r>
            <a:r>
              <a:rPr lang="en-US" dirty="0"/>
              <a:t> </a:t>
            </a:r>
            <a:r>
              <a:rPr lang="ru-RU" dirty="0"/>
              <a:t>с</a:t>
            </a:r>
            <a:r>
              <a:rPr lang="en-US" dirty="0"/>
              <a:t> picture</a:t>
            </a:r>
            <a:r>
              <a:rPr lang="ru-RU" dirty="0"/>
              <a:t> можно указывать несколько источников для видео, браузер покажет содержимое </a:t>
            </a:r>
            <a:r>
              <a:rPr lang="en-US" dirty="0"/>
              <a:t>&lt;p&gt;, </a:t>
            </a:r>
            <a:r>
              <a:rPr lang="ru-RU" dirty="0"/>
              <a:t>если ни один из форматов не поддерживается:</a:t>
            </a:r>
            <a:endParaRPr lang="en-US" dirty="0"/>
          </a:p>
          <a:p>
            <a:pPr marL="0" indent="0">
              <a:buNone/>
            </a:pPr>
            <a:r>
              <a:rPr lang="en-US" dirty="0"/>
              <a:t>&lt;video controls&gt;</a:t>
            </a:r>
          </a:p>
          <a:p>
            <a:pPr marL="0" indent="0">
              <a:buNone/>
            </a:pPr>
            <a:r>
              <a:rPr lang="en-US" dirty="0"/>
              <a:t>	&lt;source </a:t>
            </a:r>
            <a:r>
              <a:rPr lang="en-US" dirty="0" err="1"/>
              <a:t>src</a:t>
            </a:r>
            <a:r>
              <a:rPr lang="en-US" dirty="0"/>
              <a:t>="</a:t>
            </a:r>
            <a:r>
              <a:rPr lang="en-US" dirty="0" err="1"/>
              <a:t>video.webm</a:t>
            </a:r>
            <a:r>
              <a:rPr lang="en-US" dirty="0"/>
              <a:t>" type="video/</a:t>
            </a:r>
            <a:r>
              <a:rPr lang="en-US" dirty="0" err="1"/>
              <a:t>webm</a:t>
            </a:r>
            <a:r>
              <a:rPr lang="en-US" dirty="0"/>
              <a:t>"/&gt;</a:t>
            </a:r>
          </a:p>
          <a:p>
            <a:pPr marL="0" indent="0">
              <a:buNone/>
            </a:pPr>
            <a:r>
              <a:rPr lang="en-US" dirty="0"/>
              <a:t>            &lt;source </a:t>
            </a:r>
            <a:r>
              <a:rPr lang="en-US" dirty="0" err="1"/>
              <a:t>src</a:t>
            </a:r>
            <a:r>
              <a:rPr lang="en-US" dirty="0"/>
              <a:t>="video.mp4" type="video/mp4"/&gt;</a:t>
            </a:r>
          </a:p>
          <a:p>
            <a:pPr marL="0" indent="0">
              <a:buNone/>
            </a:pPr>
            <a:r>
              <a:rPr lang="en-US" dirty="0"/>
              <a:t>	</a:t>
            </a:r>
            <a:r>
              <a:rPr lang="ru-RU" dirty="0"/>
              <a:t>&lt;p&gt;Браузер не поддерживает </a:t>
            </a:r>
            <a:r>
              <a:rPr lang="ru-RU" dirty="0" err="1"/>
              <a:t>webm</a:t>
            </a:r>
            <a:r>
              <a:rPr lang="ru-RU" dirty="0"/>
              <a:t> или </a:t>
            </a:r>
            <a:r>
              <a:rPr lang="en-US" dirty="0"/>
              <a:t>mp4</a:t>
            </a:r>
            <a:r>
              <a:rPr lang="ru-RU" dirty="0"/>
              <a:t>&lt;/p&gt;</a:t>
            </a:r>
            <a:endParaRPr lang="en-US" dirty="0"/>
          </a:p>
          <a:p>
            <a:pPr marL="0" indent="0">
              <a:buNone/>
            </a:pPr>
            <a:r>
              <a:rPr lang="en-US" dirty="0"/>
              <a:t>&lt;/video&gt;</a:t>
            </a:r>
            <a:endParaRPr lang="ru-RU" dirty="0"/>
          </a:p>
        </p:txBody>
      </p:sp>
    </p:spTree>
    <p:extLst>
      <p:ext uri="{BB962C8B-B14F-4D97-AF65-F5344CB8AC3E}">
        <p14:creationId xmlns:p14="http://schemas.microsoft.com/office/powerpoint/2010/main" val="27652581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4100" name="Picture 4" descr="undefined">
            <a:extLst>
              <a:ext uri="{FF2B5EF4-FFF2-40B4-BE49-F238E27FC236}">
                <a16:creationId xmlns:a16="http://schemas.microsoft.com/office/drawing/2014/main" id="{60592CA0-77E9-48B7-8092-F0124FE02D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496" y="1378816"/>
            <a:ext cx="7274157" cy="5404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6111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Работа с мультимедиа</a:t>
            </a:r>
            <a:r>
              <a:rPr lang="en-US" dirty="0"/>
              <a:t> </a:t>
            </a:r>
            <a:r>
              <a:rPr lang="ru-RU" dirty="0"/>
              <a:t>в </a:t>
            </a:r>
            <a:r>
              <a:rPr lang="en-US" dirty="0"/>
              <a:t>HTML5</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Аналогично </a:t>
            </a:r>
            <a:r>
              <a:rPr lang="en-US" dirty="0"/>
              <a:t>video </a:t>
            </a:r>
            <a:r>
              <a:rPr lang="ru-RU" dirty="0"/>
              <a:t>можно указывать несколько источников </a:t>
            </a:r>
            <a:r>
              <a:rPr lang="en-US" dirty="0"/>
              <a:t>audio</a:t>
            </a:r>
            <a:r>
              <a:rPr lang="ru-RU" dirty="0"/>
              <a:t>:</a:t>
            </a:r>
            <a:endParaRPr lang="en-US" dirty="0"/>
          </a:p>
          <a:p>
            <a:pPr marL="0" indent="0">
              <a:buNone/>
            </a:pPr>
            <a:r>
              <a:rPr lang="en-US" dirty="0"/>
              <a:t>&lt;audio controls&gt;</a:t>
            </a:r>
          </a:p>
          <a:p>
            <a:pPr marL="0" indent="0">
              <a:buNone/>
            </a:pPr>
            <a:r>
              <a:rPr lang="en-US" dirty="0"/>
              <a:t>	&lt;source </a:t>
            </a:r>
            <a:r>
              <a:rPr lang="en-US" dirty="0" err="1"/>
              <a:t>src</a:t>
            </a:r>
            <a:r>
              <a:rPr lang="en-US" dirty="0"/>
              <a:t>="audio.ogg" type="audio/</a:t>
            </a:r>
            <a:r>
              <a:rPr lang="en-US" dirty="0" err="1"/>
              <a:t>ogg</a:t>
            </a:r>
            <a:r>
              <a:rPr lang="en-US" dirty="0"/>
              <a:t>"/&gt;</a:t>
            </a:r>
          </a:p>
          <a:p>
            <a:pPr marL="0" indent="0">
              <a:buNone/>
            </a:pPr>
            <a:r>
              <a:rPr lang="en-US" dirty="0"/>
              <a:t>            &lt;source </a:t>
            </a:r>
            <a:r>
              <a:rPr lang="en-US" dirty="0" err="1"/>
              <a:t>src</a:t>
            </a:r>
            <a:r>
              <a:rPr lang="en-US" dirty="0"/>
              <a:t>="audio.mp3" type="audio/mp3"/&gt;</a:t>
            </a:r>
          </a:p>
          <a:p>
            <a:pPr marL="0" indent="0">
              <a:buNone/>
            </a:pPr>
            <a:r>
              <a:rPr lang="en-US" dirty="0"/>
              <a:t>	</a:t>
            </a:r>
            <a:r>
              <a:rPr lang="ru-RU" dirty="0"/>
              <a:t>&lt;p&gt;Браузер не поддерживает </a:t>
            </a:r>
            <a:r>
              <a:rPr lang="en-US" dirty="0" err="1"/>
              <a:t>ogg</a:t>
            </a:r>
            <a:r>
              <a:rPr lang="en-US" dirty="0"/>
              <a:t> </a:t>
            </a:r>
            <a:r>
              <a:rPr lang="ru-RU" dirty="0"/>
              <a:t>или </a:t>
            </a:r>
            <a:r>
              <a:rPr lang="en-US" dirty="0"/>
              <a:t>mp3 </a:t>
            </a:r>
            <a:r>
              <a:rPr lang="en-US" i="1" dirty="0"/>
              <a:t>(</a:t>
            </a:r>
            <a:r>
              <a:rPr lang="ru-RU" i="1" dirty="0" err="1"/>
              <a:t>лолшто</a:t>
            </a:r>
            <a:r>
              <a:rPr lang="ru-RU" i="1" dirty="0"/>
              <a:t>)</a:t>
            </a:r>
            <a:r>
              <a:rPr lang="ru-RU" dirty="0"/>
              <a:t>&lt;/p&gt;</a:t>
            </a:r>
            <a:endParaRPr lang="en-US" dirty="0"/>
          </a:p>
          <a:p>
            <a:pPr marL="0" indent="0">
              <a:buNone/>
            </a:pPr>
            <a:r>
              <a:rPr lang="en-US" dirty="0"/>
              <a:t>&lt;/audio&gt;</a:t>
            </a:r>
          </a:p>
          <a:p>
            <a:r>
              <a:rPr lang="ru-RU" dirty="0"/>
              <a:t>Формат </a:t>
            </a:r>
            <a:r>
              <a:rPr lang="en-US" dirty="0" err="1"/>
              <a:t>aac</a:t>
            </a:r>
            <a:r>
              <a:rPr lang="en-US" dirty="0"/>
              <a:t>, </a:t>
            </a:r>
            <a:r>
              <a:rPr lang="ru-RU" dirty="0"/>
              <a:t>имеет проблемы</a:t>
            </a:r>
            <a:r>
              <a:rPr lang="en-US" dirty="0"/>
              <a:t>/</a:t>
            </a:r>
            <a:r>
              <a:rPr lang="ru-RU" dirty="0"/>
              <a:t>особенности с поддержкой, за исключением </a:t>
            </a:r>
            <a:r>
              <a:rPr lang="en-US" dirty="0"/>
              <a:t>Safari</a:t>
            </a:r>
            <a:r>
              <a:rPr lang="ru-RU" dirty="0"/>
              <a:t> и современных версий </a:t>
            </a:r>
            <a:r>
              <a:rPr lang="en-US" dirty="0"/>
              <a:t>Chrome</a:t>
            </a:r>
            <a:endParaRPr lang="ru-RU" dirty="0"/>
          </a:p>
        </p:txBody>
      </p:sp>
    </p:spTree>
    <p:extLst>
      <p:ext uri="{BB962C8B-B14F-4D97-AF65-F5344CB8AC3E}">
        <p14:creationId xmlns:p14="http://schemas.microsoft.com/office/powerpoint/2010/main" val="28103381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209A2-CFE8-4CE9-AC40-14449414EAB8}"/>
              </a:ext>
            </a:extLst>
          </p:cNvPr>
          <p:cNvSpPr>
            <a:spLocks noGrp="1"/>
          </p:cNvSpPr>
          <p:nvPr>
            <p:ph type="ctrTitle"/>
          </p:nvPr>
        </p:nvSpPr>
        <p:spPr/>
        <p:txBody>
          <a:bodyPr/>
          <a:lstStyle/>
          <a:p>
            <a:r>
              <a:rPr lang="ru-RU" dirty="0"/>
              <a:t>Основы </a:t>
            </a:r>
            <a:r>
              <a:rPr lang="en-US" dirty="0"/>
              <a:t>CSS</a:t>
            </a:r>
            <a:endParaRPr lang="ru-RU" dirty="0"/>
          </a:p>
        </p:txBody>
      </p:sp>
      <p:sp>
        <p:nvSpPr>
          <p:cNvPr id="3" name="Подзаголовок 2">
            <a:extLst>
              <a:ext uri="{FF2B5EF4-FFF2-40B4-BE49-F238E27FC236}">
                <a16:creationId xmlns:a16="http://schemas.microsoft.com/office/drawing/2014/main" id="{7A288AB3-3988-4048-A010-34A72200D883}"/>
              </a:ext>
            </a:extLst>
          </p:cNvPr>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3101788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pic>
        <p:nvPicPr>
          <p:cNvPr id="1026" name="Picture 2" descr="Что такое CSS | Coma Web Development">
            <a:extLst>
              <a:ext uri="{FF2B5EF4-FFF2-40B4-BE49-F238E27FC236}">
                <a16:creationId xmlns:a16="http://schemas.microsoft.com/office/drawing/2014/main" id="{EC76DB8E-2CF2-4A28-986A-EC6291E1533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649249" y="1912720"/>
            <a:ext cx="6893502" cy="3860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2384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endParaRPr lang="ru-RU"/>
          </a:p>
        </p:txBody>
      </p:sp>
      <p:pic>
        <p:nvPicPr>
          <p:cNvPr id="2052" name="Picture 4" descr="CSS Is, In Fact, Awesome | CSS-Tricks">
            <a:extLst>
              <a:ext uri="{FF2B5EF4-FFF2-40B4-BE49-F238E27FC236}">
                <a16:creationId xmlns:a16="http://schemas.microsoft.com/office/drawing/2014/main" id="{188562E2-0D47-4008-9ECC-F1140811E8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9576" y="1936966"/>
            <a:ext cx="5437974" cy="4128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2832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en-US" dirty="0"/>
              <a:t>CSS </a:t>
            </a:r>
            <a:r>
              <a:rPr lang="ru-RU" dirty="0"/>
              <a:t>(</a:t>
            </a:r>
            <a:r>
              <a:rPr lang="en-US" dirty="0"/>
              <a:t>Cascading Style Sheets) – </a:t>
            </a:r>
            <a:r>
              <a:rPr lang="ru-RU" dirty="0"/>
              <a:t>каскадные таблицы стилей</a:t>
            </a:r>
            <a:r>
              <a:rPr lang="en-US" dirty="0"/>
              <a:t>, </a:t>
            </a:r>
            <a:r>
              <a:rPr lang="ru-RU" dirty="0"/>
              <a:t>формальный язык декорирования внешнего вида веб-документов</a:t>
            </a:r>
          </a:p>
          <a:p>
            <a:r>
              <a:rPr lang="ru-RU" dirty="0"/>
              <a:t>Можно считать языком программирования, по структуре код </a:t>
            </a:r>
            <a:r>
              <a:rPr lang="en-US" dirty="0"/>
              <a:t>CSS </a:t>
            </a:r>
            <a:r>
              <a:rPr lang="ru-RU" dirty="0"/>
              <a:t>напоминает </a:t>
            </a:r>
            <a:r>
              <a:rPr lang="en-US" dirty="0"/>
              <a:t>JSON </a:t>
            </a:r>
            <a:r>
              <a:rPr lang="ru-RU" dirty="0"/>
              <a:t>документы</a:t>
            </a:r>
          </a:p>
        </p:txBody>
      </p:sp>
      <p:pic>
        <p:nvPicPr>
          <p:cNvPr id="3074" name="Picture 2" descr="What is CSS?. Cascading Style Sheets | by RSH Web Services | Medium">
            <a:extLst>
              <a:ext uri="{FF2B5EF4-FFF2-40B4-BE49-F238E27FC236}">
                <a16:creationId xmlns:a16="http://schemas.microsoft.com/office/drawing/2014/main" id="{750490DF-8057-4F88-BC7E-09340F3D0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031" y="4068040"/>
            <a:ext cx="4339937" cy="278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7116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en-US" dirty="0"/>
              <a:t>CSS </a:t>
            </a:r>
            <a:r>
              <a:rPr lang="ru-RU" dirty="0"/>
              <a:t>позволяет применять к объектам </a:t>
            </a:r>
            <a:r>
              <a:rPr lang="en-US" dirty="0"/>
              <a:t>HTML</a:t>
            </a:r>
            <a:r>
              <a:rPr lang="ru-RU" dirty="0"/>
              <a:t> правила оформления, как массово, так и индивидуально</a:t>
            </a:r>
          </a:p>
          <a:p>
            <a:r>
              <a:rPr lang="ru-RU" dirty="0"/>
              <a:t>Принципы </a:t>
            </a:r>
            <a:r>
              <a:rPr lang="en-US" dirty="0"/>
              <a:t>CSS:</a:t>
            </a:r>
          </a:p>
          <a:p>
            <a:pPr marL="0" indent="0">
              <a:buNone/>
            </a:pPr>
            <a:r>
              <a:rPr lang="ru-RU" dirty="0"/>
              <a:t>1) </a:t>
            </a:r>
            <a:r>
              <a:rPr lang="ru-RU" dirty="0" err="1"/>
              <a:t>каскадность</a:t>
            </a:r>
            <a:r>
              <a:rPr lang="ru-RU" dirty="0"/>
              <a:t> – если имеется два одноуровневых противоречащих правила оформления, применяется последнее</a:t>
            </a:r>
          </a:p>
          <a:p>
            <a:pPr marL="0" indent="0">
              <a:buNone/>
            </a:pPr>
            <a:r>
              <a:rPr lang="ru-RU" dirty="0"/>
              <a:t>2) специфичность – более общие правила имеют меньший приоритет, чем применяемые к конкретным блокам документа</a:t>
            </a:r>
          </a:p>
          <a:p>
            <a:pPr marL="0" indent="0">
              <a:buNone/>
            </a:pPr>
            <a:r>
              <a:rPr lang="ru-RU" dirty="0"/>
              <a:t>3) наследование – некоторые правила оформления для родительских элементов наследуются, некоторые нет</a:t>
            </a:r>
          </a:p>
        </p:txBody>
      </p:sp>
    </p:spTree>
    <p:extLst>
      <p:ext uri="{BB962C8B-B14F-4D97-AF65-F5344CB8AC3E}">
        <p14:creationId xmlns:p14="http://schemas.microsoft.com/office/powerpoint/2010/main" val="38957139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ru-RU" dirty="0"/>
              <a:t>Стилизация элемента производится добавлением файла стилей</a:t>
            </a:r>
          </a:p>
          <a:p>
            <a:r>
              <a:rPr lang="en-US" dirty="0"/>
              <a:t>&lt;link </a:t>
            </a:r>
            <a:r>
              <a:rPr lang="en-US" dirty="0" err="1"/>
              <a:t>rel</a:t>
            </a:r>
            <a:r>
              <a:rPr lang="en-US" dirty="0"/>
              <a:t>="stylesheet" </a:t>
            </a:r>
            <a:r>
              <a:rPr lang="en-US" dirty="0" err="1"/>
              <a:t>href</a:t>
            </a:r>
            <a:r>
              <a:rPr lang="en-US" dirty="0"/>
              <a:t>="styles.css" /&gt;</a:t>
            </a:r>
            <a:endParaRPr lang="ru-RU" dirty="0"/>
          </a:p>
          <a:p>
            <a:r>
              <a:rPr lang="ru-RU" dirty="0"/>
              <a:t>Код добавляется в </a:t>
            </a:r>
            <a:r>
              <a:rPr lang="en-US" dirty="0"/>
              <a:t>head</a:t>
            </a:r>
          </a:p>
          <a:p>
            <a:r>
              <a:rPr lang="ru-RU" dirty="0"/>
              <a:t>Первый аргумент указывает, что используется </a:t>
            </a:r>
            <a:r>
              <a:rPr lang="en-US" dirty="0"/>
              <a:t>CSS, </a:t>
            </a:r>
            <a:r>
              <a:rPr lang="ru-RU" dirty="0"/>
              <a:t>второй – путь к файлу </a:t>
            </a:r>
            <a:r>
              <a:rPr lang="en-US" dirty="0"/>
              <a:t>CSS</a:t>
            </a:r>
            <a:endParaRPr lang="ru-RU" dirty="0"/>
          </a:p>
        </p:txBody>
      </p:sp>
    </p:spTree>
    <p:extLst>
      <p:ext uri="{BB962C8B-B14F-4D97-AF65-F5344CB8AC3E}">
        <p14:creationId xmlns:p14="http://schemas.microsoft.com/office/powerpoint/2010/main" val="14498958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ru-RU" dirty="0"/>
              <a:t>Структура файла стилей:</a:t>
            </a:r>
          </a:p>
          <a:p>
            <a:pPr marL="0" indent="0">
              <a:buNone/>
            </a:pPr>
            <a:r>
              <a:rPr lang="ru-RU" dirty="0"/>
              <a:t>элемент </a:t>
            </a:r>
            <a:r>
              <a:rPr lang="en-US" dirty="0"/>
              <a:t>{</a:t>
            </a:r>
          </a:p>
          <a:p>
            <a:pPr marL="0" indent="0">
              <a:buNone/>
            </a:pPr>
            <a:r>
              <a:rPr lang="en-US" dirty="0"/>
              <a:t>	</a:t>
            </a:r>
            <a:r>
              <a:rPr lang="ru-RU" dirty="0"/>
              <a:t>параметр</a:t>
            </a:r>
            <a:r>
              <a:rPr lang="en-US" dirty="0"/>
              <a:t>1</a:t>
            </a:r>
            <a:r>
              <a:rPr lang="ru-RU" dirty="0"/>
              <a:t> : значение</a:t>
            </a:r>
            <a:r>
              <a:rPr lang="en-US" dirty="0"/>
              <a:t>;</a:t>
            </a:r>
          </a:p>
          <a:p>
            <a:pPr marL="0" indent="0">
              <a:buNone/>
            </a:pPr>
            <a:r>
              <a:rPr lang="en-US" dirty="0"/>
              <a:t>	</a:t>
            </a:r>
            <a:r>
              <a:rPr lang="ru-RU" dirty="0"/>
              <a:t>параметр</a:t>
            </a:r>
            <a:r>
              <a:rPr lang="en-US" dirty="0"/>
              <a:t>2 </a:t>
            </a:r>
            <a:r>
              <a:rPr lang="ru-RU" dirty="0"/>
              <a:t>: значение</a:t>
            </a:r>
            <a:r>
              <a:rPr lang="en-US" dirty="0"/>
              <a:t>;</a:t>
            </a:r>
          </a:p>
          <a:p>
            <a:pPr marL="0" indent="0">
              <a:buNone/>
            </a:pPr>
            <a:r>
              <a:rPr lang="en-US" dirty="0"/>
              <a:t>}</a:t>
            </a:r>
            <a:endParaRPr lang="ru-RU" dirty="0"/>
          </a:p>
          <a:p>
            <a:r>
              <a:rPr lang="ru-RU" dirty="0"/>
              <a:t>Вместо «элемент» подставляется имя изменяемого </a:t>
            </a:r>
            <a:r>
              <a:rPr lang="en-US" dirty="0"/>
              <a:t>html </a:t>
            </a:r>
            <a:r>
              <a:rPr lang="ru-RU" dirty="0"/>
              <a:t>тега, параметры и значения выбираются из допустимых</a:t>
            </a:r>
          </a:p>
        </p:txBody>
      </p:sp>
    </p:spTree>
    <p:extLst>
      <p:ext uri="{BB962C8B-B14F-4D97-AF65-F5344CB8AC3E}">
        <p14:creationId xmlns:p14="http://schemas.microsoft.com/office/powerpoint/2010/main" val="21886493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AA990021-7B0B-4F5C-9FA9-12D9861FA709}"/>
              </a:ext>
            </a:extLst>
          </p:cNvPr>
          <p:cNvPicPr>
            <a:picLocks noChangeAspect="1"/>
          </p:cNvPicPr>
          <p:nvPr/>
        </p:nvPicPr>
        <p:blipFill>
          <a:blip r:embed="rId3"/>
          <a:stretch>
            <a:fillRect/>
          </a:stretch>
        </p:blipFill>
        <p:spPr>
          <a:xfrm>
            <a:off x="838200" y="1690688"/>
            <a:ext cx="5424055" cy="2588128"/>
          </a:xfrm>
          <a:prstGeom prst="rect">
            <a:avLst/>
          </a:prstGeom>
        </p:spPr>
      </p:pic>
      <p:pic>
        <p:nvPicPr>
          <p:cNvPr id="5" name="Рисунок 4">
            <a:extLst>
              <a:ext uri="{FF2B5EF4-FFF2-40B4-BE49-F238E27FC236}">
                <a16:creationId xmlns:a16="http://schemas.microsoft.com/office/drawing/2014/main" id="{9F32ED64-8D13-45B9-B38E-3C4B42C1ECBA}"/>
              </a:ext>
            </a:extLst>
          </p:cNvPr>
          <p:cNvPicPr>
            <a:picLocks noChangeAspect="1"/>
          </p:cNvPicPr>
          <p:nvPr/>
        </p:nvPicPr>
        <p:blipFill>
          <a:blip r:embed="rId4"/>
          <a:stretch>
            <a:fillRect/>
          </a:stretch>
        </p:blipFill>
        <p:spPr>
          <a:xfrm>
            <a:off x="3552984" y="4564046"/>
            <a:ext cx="2709271" cy="1951434"/>
          </a:xfrm>
          <a:prstGeom prst="rect">
            <a:avLst/>
          </a:prstGeom>
        </p:spPr>
      </p:pic>
      <p:pic>
        <p:nvPicPr>
          <p:cNvPr id="6" name="Рисунок 5">
            <a:extLst>
              <a:ext uri="{FF2B5EF4-FFF2-40B4-BE49-F238E27FC236}">
                <a16:creationId xmlns:a16="http://schemas.microsoft.com/office/drawing/2014/main" id="{E4B18211-6A32-4EE6-8965-B8B3C9C17D03}"/>
              </a:ext>
            </a:extLst>
          </p:cNvPr>
          <p:cNvPicPr>
            <a:picLocks noChangeAspect="1"/>
          </p:cNvPicPr>
          <p:nvPr/>
        </p:nvPicPr>
        <p:blipFill>
          <a:blip r:embed="rId5"/>
          <a:stretch>
            <a:fillRect/>
          </a:stretch>
        </p:blipFill>
        <p:spPr>
          <a:xfrm>
            <a:off x="6618102" y="2382568"/>
            <a:ext cx="4938745" cy="3359441"/>
          </a:xfrm>
          <a:prstGeom prst="rect">
            <a:avLst/>
          </a:prstGeom>
        </p:spPr>
      </p:pic>
      <p:sp>
        <p:nvSpPr>
          <p:cNvPr id="7" name="Прямоугольник: скругленные углы 6">
            <a:extLst>
              <a:ext uri="{FF2B5EF4-FFF2-40B4-BE49-F238E27FC236}">
                <a16:creationId xmlns:a16="http://schemas.microsoft.com/office/drawing/2014/main" id="{AF0CDEE2-C003-4A60-A2CA-7AA3E381D237}"/>
              </a:ext>
            </a:extLst>
          </p:cNvPr>
          <p:cNvSpPr/>
          <p:nvPr/>
        </p:nvSpPr>
        <p:spPr>
          <a:xfrm>
            <a:off x="4009784" y="4062289"/>
            <a:ext cx="2252471" cy="351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index.html</a:t>
            </a:r>
            <a:endParaRPr lang="ru-RU" dirty="0"/>
          </a:p>
        </p:txBody>
      </p:sp>
      <p:sp>
        <p:nvSpPr>
          <p:cNvPr id="8" name="Прямоугольник: скругленные углы 7">
            <a:extLst>
              <a:ext uri="{FF2B5EF4-FFF2-40B4-BE49-F238E27FC236}">
                <a16:creationId xmlns:a16="http://schemas.microsoft.com/office/drawing/2014/main" id="{774346E1-6310-4321-AFF5-28CD6AE19B03}"/>
              </a:ext>
            </a:extLst>
          </p:cNvPr>
          <p:cNvSpPr/>
          <p:nvPr/>
        </p:nvSpPr>
        <p:spPr>
          <a:xfrm>
            <a:off x="4009784" y="6426641"/>
            <a:ext cx="2252471" cy="351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styles.css</a:t>
            </a:r>
            <a:endParaRPr lang="ru-RU" dirty="0"/>
          </a:p>
        </p:txBody>
      </p:sp>
    </p:spTree>
    <p:extLst>
      <p:ext uri="{BB962C8B-B14F-4D97-AF65-F5344CB8AC3E}">
        <p14:creationId xmlns:p14="http://schemas.microsoft.com/office/powerpoint/2010/main" val="355809251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ru-RU" dirty="0"/>
              <a:t>Тегам </a:t>
            </a:r>
            <a:r>
              <a:rPr lang="en-US" dirty="0"/>
              <a:t>html </a:t>
            </a:r>
            <a:r>
              <a:rPr lang="ru-RU" dirty="0"/>
              <a:t>можно присваивать классы </a:t>
            </a:r>
            <a:r>
              <a:rPr lang="en-US" dirty="0"/>
              <a:t>&lt;</a:t>
            </a:r>
            <a:r>
              <a:rPr lang="ru-RU" dirty="0"/>
              <a:t>тег </a:t>
            </a:r>
            <a:r>
              <a:rPr lang="en-US" dirty="0"/>
              <a:t>class="</a:t>
            </a:r>
            <a:r>
              <a:rPr lang="ru-RU" dirty="0"/>
              <a:t>имя"</a:t>
            </a:r>
            <a:r>
              <a:rPr lang="en-US" dirty="0"/>
              <a:t>/&gt; </a:t>
            </a:r>
            <a:r>
              <a:rPr lang="ru-RU" dirty="0"/>
              <a:t>чтобы применять стили к элементам с этим классом:</a:t>
            </a:r>
          </a:p>
          <a:p>
            <a:pPr marL="0" indent="0">
              <a:buNone/>
            </a:pPr>
            <a:r>
              <a:rPr lang="ru-RU" dirty="0"/>
              <a:t>.класс </a:t>
            </a:r>
            <a:r>
              <a:rPr lang="en-US" dirty="0"/>
              <a:t>{</a:t>
            </a:r>
          </a:p>
          <a:p>
            <a:pPr marL="0" indent="0">
              <a:buNone/>
            </a:pPr>
            <a:r>
              <a:rPr lang="en-US" dirty="0"/>
              <a:t>	</a:t>
            </a:r>
            <a:r>
              <a:rPr lang="ru-RU" dirty="0"/>
              <a:t>параметр : значение</a:t>
            </a:r>
            <a:r>
              <a:rPr lang="en-US" dirty="0"/>
              <a:t>;</a:t>
            </a:r>
            <a:endParaRPr lang="ru-RU" dirty="0"/>
          </a:p>
          <a:p>
            <a:pPr marL="0" indent="0">
              <a:buNone/>
            </a:pPr>
            <a:r>
              <a:rPr lang="en-US" dirty="0"/>
              <a:t>}</a:t>
            </a:r>
            <a:endParaRPr lang="ru-RU" dirty="0"/>
          </a:p>
          <a:p>
            <a:r>
              <a:rPr lang="ru-RU" dirty="0"/>
              <a:t>Класс или имя объекта в </a:t>
            </a:r>
            <a:r>
              <a:rPr lang="en-US" dirty="0"/>
              <a:t>CSS </a:t>
            </a:r>
            <a:r>
              <a:rPr lang="ru-RU" dirty="0"/>
              <a:t>называют селекторами</a:t>
            </a:r>
          </a:p>
          <a:p>
            <a:r>
              <a:rPr lang="ru-RU" dirty="0"/>
              <a:t>Универсальный селектор </a:t>
            </a:r>
            <a:r>
              <a:rPr lang="en-US" dirty="0"/>
              <a:t>* </a:t>
            </a:r>
            <a:r>
              <a:rPr lang="ru-RU" dirty="0"/>
              <a:t>выбирает все объекты документа, объект.* - все классы в объекте</a:t>
            </a:r>
          </a:p>
        </p:txBody>
      </p:sp>
    </p:spTree>
    <p:extLst>
      <p:ext uri="{BB962C8B-B14F-4D97-AF65-F5344CB8AC3E}">
        <p14:creationId xmlns:p14="http://schemas.microsoft.com/office/powerpoint/2010/main" val="8310060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endParaRPr lang="ru-RU" dirty="0"/>
          </a:p>
        </p:txBody>
      </p:sp>
      <p:pic>
        <p:nvPicPr>
          <p:cNvPr id="9" name="Рисунок 8">
            <a:extLst>
              <a:ext uri="{FF2B5EF4-FFF2-40B4-BE49-F238E27FC236}">
                <a16:creationId xmlns:a16="http://schemas.microsoft.com/office/drawing/2014/main" id="{5B0E1383-4CAF-48B0-BEF5-E972356DBB60}"/>
              </a:ext>
            </a:extLst>
          </p:cNvPr>
          <p:cNvPicPr>
            <a:picLocks noChangeAspect="1"/>
          </p:cNvPicPr>
          <p:nvPr/>
        </p:nvPicPr>
        <p:blipFill>
          <a:blip r:embed="rId3"/>
          <a:stretch>
            <a:fillRect/>
          </a:stretch>
        </p:blipFill>
        <p:spPr>
          <a:xfrm>
            <a:off x="1387632" y="1362666"/>
            <a:ext cx="5482046" cy="2498913"/>
          </a:xfrm>
          <a:prstGeom prst="rect">
            <a:avLst/>
          </a:prstGeom>
        </p:spPr>
      </p:pic>
      <p:pic>
        <p:nvPicPr>
          <p:cNvPr id="10" name="Рисунок 9">
            <a:extLst>
              <a:ext uri="{FF2B5EF4-FFF2-40B4-BE49-F238E27FC236}">
                <a16:creationId xmlns:a16="http://schemas.microsoft.com/office/drawing/2014/main" id="{1844F5FA-DD77-41FB-9A81-5B338660264F}"/>
              </a:ext>
            </a:extLst>
          </p:cNvPr>
          <p:cNvPicPr>
            <a:picLocks noChangeAspect="1"/>
          </p:cNvPicPr>
          <p:nvPr/>
        </p:nvPicPr>
        <p:blipFill>
          <a:blip r:embed="rId4"/>
          <a:stretch>
            <a:fillRect/>
          </a:stretch>
        </p:blipFill>
        <p:spPr>
          <a:xfrm>
            <a:off x="4009783" y="4086118"/>
            <a:ext cx="2252471" cy="2671727"/>
          </a:xfrm>
          <a:prstGeom prst="rect">
            <a:avLst/>
          </a:prstGeom>
        </p:spPr>
      </p:pic>
      <p:pic>
        <p:nvPicPr>
          <p:cNvPr id="11" name="Рисунок 10">
            <a:extLst>
              <a:ext uri="{FF2B5EF4-FFF2-40B4-BE49-F238E27FC236}">
                <a16:creationId xmlns:a16="http://schemas.microsoft.com/office/drawing/2014/main" id="{DB0636F5-1786-4D0A-8F82-F3255F4D0C30}"/>
              </a:ext>
            </a:extLst>
          </p:cNvPr>
          <p:cNvPicPr>
            <a:picLocks noChangeAspect="1"/>
          </p:cNvPicPr>
          <p:nvPr/>
        </p:nvPicPr>
        <p:blipFill>
          <a:blip r:embed="rId5"/>
          <a:stretch>
            <a:fillRect/>
          </a:stretch>
        </p:blipFill>
        <p:spPr>
          <a:xfrm>
            <a:off x="7049954" y="2356551"/>
            <a:ext cx="4730993" cy="3010055"/>
          </a:xfrm>
          <a:prstGeom prst="rect">
            <a:avLst/>
          </a:prstGeom>
        </p:spPr>
      </p:pic>
      <p:sp>
        <p:nvSpPr>
          <p:cNvPr id="8" name="Прямоугольник: скругленные углы 7">
            <a:extLst>
              <a:ext uri="{FF2B5EF4-FFF2-40B4-BE49-F238E27FC236}">
                <a16:creationId xmlns:a16="http://schemas.microsoft.com/office/drawing/2014/main" id="{774346E1-6310-4321-AFF5-28CD6AE19B03}"/>
              </a:ext>
            </a:extLst>
          </p:cNvPr>
          <p:cNvSpPr/>
          <p:nvPr/>
        </p:nvSpPr>
        <p:spPr>
          <a:xfrm>
            <a:off x="4328438" y="6532154"/>
            <a:ext cx="1933816" cy="3056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styles.css</a:t>
            </a:r>
            <a:endParaRPr lang="ru-RU" dirty="0"/>
          </a:p>
        </p:txBody>
      </p:sp>
      <p:sp>
        <p:nvSpPr>
          <p:cNvPr id="7" name="Прямоугольник: скругленные углы 6">
            <a:extLst>
              <a:ext uri="{FF2B5EF4-FFF2-40B4-BE49-F238E27FC236}">
                <a16:creationId xmlns:a16="http://schemas.microsoft.com/office/drawing/2014/main" id="{AF0CDEE2-C003-4A60-A2CA-7AA3E381D237}"/>
              </a:ext>
            </a:extLst>
          </p:cNvPr>
          <p:cNvSpPr/>
          <p:nvPr/>
        </p:nvSpPr>
        <p:spPr>
          <a:xfrm>
            <a:off x="4617207" y="3685847"/>
            <a:ext cx="2252471" cy="351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index.html</a:t>
            </a:r>
            <a:endParaRPr lang="ru-RU" dirty="0"/>
          </a:p>
        </p:txBody>
      </p:sp>
    </p:spTree>
    <p:extLst>
      <p:ext uri="{BB962C8B-B14F-4D97-AF65-F5344CB8AC3E}">
        <p14:creationId xmlns:p14="http://schemas.microsoft.com/office/powerpoint/2010/main" val="470172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ru-RU" dirty="0"/>
              <a:t>Для применения свойств только к конкретным объектам (тегам) класса перед «.» указывают имя объекта:</a:t>
            </a:r>
          </a:p>
          <a:p>
            <a:pPr marL="0" indent="0">
              <a:buNone/>
            </a:pPr>
            <a:r>
              <a:rPr lang="ru-RU" dirty="0" err="1"/>
              <a:t>тег.класс</a:t>
            </a:r>
            <a:r>
              <a:rPr lang="ru-RU" dirty="0"/>
              <a:t> </a:t>
            </a:r>
            <a:r>
              <a:rPr lang="en-US" dirty="0"/>
              <a:t>{</a:t>
            </a:r>
          </a:p>
          <a:p>
            <a:pPr marL="0" indent="0">
              <a:buNone/>
            </a:pPr>
            <a:r>
              <a:rPr lang="en-US" dirty="0"/>
              <a:t>	</a:t>
            </a:r>
            <a:r>
              <a:rPr lang="ru-RU" dirty="0"/>
              <a:t>параметр : значение</a:t>
            </a:r>
            <a:r>
              <a:rPr lang="en-US" dirty="0"/>
              <a:t>;</a:t>
            </a:r>
            <a:endParaRPr lang="ru-RU" dirty="0"/>
          </a:p>
          <a:p>
            <a:pPr marL="0" indent="0">
              <a:buNone/>
            </a:pPr>
            <a:r>
              <a:rPr lang="en-US" dirty="0"/>
              <a:t>}</a:t>
            </a:r>
            <a:endParaRPr lang="ru-RU" dirty="0"/>
          </a:p>
        </p:txBody>
      </p:sp>
    </p:spTree>
    <p:extLst>
      <p:ext uri="{BB962C8B-B14F-4D97-AF65-F5344CB8AC3E}">
        <p14:creationId xmlns:p14="http://schemas.microsoft.com/office/powerpoint/2010/main" val="31913514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C490E7CC-5D15-4F51-A603-3E85D191069E}"/>
              </a:ext>
            </a:extLst>
          </p:cNvPr>
          <p:cNvPicPr>
            <a:picLocks noChangeAspect="1"/>
          </p:cNvPicPr>
          <p:nvPr/>
        </p:nvPicPr>
        <p:blipFill>
          <a:blip r:embed="rId3"/>
          <a:stretch>
            <a:fillRect/>
          </a:stretch>
        </p:blipFill>
        <p:spPr>
          <a:xfrm>
            <a:off x="7452234" y="2005505"/>
            <a:ext cx="4381725" cy="3416476"/>
          </a:xfrm>
          <a:prstGeom prst="rect">
            <a:avLst/>
          </a:prstGeom>
        </p:spPr>
      </p:pic>
      <p:pic>
        <p:nvPicPr>
          <p:cNvPr id="5" name="Рисунок 4">
            <a:extLst>
              <a:ext uri="{FF2B5EF4-FFF2-40B4-BE49-F238E27FC236}">
                <a16:creationId xmlns:a16="http://schemas.microsoft.com/office/drawing/2014/main" id="{C4141D9D-0151-4016-8ADE-918BEA529FB2}"/>
              </a:ext>
            </a:extLst>
          </p:cNvPr>
          <p:cNvPicPr>
            <a:picLocks noChangeAspect="1"/>
          </p:cNvPicPr>
          <p:nvPr/>
        </p:nvPicPr>
        <p:blipFill>
          <a:blip r:embed="rId4"/>
          <a:stretch>
            <a:fillRect/>
          </a:stretch>
        </p:blipFill>
        <p:spPr>
          <a:xfrm>
            <a:off x="2671368" y="4162169"/>
            <a:ext cx="3314140" cy="2695831"/>
          </a:xfrm>
          <a:prstGeom prst="rect">
            <a:avLst/>
          </a:prstGeom>
        </p:spPr>
      </p:pic>
      <p:sp>
        <p:nvSpPr>
          <p:cNvPr id="8" name="Прямоугольник: скругленные углы 7">
            <a:extLst>
              <a:ext uri="{FF2B5EF4-FFF2-40B4-BE49-F238E27FC236}">
                <a16:creationId xmlns:a16="http://schemas.microsoft.com/office/drawing/2014/main" id="{774346E1-6310-4321-AFF5-28CD6AE19B03}"/>
              </a:ext>
            </a:extLst>
          </p:cNvPr>
          <p:cNvSpPr/>
          <p:nvPr/>
        </p:nvSpPr>
        <p:spPr>
          <a:xfrm>
            <a:off x="4051692" y="6552355"/>
            <a:ext cx="1933816" cy="3056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styles.css</a:t>
            </a:r>
            <a:endParaRPr lang="ru-RU" dirty="0"/>
          </a:p>
        </p:txBody>
      </p:sp>
      <p:pic>
        <p:nvPicPr>
          <p:cNvPr id="6" name="Рисунок 5">
            <a:extLst>
              <a:ext uri="{FF2B5EF4-FFF2-40B4-BE49-F238E27FC236}">
                <a16:creationId xmlns:a16="http://schemas.microsoft.com/office/drawing/2014/main" id="{1CFA1B38-84C4-4013-9322-A539134970E8}"/>
              </a:ext>
            </a:extLst>
          </p:cNvPr>
          <p:cNvPicPr>
            <a:picLocks noChangeAspect="1"/>
          </p:cNvPicPr>
          <p:nvPr/>
        </p:nvPicPr>
        <p:blipFill>
          <a:blip r:embed="rId5"/>
          <a:stretch>
            <a:fillRect/>
          </a:stretch>
        </p:blipFill>
        <p:spPr>
          <a:xfrm>
            <a:off x="1010030" y="1272833"/>
            <a:ext cx="5859648" cy="2772400"/>
          </a:xfrm>
          <a:prstGeom prst="rect">
            <a:avLst/>
          </a:prstGeom>
        </p:spPr>
      </p:pic>
      <p:sp>
        <p:nvSpPr>
          <p:cNvPr id="7" name="Прямоугольник: скругленные углы 6">
            <a:extLst>
              <a:ext uri="{FF2B5EF4-FFF2-40B4-BE49-F238E27FC236}">
                <a16:creationId xmlns:a16="http://schemas.microsoft.com/office/drawing/2014/main" id="{AF0CDEE2-C003-4A60-A2CA-7AA3E381D237}"/>
              </a:ext>
            </a:extLst>
          </p:cNvPr>
          <p:cNvSpPr/>
          <p:nvPr/>
        </p:nvSpPr>
        <p:spPr>
          <a:xfrm>
            <a:off x="4617207" y="3685847"/>
            <a:ext cx="2252471" cy="351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index.html</a:t>
            </a:r>
            <a:endParaRPr lang="ru-RU" dirty="0"/>
          </a:p>
        </p:txBody>
      </p:sp>
    </p:spTree>
    <p:extLst>
      <p:ext uri="{BB962C8B-B14F-4D97-AF65-F5344CB8AC3E}">
        <p14:creationId xmlns:p14="http://schemas.microsoft.com/office/powerpoint/2010/main" val="94061719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ru-RU" dirty="0"/>
              <a:t>Для применения правил к нескольким объектам, их имена следует указывать через «</a:t>
            </a:r>
            <a:r>
              <a:rPr lang="en-US" dirty="0"/>
              <a:t>,</a:t>
            </a:r>
            <a:r>
              <a:rPr lang="ru-RU" dirty="0"/>
              <a:t>»:</a:t>
            </a:r>
          </a:p>
          <a:p>
            <a:pPr marL="0" indent="0">
              <a:buNone/>
            </a:pPr>
            <a:r>
              <a:rPr lang="ru-RU" dirty="0"/>
              <a:t>объект1</a:t>
            </a:r>
            <a:r>
              <a:rPr lang="en-US" dirty="0"/>
              <a:t>,</a:t>
            </a:r>
            <a:r>
              <a:rPr lang="ru-RU" dirty="0"/>
              <a:t> </a:t>
            </a:r>
            <a:endParaRPr lang="en-US" dirty="0"/>
          </a:p>
          <a:p>
            <a:pPr marL="0" indent="0">
              <a:buNone/>
            </a:pPr>
            <a:r>
              <a:rPr lang="ru-RU" dirty="0"/>
              <a:t>объект2 </a:t>
            </a:r>
            <a:r>
              <a:rPr lang="en-US" dirty="0"/>
              <a:t>{</a:t>
            </a:r>
          </a:p>
          <a:p>
            <a:pPr marL="0" indent="0">
              <a:buNone/>
            </a:pPr>
            <a:r>
              <a:rPr lang="en-US" dirty="0"/>
              <a:t>	</a:t>
            </a:r>
            <a:r>
              <a:rPr lang="ru-RU" dirty="0"/>
              <a:t>параметр : значение</a:t>
            </a:r>
            <a:r>
              <a:rPr lang="en-US" dirty="0"/>
              <a:t>;</a:t>
            </a:r>
            <a:endParaRPr lang="ru-RU" dirty="0"/>
          </a:p>
          <a:p>
            <a:pPr marL="0" indent="0">
              <a:buNone/>
            </a:pPr>
            <a:r>
              <a:rPr lang="en-US" dirty="0"/>
              <a:t>}</a:t>
            </a:r>
            <a:endParaRPr lang="ru-RU" dirty="0"/>
          </a:p>
        </p:txBody>
      </p:sp>
    </p:spTree>
    <p:extLst>
      <p:ext uri="{BB962C8B-B14F-4D97-AF65-F5344CB8AC3E}">
        <p14:creationId xmlns:p14="http://schemas.microsoft.com/office/powerpoint/2010/main" val="37994696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endParaRPr lang="ru-RU" dirty="0"/>
          </a:p>
        </p:txBody>
      </p:sp>
      <p:pic>
        <p:nvPicPr>
          <p:cNvPr id="6" name="Рисунок 5">
            <a:extLst>
              <a:ext uri="{FF2B5EF4-FFF2-40B4-BE49-F238E27FC236}">
                <a16:creationId xmlns:a16="http://schemas.microsoft.com/office/drawing/2014/main" id="{1CFA1B38-84C4-4013-9322-A539134970E8}"/>
              </a:ext>
            </a:extLst>
          </p:cNvPr>
          <p:cNvPicPr>
            <a:picLocks noChangeAspect="1"/>
          </p:cNvPicPr>
          <p:nvPr/>
        </p:nvPicPr>
        <p:blipFill>
          <a:blip r:embed="rId3"/>
          <a:stretch>
            <a:fillRect/>
          </a:stretch>
        </p:blipFill>
        <p:spPr>
          <a:xfrm>
            <a:off x="589346" y="1690688"/>
            <a:ext cx="5859648" cy="2772400"/>
          </a:xfrm>
          <a:prstGeom prst="rect">
            <a:avLst/>
          </a:prstGeom>
        </p:spPr>
      </p:pic>
      <p:sp>
        <p:nvSpPr>
          <p:cNvPr id="7" name="Прямоугольник: скругленные углы 6">
            <a:extLst>
              <a:ext uri="{FF2B5EF4-FFF2-40B4-BE49-F238E27FC236}">
                <a16:creationId xmlns:a16="http://schemas.microsoft.com/office/drawing/2014/main" id="{AF0CDEE2-C003-4A60-A2CA-7AA3E381D237}"/>
              </a:ext>
            </a:extLst>
          </p:cNvPr>
          <p:cNvSpPr/>
          <p:nvPr/>
        </p:nvSpPr>
        <p:spPr>
          <a:xfrm>
            <a:off x="4196523" y="4103702"/>
            <a:ext cx="2252471" cy="351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index.html</a:t>
            </a:r>
            <a:endParaRPr lang="ru-RU" dirty="0"/>
          </a:p>
        </p:txBody>
      </p:sp>
      <p:pic>
        <p:nvPicPr>
          <p:cNvPr id="11" name="Рисунок 10">
            <a:extLst>
              <a:ext uri="{FF2B5EF4-FFF2-40B4-BE49-F238E27FC236}">
                <a16:creationId xmlns:a16="http://schemas.microsoft.com/office/drawing/2014/main" id="{6061F7AB-11D7-4F0A-8F1F-E0474F5A5A0B}"/>
              </a:ext>
            </a:extLst>
          </p:cNvPr>
          <p:cNvPicPr>
            <a:picLocks noChangeAspect="1"/>
          </p:cNvPicPr>
          <p:nvPr/>
        </p:nvPicPr>
        <p:blipFill>
          <a:blip r:embed="rId4"/>
          <a:stretch>
            <a:fillRect/>
          </a:stretch>
        </p:blipFill>
        <p:spPr>
          <a:xfrm>
            <a:off x="3730575" y="4585720"/>
            <a:ext cx="2718419" cy="1669580"/>
          </a:xfrm>
          <a:prstGeom prst="rect">
            <a:avLst/>
          </a:prstGeom>
        </p:spPr>
      </p:pic>
      <p:sp>
        <p:nvSpPr>
          <p:cNvPr id="8" name="Прямоугольник: скругленные углы 7">
            <a:extLst>
              <a:ext uri="{FF2B5EF4-FFF2-40B4-BE49-F238E27FC236}">
                <a16:creationId xmlns:a16="http://schemas.microsoft.com/office/drawing/2014/main" id="{774346E1-6310-4321-AFF5-28CD6AE19B03}"/>
              </a:ext>
            </a:extLst>
          </p:cNvPr>
          <p:cNvSpPr/>
          <p:nvPr/>
        </p:nvSpPr>
        <p:spPr>
          <a:xfrm>
            <a:off x="4515178" y="5915988"/>
            <a:ext cx="1933816" cy="3056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styles.css</a:t>
            </a:r>
            <a:endParaRPr lang="ru-RU" dirty="0"/>
          </a:p>
        </p:txBody>
      </p:sp>
      <p:pic>
        <p:nvPicPr>
          <p:cNvPr id="12" name="Рисунок 11">
            <a:extLst>
              <a:ext uri="{FF2B5EF4-FFF2-40B4-BE49-F238E27FC236}">
                <a16:creationId xmlns:a16="http://schemas.microsoft.com/office/drawing/2014/main" id="{E4E18054-1771-43CA-89C5-04678B89D423}"/>
              </a:ext>
            </a:extLst>
          </p:cNvPr>
          <p:cNvPicPr>
            <a:picLocks noChangeAspect="1"/>
          </p:cNvPicPr>
          <p:nvPr/>
        </p:nvPicPr>
        <p:blipFill>
          <a:blip r:embed="rId5"/>
          <a:stretch>
            <a:fillRect/>
          </a:stretch>
        </p:blipFill>
        <p:spPr>
          <a:xfrm>
            <a:off x="6557702" y="2263756"/>
            <a:ext cx="5356041" cy="3293466"/>
          </a:xfrm>
          <a:prstGeom prst="rect">
            <a:avLst/>
          </a:prstGeom>
        </p:spPr>
      </p:pic>
    </p:spTree>
    <p:extLst>
      <p:ext uri="{BB962C8B-B14F-4D97-AF65-F5344CB8AC3E}">
        <p14:creationId xmlns:p14="http://schemas.microsoft.com/office/powerpoint/2010/main" val="12521459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ru-RU" dirty="0"/>
              <a:t>Для применения правил к объекту2, наследнику объекта1, нужно указать его имя через пробел:</a:t>
            </a:r>
          </a:p>
          <a:p>
            <a:pPr marL="0" indent="0">
              <a:buNone/>
            </a:pPr>
            <a:r>
              <a:rPr lang="ru-RU" dirty="0"/>
              <a:t>объект1 объект2 </a:t>
            </a:r>
            <a:r>
              <a:rPr lang="en-US" dirty="0"/>
              <a:t>{</a:t>
            </a:r>
          </a:p>
          <a:p>
            <a:pPr marL="0" indent="0">
              <a:buNone/>
            </a:pPr>
            <a:r>
              <a:rPr lang="en-US" dirty="0"/>
              <a:t>	</a:t>
            </a:r>
            <a:r>
              <a:rPr lang="ru-RU" dirty="0"/>
              <a:t>параметр: значение</a:t>
            </a:r>
            <a:r>
              <a:rPr lang="en-US" dirty="0"/>
              <a:t>;</a:t>
            </a:r>
            <a:endParaRPr lang="ru-RU" dirty="0"/>
          </a:p>
          <a:p>
            <a:pPr marL="0" indent="0">
              <a:buNone/>
            </a:pPr>
            <a:r>
              <a:rPr lang="en-US" dirty="0"/>
              <a:t>}</a:t>
            </a:r>
            <a:endParaRPr lang="ru-RU" dirty="0"/>
          </a:p>
        </p:txBody>
      </p:sp>
    </p:spTree>
    <p:extLst>
      <p:ext uri="{BB962C8B-B14F-4D97-AF65-F5344CB8AC3E}">
        <p14:creationId xmlns:p14="http://schemas.microsoft.com/office/powerpoint/2010/main" val="29675056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endParaRPr lang="ru-RU" dirty="0"/>
          </a:p>
        </p:txBody>
      </p:sp>
      <p:pic>
        <p:nvPicPr>
          <p:cNvPr id="10" name="Рисунок 9">
            <a:extLst>
              <a:ext uri="{FF2B5EF4-FFF2-40B4-BE49-F238E27FC236}">
                <a16:creationId xmlns:a16="http://schemas.microsoft.com/office/drawing/2014/main" id="{1E837479-5AEA-418F-A5C5-8283EFFB1305}"/>
              </a:ext>
            </a:extLst>
          </p:cNvPr>
          <p:cNvPicPr>
            <a:picLocks noChangeAspect="1"/>
          </p:cNvPicPr>
          <p:nvPr/>
        </p:nvPicPr>
        <p:blipFill>
          <a:blip r:embed="rId3"/>
          <a:stretch>
            <a:fillRect/>
          </a:stretch>
        </p:blipFill>
        <p:spPr>
          <a:xfrm>
            <a:off x="6792391" y="2356145"/>
            <a:ext cx="5063361" cy="3267729"/>
          </a:xfrm>
          <a:prstGeom prst="rect">
            <a:avLst/>
          </a:prstGeom>
        </p:spPr>
      </p:pic>
      <p:pic>
        <p:nvPicPr>
          <p:cNvPr id="13" name="Рисунок 12">
            <a:extLst>
              <a:ext uri="{FF2B5EF4-FFF2-40B4-BE49-F238E27FC236}">
                <a16:creationId xmlns:a16="http://schemas.microsoft.com/office/drawing/2014/main" id="{03C5C22D-D47E-4A8D-9593-AA667C9F6924}"/>
              </a:ext>
            </a:extLst>
          </p:cNvPr>
          <p:cNvPicPr>
            <a:picLocks noChangeAspect="1"/>
          </p:cNvPicPr>
          <p:nvPr/>
        </p:nvPicPr>
        <p:blipFill>
          <a:blip r:embed="rId4"/>
          <a:stretch>
            <a:fillRect/>
          </a:stretch>
        </p:blipFill>
        <p:spPr>
          <a:xfrm>
            <a:off x="4057497" y="5085606"/>
            <a:ext cx="2617681" cy="1076536"/>
          </a:xfrm>
          <a:prstGeom prst="rect">
            <a:avLst/>
          </a:prstGeom>
        </p:spPr>
      </p:pic>
      <p:sp>
        <p:nvSpPr>
          <p:cNvPr id="8" name="Прямоугольник: скругленные углы 7">
            <a:extLst>
              <a:ext uri="{FF2B5EF4-FFF2-40B4-BE49-F238E27FC236}">
                <a16:creationId xmlns:a16="http://schemas.microsoft.com/office/drawing/2014/main" id="{774346E1-6310-4321-AFF5-28CD6AE19B03}"/>
              </a:ext>
            </a:extLst>
          </p:cNvPr>
          <p:cNvSpPr/>
          <p:nvPr/>
        </p:nvSpPr>
        <p:spPr>
          <a:xfrm>
            <a:off x="4716720" y="5856497"/>
            <a:ext cx="1933816" cy="3056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styles.css</a:t>
            </a:r>
            <a:endParaRPr lang="ru-RU" dirty="0"/>
          </a:p>
        </p:txBody>
      </p:sp>
      <p:pic>
        <p:nvPicPr>
          <p:cNvPr id="14" name="Рисунок 13">
            <a:extLst>
              <a:ext uri="{FF2B5EF4-FFF2-40B4-BE49-F238E27FC236}">
                <a16:creationId xmlns:a16="http://schemas.microsoft.com/office/drawing/2014/main" id="{79030D49-FEF5-40B8-9D7A-2F0215F3F228}"/>
              </a:ext>
            </a:extLst>
          </p:cNvPr>
          <p:cNvPicPr>
            <a:picLocks noChangeAspect="1"/>
          </p:cNvPicPr>
          <p:nvPr/>
        </p:nvPicPr>
        <p:blipFill>
          <a:blip r:embed="rId5"/>
          <a:stretch>
            <a:fillRect/>
          </a:stretch>
        </p:blipFill>
        <p:spPr>
          <a:xfrm>
            <a:off x="337527" y="1690688"/>
            <a:ext cx="6337651" cy="3245490"/>
          </a:xfrm>
          <a:prstGeom prst="rect">
            <a:avLst/>
          </a:prstGeom>
        </p:spPr>
      </p:pic>
      <p:sp>
        <p:nvSpPr>
          <p:cNvPr id="7" name="Прямоугольник: скругленные углы 6">
            <a:extLst>
              <a:ext uri="{FF2B5EF4-FFF2-40B4-BE49-F238E27FC236}">
                <a16:creationId xmlns:a16="http://schemas.microsoft.com/office/drawing/2014/main" id="{AF0CDEE2-C003-4A60-A2CA-7AA3E381D237}"/>
              </a:ext>
            </a:extLst>
          </p:cNvPr>
          <p:cNvSpPr/>
          <p:nvPr/>
        </p:nvSpPr>
        <p:spPr>
          <a:xfrm>
            <a:off x="4398065" y="4599205"/>
            <a:ext cx="2252471" cy="351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index.html</a:t>
            </a:r>
            <a:endParaRPr lang="ru-RU" dirty="0"/>
          </a:p>
        </p:txBody>
      </p:sp>
    </p:spTree>
    <p:extLst>
      <p:ext uri="{BB962C8B-B14F-4D97-AF65-F5344CB8AC3E}">
        <p14:creationId xmlns:p14="http://schemas.microsoft.com/office/powerpoint/2010/main" val="8276764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ru-RU" dirty="0"/>
              <a:t>Для объектов с несколькими состояниями можно применять правила на основе состояний, указывая их тип после «:»:</a:t>
            </a:r>
          </a:p>
          <a:p>
            <a:pPr marL="0" indent="0">
              <a:buNone/>
            </a:pPr>
            <a:r>
              <a:rPr lang="ru-RU" dirty="0"/>
              <a:t>объект: состояние </a:t>
            </a:r>
            <a:r>
              <a:rPr lang="en-US" dirty="0"/>
              <a:t>{</a:t>
            </a:r>
          </a:p>
          <a:p>
            <a:pPr marL="0" indent="0">
              <a:buNone/>
            </a:pPr>
            <a:r>
              <a:rPr lang="en-US" dirty="0"/>
              <a:t>	</a:t>
            </a:r>
            <a:r>
              <a:rPr lang="ru-RU" dirty="0"/>
              <a:t>параметр: значение</a:t>
            </a:r>
            <a:r>
              <a:rPr lang="en-US" dirty="0"/>
              <a:t>;</a:t>
            </a:r>
            <a:endParaRPr lang="ru-RU" dirty="0"/>
          </a:p>
          <a:p>
            <a:pPr marL="0" indent="0">
              <a:buNone/>
            </a:pPr>
            <a:r>
              <a:rPr lang="en-US" dirty="0"/>
              <a:t>}</a:t>
            </a:r>
            <a:endParaRPr lang="ru-RU" dirty="0"/>
          </a:p>
        </p:txBody>
      </p:sp>
    </p:spTree>
    <p:extLst>
      <p:ext uri="{BB962C8B-B14F-4D97-AF65-F5344CB8AC3E}">
        <p14:creationId xmlns:p14="http://schemas.microsoft.com/office/powerpoint/2010/main" val="196159661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endParaRPr lang="ru-RU" dirty="0"/>
          </a:p>
        </p:txBody>
      </p:sp>
      <p:pic>
        <p:nvPicPr>
          <p:cNvPr id="6" name="Рисунок 5">
            <a:extLst>
              <a:ext uri="{FF2B5EF4-FFF2-40B4-BE49-F238E27FC236}">
                <a16:creationId xmlns:a16="http://schemas.microsoft.com/office/drawing/2014/main" id="{36D31A21-24D8-4A23-B6AF-CD7C4B22BA38}"/>
              </a:ext>
            </a:extLst>
          </p:cNvPr>
          <p:cNvPicPr>
            <a:picLocks noChangeAspect="1"/>
          </p:cNvPicPr>
          <p:nvPr/>
        </p:nvPicPr>
        <p:blipFill>
          <a:blip r:embed="rId3"/>
          <a:stretch>
            <a:fillRect/>
          </a:stretch>
        </p:blipFill>
        <p:spPr>
          <a:xfrm>
            <a:off x="0" y="1690687"/>
            <a:ext cx="8015462" cy="2528005"/>
          </a:xfrm>
          <a:prstGeom prst="rect">
            <a:avLst/>
          </a:prstGeom>
        </p:spPr>
      </p:pic>
      <p:sp>
        <p:nvSpPr>
          <p:cNvPr id="7" name="Прямоугольник: скругленные углы 6">
            <a:extLst>
              <a:ext uri="{FF2B5EF4-FFF2-40B4-BE49-F238E27FC236}">
                <a16:creationId xmlns:a16="http://schemas.microsoft.com/office/drawing/2014/main" id="{AF0CDEE2-C003-4A60-A2CA-7AA3E381D237}"/>
              </a:ext>
            </a:extLst>
          </p:cNvPr>
          <p:cNvSpPr/>
          <p:nvPr/>
        </p:nvSpPr>
        <p:spPr>
          <a:xfrm>
            <a:off x="5745973" y="3867229"/>
            <a:ext cx="2252471" cy="351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index.html</a:t>
            </a:r>
            <a:endParaRPr lang="ru-RU" dirty="0"/>
          </a:p>
        </p:txBody>
      </p:sp>
      <p:pic>
        <p:nvPicPr>
          <p:cNvPr id="9" name="Рисунок 8">
            <a:extLst>
              <a:ext uri="{FF2B5EF4-FFF2-40B4-BE49-F238E27FC236}">
                <a16:creationId xmlns:a16="http://schemas.microsoft.com/office/drawing/2014/main" id="{BB90257A-FD57-4D6F-BF1B-57087AB1C532}"/>
              </a:ext>
            </a:extLst>
          </p:cNvPr>
          <p:cNvPicPr>
            <a:picLocks noChangeAspect="1"/>
          </p:cNvPicPr>
          <p:nvPr/>
        </p:nvPicPr>
        <p:blipFill>
          <a:blip r:embed="rId4"/>
          <a:stretch>
            <a:fillRect/>
          </a:stretch>
        </p:blipFill>
        <p:spPr>
          <a:xfrm>
            <a:off x="4849649" y="4353629"/>
            <a:ext cx="3148795" cy="2283089"/>
          </a:xfrm>
          <a:prstGeom prst="rect">
            <a:avLst/>
          </a:prstGeom>
        </p:spPr>
      </p:pic>
      <p:sp>
        <p:nvSpPr>
          <p:cNvPr id="8" name="Прямоугольник: скругленные углы 7">
            <a:extLst>
              <a:ext uri="{FF2B5EF4-FFF2-40B4-BE49-F238E27FC236}">
                <a16:creationId xmlns:a16="http://schemas.microsoft.com/office/drawing/2014/main" id="{774346E1-6310-4321-AFF5-28CD6AE19B03}"/>
              </a:ext>
            </a:extLst>
          </p:cNvPr>
          <p:cNvSpPr/>
          <p:nvPr/>
        </p:nvSpPr>
        <p:spPr>
          <a:xfrm>
            <a:off x="6189318" y="6331073"/>
            <a:ext cx="1809126" cy="3056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styles.css</a:t>
            </a:r>
            <a:endParaRPr lang="ru-RU" dirty="0"/>
          </a:p>
        </p:txBody>
      </p:sp>
      <p:pic>
        <p:nvPicPr>
          <p:cNvPr id="11" name="Рисунок 10">
            <a:extLst>
              <a:ext uri="{FF2B5EF4-FFF2-40B4-BE49-F238E27FC236}">
                <a16:creationId xmlns:a16="http://schemas.microsoft.com/office/drawing/2014/main" id="{80C51E44-49B5-4A94-B3EF-42B1D3413D06}"/>
              </a:ext>
            </a:extLst>
          </p:cNvPr>
          <p:cNvPicPr>
            <a:picLocks noChangeAspect="1"/>
          </p:cNvPicPr>
          <p:nvPr/>
        </p:nvPicPr>
        <p:blipFill>
          <a:blip r:embed="rId5"/>
          <a:stretch>
            <a:fillRect/>
          </a:stretch>
        </p:blipFill>
        <p:spPr>
          <a:xfrm>
            <a:off x="8057026" y="2324042"/>
            <a:ext cx="4134974" cy="2434807"/>
          </a:xfrm>
          <a:prstGeom prst="rect">
            <a:avLst/>
          </a:prstGeom>
        </p:spPr>
      </p:pic>
    </p:spTree>
    <p:extLst>
      <p:ext uri="{BB962C8B-B14F-4D97-AF65-F5344CB8AC3E}">
        <p14:creationId xmlns:p14="http://schemas.microsoft.com/office/powerpoint/2010/main" val="203857551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a:xfrm>
            <a:off x="838200" y="1825624"/>
            <a:ext cx="10515600" cy="5032375"/>
          </a:xfrm>
        </p:spPr>
        <p:txBody>
          <a:bodyPr/>
          <a:lstStyle/>
          <a:p>
            <a:r>
              <a:rPr lang="en-US" dirty="0"/>
              <a:t>@media </a:t>
            </a:r>
            <a:r>
              <a:rPr lang="ru-RU" dirty="0"/>
              <a:t>позволяет задействовать правила только при выполнении условий</a:t>
            </a:r>
          </a:p>
          <a:p>
            <a:r>
              <a:rPr lang="ru-RU" dirty="0"/>
              <a:t>Правила выполняются, если окно не меньше 600</a:t>
            </a:r>
            <a:r>
              <a:rPr lang="en-US" dirty="0"/>
              <a:t>px</a:t>
            </a:r>
            <a:r>
              <a:rPr lang="ru-RU" dirty="0"/>
              <a:t>:</a:t>
            </a:r>
          </a:p>
          <a:p>
            <a:pPr marL="0" indent="0">
              <a:buNone/>
            </a:pPr>
            <a:r>
              <a:rPr lang="en-US" dirty="0"/>
              <a:t>@media screen and (min-width: 600px){</a:t>
            </a:r>
          </a:p>
          <a:p>
            <a:pPr marL="0" indent="0">
              <a:buNone/>
            </a:pPr>
            <a:r>
              <a:rPr lang="en-US" dirty="0"/>
              <a:t>	</a:t>
            </a:r>
            <a:r>
              <a:rPr lang="ru-RU" dirty="0"/>
              <a:t>объект</a:t>
            </a:r>
            <a:r>
              <a:rPr lang="en-US" dirty="0"/>
              <a:t> {</a:t>
            </a:r>
          </a:p>
          <a:p>
            <a:pPr marL="0" indent="0">
              <a:buNone/>
            </a:pPr>
            <a:r>
              <a:rPr lang="en-US" dirty="0"/>
              <a:t>		</a:t>
            </a:r>
            <a:r>
              <a:rPr lang="ru-RU" dirty="0"/>
              <a:t>параметр:</a:t>
            </a:r>
            <a:r>
              <a:rPr lang="en-US" dirty="0"/>
              <a:t> </a:t>
            </a:r>
            <a:r>
              <a:rPr lang="ru-RU" dirty="0"/>
              <a:t>значение</a:t>
            </a:r>
            <a:r>
              <a:rPr lang="en-US" dirty="0"/>
              <a:t>;</a:t>
            </a:r>
          </a:p>
          <a:p>
            <a:pPr marL="0" indent="0">
              <a:buNone/>
            </a:pPr>
            <a:r>
              <a:rPr lang="en-US" dirty="0"/>
              <a:t>	}</a:t>
            </a:r>
          </a:p>
          <a:p>
            <a:pPr marL="0" indent="0">
              <a:buNone/>
            </a:pPr>
            <a:r>
              <a:rPr lang="en-US" dirty="0"/>
              <a:t>}</a:t>
            </a:r>
          </a:p>
          <a:p>
            <a:r>
              <a:rPr lang="ru-RU" dirty="0"/>
              <a:t>Не следует создавать несколько правил по ширине экрана, при граничном значении правила могут быть не применены</a:t>
            </a:r>
          </a:p>
        </p:txBody>
      </p:sp>
    </p:spTree>
    <p:extLst>
      <p:ext uri="{BB962C8B-B14F-4D97-AF65-F5344CB8AC3E}">
        <p14:creationId xmlns:p14="http://schemas.microsoft.com/office/powerpoint/2010/main" val="257381805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5122" name="Picture 2" descr="three boxes sat inside one another. From outside to in they are labelled margin, border and padding">
            <a:extLst>
              <a:ext uri="{FF2B5EF4-FFF2-40B4-BE49-F238E27FC236}">
                <a16:creationId xmlns:a16="http://schemas.microsoft.com/office/drawing/2014/main" id="{2B560B88-0E0C-4338-83AC-9C15C3A74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8253" y="1440657"/>
            <a:ext cx="6615494" cy="5186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33726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5F7CF46B-E351-4769-A665-A8E159071B8A}"/>
              </a:ext>
            </a:extLst>
          </p:cNvPr>
          <p:cNvPicPr>
            <a:picLocks noChangeAspect="1"/>
          </p:cNvPicPr>
          <p:nvPr/>
        </p:nvPicPr>
        <p:blipFill rotWithShape="1">
          <a:blip r:embed="rId3"/>
          <a:srcRect t="23173"/>
          <a:stretch/>
        </p:blipFill>
        <p:spPr>
          <a:xfrm>
            <a:off x="2152650" y="1291143"/>
            <a:ext cx="7886700" cy="3556426"/>
          </a:xfrm>
          <a:prstGeom prst="rect">
            <a:avLst/>
          </a:prstGeom>
        </p:spPr>
      </p:pic>
      <p:pic>
        <p:nvPicPr>
          <p:cNvPr id="6148" name="Picture 4" descr="CSS Displays and Positioning 101 — Inline-blocks and Floats | by Rutger  McKenna | Analytics Vidhya | Medium">
            <a:extLst>
              <a:ext uri="{FF2B5EF4-FFF2-40B4-BE49-F238E27FC236}">
                <a16:creationId xmlns:a16="http://schemas.microsoft.com/office/drawing/2014/main" id="{90FAB050-9581-43B2-9D2B-904FCAFBA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1398" y="4837792"/>
            <a:ext cx="6909203" cy="1918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00830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6" name="Рисунок 5">
            <a:extLst>
              <a:ext uri="{FF2B5EF4-FFF2-40B4-BE49-F238E27FC236}">
                <a16:creationId xmlns:a16="http://schemas.microsoft.com/office/drawing/2014/main" id="{43375EC9-A34A-4E70-BA20-EAD452AFC800}"/>
              </a:ext>
            </a:extLst>
          </p:cNvPr>
          <p:cNvPicPr>
            <a:picLocks noChangeAspect="1"/>
          </p:cNvPicPr>
          <p:nvPr/>
        </p:nvPicPr>
        <p:blipFill>
          <a:blip r:embed="rId3"/>
          <a:stretch>
            <a:fillRect/>
          </a:stretch>
        </p:blipFill>
        <p:spPr>
          <a:xfrm>
            <a:off x="3051310" y="2381344"/>
            <a:ext cx="5835950" cy="1828894"/>
          </a:xfrm>
          <a:prstGeom prst="rect">
            <a:avLst/>
          </a:prstGeom>
          <a:ln>
            <a:solidFill>
              <a:schemeClr val="tx1"/>
            </a:solidFill>
          </a:ln>
        </p:spPr>
      </p:pic>
      <p:pic>
        <p:nvPicPr>
          <p:cNvPr id="7" name="Рисунок 6">
            <a:extLst>
              <a:ext uri="{FF2B5EF4-FFF2-40B4-BE49-F238E27FC236}">
                <a16:creationId xmlns:a16="http://schemas.microsoft.com/office/drawing/2014/main" id="{B996CAAB-B54D-44A6-81A1-CA31E20A6B66}"/>
              </a:ext>
            </a:extLst>
          </p:cNvPr>
          <p:cNvPicPr>
            <a:picLocks noChangeAspect="1"/>
          </p:cNvPicPr>
          <p:nvPr/>
        </p:nvPicPr>
        <p:blipFill>
          <a:blip r:embed="rId4"/>
          <a:stretch>
            <a:fillRect/>
          </a:stretch>
        </p:blipFill>
        <p:spPr>
          <a:xfrm>
            <a:off x="3051310" y="4476656"/>
            <a:ext cx="5867702" cy="1835244"/>
          </a:xfrm>
          <a:prstGeom prst="rect">
            <a:avLst/>
          </a:prstGeom>
          <a:ln>
            <a:solidFill>
              <a:schemeClr val="tx1"/>
            </a:solidFill>
          </a:ln>
        </p:spPr>
      </p:pic>
    </p:spTree>
    <p:extLst>
      <p:ext uri="{BB962C8B-B14F-4D97-AF65-F5344CB8AC3E}">
        <p14:creationId xmlns:p14="http://schemas.microsoft.com/office/powerpoint/2010/main" val="17117069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a:xfrm>
            <a:off x="471055" y="1825625"/>
            <a:ext cx="11457709" cy="4351338"/>
          </a:xfrm>
        </p:spPr>
        <p:txBody>
          <a:bodyPr/>
          <a:lstStyle/>
          <a:p>
            <a:r>
              <a:rPr lang="en-US" dirty="0"/>
              <a:t>text-align </a:t>
            </a:r>
            <a:r>
              <a:rPr lang="ru-RU" dirty="0"/>
              <a:t>– для выравнивания текста</a:t>
            </a:r>
            <a:r>
              <a:rPr lang="en-US" dirty="0"/>
              <a:t> </a:t>
            </a:r>
            <a:r>
              <a:rPr lang="ru-RU" dirty="0"/>
              <a:t>по горизонтали внутри блоков </a:t>
            </a:r>
            <a:r>
              <a:rPr lang="en-US" dirty="0"/>
              <a:t>(center, end, justify, start, left, right)</a:t>
            </a:r>
          </a:p>
          <a:p>
            <a:r>
              <a:rPr lang="en-US" dirty="0"/>
              <a:t>margin: auto </a:t>
            </a:r>
            <a:r>
              <a:rPr lang="ru-RU" dirty="0"/>
              <a:t>выравнивает по центру блок, если задана </a:t>
            </a:r>
            <a:r>
              <a:rPr lang="en-US" dirty="0"/>
              <a:t>width&lt;100%</a:t>
            </a:r>
          </a:p>
          <a:p>
            <a:r>
              <a:rPr lang="en-US" dirty="0"/>
              <a:t>align-content – </a:t>
            </a:r>
            <a:r>
              <a:rPr lang="ru-RU" dirty="0"/>
              <a:t>вертикальное выравнивание содержимого блока </a:t>
            </a:r>
            <a:r>
              <a:rPr lang="en-US" dirty="0"/>
              <a:t>(baseline, center, end), </a:t>
            </a:r>
            <a:r>
              <a:rPr lang="ru-RU" dirty="0"/>
              <a:t>например текста </a:t>
            </a:r>
            <a:r>
              <a:rPr lang="en-US" dirty="0"/>
              <a:t>&lt;div&gt;&lt;p&gt;</a:t>
            </a:r>
            <a:r>
              <a:rPr lang="ru-RU" dirty="0"/>
              <a:t>текст</a:t>
            </a:r>
            <a:r>
              <a:rPr lang="en-US" dirty="0"/>
              <a:t>&lt;/p&gt;&lt;/div&gt;</a:t>
            </a:r>
          </a:p>
          <a:p>
            <a:r>
              <a:rPr lang="en-US" dirty="0"/>
              <a:t>align-items – </a:t>
            </a:r>
            <a:r>
              <a:rPr lang="ru-RU" dirty="0"/>
              <a:t>вертикальное выравнивание блоков внутри блока (</a:t>
            </a:r>
            <a:r>
              <a:rPr lang="en-US" dirty="0"/>
              <a:t>stretch –</a:t>
            </a:r>
            <a:r>
              <a:rPr lang="ru-RU" dirty="0"/>
              <a:t>занять все пустое пространство в </a:t>
            </a:r>
            <a:r>
              <a:rPr lang="en-US" dirty="0"/>
              <a:t>flex</a:t>
            </a:r>
            <a:r>
              <a:rPr lang="ru-RU" dirty="0"/>
              <a:t>,</a:t>
            </a:r>
            <a:r>
              <a:rPr lang="en-US" dirty="0"/>
              <a:t> center, start, end)</a:t>
            </a:r>
          </a:p>
          <a:p>
            <a:r>
              <a:rPr lang="en-US" dirty="0"/>
              <a:t>justify-content – </a:t>
            </a:r>
            <a:r>
              <a:rPr lang="ru-RU" dirty="0"/>
              <a:t>выравнивание блоков вдоль главной оси (горизонтальной по умолчанию)</a:t>
            </a:r>
          </a:p>
        </p:txBody>
      </p:sp>
    </p:spTree>
    <p:extLst>
      <p:ext uri="{BB962C8B-B14F-4D97-AF65-F5344CB8AC3E}">
        <p14:creationId xmlns:p14="http://schemas.microsoft.com/office/powerpoint/2010/main" val="30317123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a:xfrm>
            <a:off x="471055" y="1825625"/>
            <a:ext cx="11457709" cy="4351338"/>
          </a:xfrm>
        </p:spPr>
        <p:txBody>
          <a:bodyPr/>
          <a:lstStyle/>
          <a:p>
            <a:pPr marL="0" indent="0" algn="ctr">
              <a:buNone/>
            </a:pPr>
            <a:r>
              <a:rPr lang="en-US" dirty="0"/>
              <a:t>stretch                      center                         start                        end</a:t>
            </a:r>
            <a:endParaRPr lang="ru-RU" dirty="0"/>
          </a:p>
        </p:txBody>
      </p:sp>
      <p:pic>
        <p:nvPicPr>
          <p:cNvPr id="4" name="Рисунок 3">
            <a:extLst>
              <a:ext uri="{FF2B5EF4-FFF2-40B4-BE49-F238E27FC236}">
                <a16:creationId xmlns:a16="http://schemas.microsoft.com/office/drawing/2014/main" id="{36C20871-8A21-407C-A299-7C4B5BBFC10E}"/>
              </a:ext>
            </a:extLst>
          </p:cNvPr>
          <p:cNvPicPr>
            <a:picLocks noChangeAspect="1"/>
          </p:cNvPicPr>
          <p:nvPr/>
        </p:nvPicPr>
        <p:blipFill>
          <a:blip r:embed="rId3"/>
          <a:stretch>
            <a:fillRect/>
          </a:stretch>
        </p:blipFill>
        <p:spPr>
          <a:xfrm>
            <a:off x="799946" y="2407163"/>
            <a:ext cx="2636637" cy="2326445"/>
          </a:xfrm>
          <a:prstGeom prst="rect">
            <a:avLst/>
          </a:prstGeom>
        </p:spPr>
      </p:pic>
      <p:pic>
        <p:nvPicPr>
          <p:cNvPr id="5" name="Рисунок 4">
            <a:extLst>
              <a:ext uri="{FF2B5EF4-FFF2-40B4-BE49-F238E27FC236}">
                <a16:creationId xmlns:a16="http://schemas.microsoft.com/office/drawing/2014/main" id="{9B92F08A-7968-4FE3-B17C-9C0CCCB5A527}"/>
              </a:ext>
            </a:extLst>
          </p:cNvPr>
          <p:cNvPicPr>
            <a:picLocks noChangeAspect="1"/>
          </p:cNvPicPr>
          <p:nvPr/>
        </p:nvPicPr>
        <p:blipFill>
          <a:blip r:embed="rId4"/>
          <a:stretch>
            <a:fillRect/>
          </a:stretch>
        </p:blipFill>
        <p:spPr>
          <a:xfrm>
            <a:off x="3717023" y="2511540"/>
            <a:ext cx="2582368" cy="2117694"/>
          </a:xfrm>
          <a:prstGeom prst="rect">
            <a:avLst/>
          </a:prstGeom>
        </p:spPr>
      </p:pic>
      <p:pic>
        <p:nvPicPr>
          <p:cNvPr id="6" name="Рисунок 5">
            <a:extLst>
              <a:ext uri="{FF2B5EF4-FFF2-40B4-BE49-F238E27FC236}">
                <a16:creationId xmlns:a16="http://schemas.microsoft.com/office/drawing/2014/main" id="{F4BB6DA8-E41D-498E-8898-FB1C9C53E00D}"/>
              </a:ext>
            </a:extLst>
          </p:cNvPr>
          <p:cNvPicPr>
            <a:picLocks noChangeAspect="1"/>
          </p:cNvPicPr>
          <p:nvPr/>
        </p:nvPicPr>
        <p:blipFill>
          <a:blip r:embed="rId5"/>
          <a:stretch>
            <a:fillRect/>
          </a:stretch>
        </p:blipFill>
        <p:spPr>
          <a:xfrm>
            <a:off x="6508957" y="2531382"/>
            <a:ext cx="2399427" cy="2078009"/>
          </a:xfrm>
          <a:prstGeom prst="rect">
            <a:avLst/>
          </a:prstGeom>
        </p:spPr>
      </p:pic>
      <p:pic>
        <p:nvPicPr>
          <p:cNvPr id="7" name="Рисунок 6">
            <a:extLst>
              <a:ext uri="{FF2B5EF4-FFF2-40B4-BE49-F238E27FC236}">
                <a16:creationId xmlns:a16="http://schemas.microsoft.com/office/drawing/2014/main" id="{0FE359C5-1B6F-4952-85B8-EDEF2FF440B7}"/>
              </a:ext>
            </a:extLst>
          </p:cNvPr>
          <p:cNvPicPr>
            <a:picLocks noChangeAspect="1"/>
          </p:cNvPicPr>
          <p:nvPr/>
        </p:nvPicPr>
        <p:blipFill>
          <a:blip r:embed="rId6"/>
          <a:stretch>
            <a:fillRect/>
          </a:stretch>
        </p:blipFill>
        <p:spPr>
          <a:xfrm>
            <a:off x="9327516" y="2416678"/>
            <a:ext cx="2601248" cy="2212556"/>
          </a:xfrm>
          <a:prstGeom prst="rect">
            <a:avLst/>
          </a:prstGeom>
        </p:spPr>
      </p:pic>
    </p:spTree>
    <p:extLst>
      <p:ext uri="{BB962C8B-B14F-4D97-AF65-F5344CB8AC3E}">
        <p14:creationId xmlns:p14="http://schemas.microsoft.com/office/powerpoint/2010/main" val="12052344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a:xfrm>
            <a:off x="838200" y="1825624"/>
            <a:ext cx="10515600" cy="5189129"/>
          </a:xfrm>
        </p:spPr>
        <p:txBody>
          <a:bodyPr>
            <a:normAutofit/>
          </a:bodyPr>
          <a:lstStyle/>
          <a:p>
            <a:r>
              <a:rPr lang="en-US" dirty="0"/>
              <a:t>display </a:t>
            </a:r>
            <a:r>
              <a:rPr lang="ru-RU" dirty="0"/>
              <a:t>– меняет тип элемента (</a:t>
            </a:r>
            <a:r>
              <a:rPr lang="en-US" dirty="0"/>
              <a:t>block – </a:t>
            </a:r>
            <a:r>
              <a:rPr lang="ru-RU" dirty="0"/>
              <a:t>блочный, можно применять отступы и легче задавать положение на странице), </a:t>
            </a:r>
            <a:r>
              <a:rPr lang="en-US" dirty="0"/>
              <a:t>inline – </a:t>
            </a:r>
            <a:r>
              <a:rPr lang="ru-RU" dirty="0"/>
              <a:t>строковый (как текст), </a:t>
            </a:r>
            <a:r>
              <a:rPr lang="en-US" dirty="0"/>
              <a:t>flex – </a:t>
            </a:r>
            <a:r>
              <a:rPr lang="ru-RU" dirty="0"/>
              <a:t>растяжимые блоки, </a:t>
            </a:r>
            <a:r>
              <a:rPr lang="en-US" dirty="0"/>
              <a:t>block-inline –</a:t>
            </a:r>
            <a:r>
              <a:rPr lang="ru-RU" dirty="0"/>
              <a:t> блоки идут в строку, переносятся при сужении окна, </a:t>
            </a:r>
            <a:r>
              <a:rPr lang="en-US" dirty="0"/>
              <a:t>none –</a:t>
            </a:r>
            <a:r>
              <a:rPr lang="ru-RU" dirty="0"/>
              <a:t> не отображать</a:t>
            </a:r>
          </a:p>
          <a:p>
            <a:r>
              <a:rPr lang="en-US" dirty="0"/>
              <a:t>margin – </a:t>
            </a:r>
            <a:r>
              <a:rPr lang="ru-RU" dirty="0"/>
              <a:t>расстояние от границы блока до внешних элементов в %</a:t>
            </a:r>
            <a:endParaRPr lang="en-US" dirty="0"/>
          </a:p>
          <a:p>
            <a:r>
              <a:rPr lang="en-US" dirty="0"/>
              <a:t>padding – </a:t>
            </a:r>
            <a:r>
              <a:rPr lang="ru-RU" dirty="0"/>
              <a:t>расстояние от контента до границы блока в %</a:t>
            </a:r>
            <a:endParaRPr lang="en-US" dirty="0"/>
          </a:p>
          <a:p>
            <a:r>
              <a:rPr lang="en-US" dirty="0"/>
              <a:t>border – </a:t>
            </a:r>
            <a:r>
              <a:rPr lang="ru-RU" dirty="0"/>
              <a:t>параметры границы блока</a:t>
            </a:r>
            <a:r>
              <a:rPr lang="en-US" dirty="0"/>
              <a:t> (</a:t>
            </a:r>
            <a:r>
              <a:rPr lang="ru-RU" dirty="0"/>
              <a:t>цвет и тип</a:t>
            </a:r>
            <a:r>
              <a:rPr lang="en-US" dirty="0"/>
              <a:t> – black solid)</a:t>
            </a:r>
          </a:p>
          <a:p>
            <a:r>
              <a:rPr lang="en-US" dirty="0"/>
              <a:t>background-color – </a:t>
            </a:r>
            <a:r>
              <a:rPr lang="ru-RU" dirty="0"/>
              <a:t>цвет фона блока</a:t>
            </a:r>
          </a:p>
          <a:p>
            <a:r>
              <a:rPr lang="en-US" dirty="0"/>
              <a:t>width</a:t>
            </a:r>
            <a:r>
              <a:rPr lang="ru-RU" dirty="0"/>
              <a:t>, </a:t>
            </a:r>
            <a:r>
              <a:rPr lang="en-US" dirty="0"/>
              <a:t>height – </a:t>
            </a:r>
            <a:r>
              <a:rPr lang="ru-RU" dirty="0"/>
              <a:t>ширина и высота</a:t>
            </a:r>
            <a:endParaRPr lang="en-US" dirty="0"/>
          </a:p>
        </p:txBody>
      </p:sp>
    </p:spTree>
    <p:extLst>
      <p:ext uri="{BB962C8B-B14F-4D97-AF65-F5344CB8AC3E}">
        <p14:creationId xmlns:p14="http://schemas.microsoft.com/office/powerpoint/2010/main" val="24375545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a:xfrm>
            <a:off x="838200" y="1825624"/>
            <a:ext cx="10515600" cy="5189129"/>
          </a:xfrm>
        </p:spPr>
        <p:txBody>
          <a:bodyPr>
            <a:normAutofit/>
          </a:bodyPr>
          <a:lstStyle/>
          <a:p>
            <a:endParaRPr lang="en-US" dirty="0"/>
          </a:p>
        </p:txBody>
      </p:sp>
      <p:pic>
        <p:nvPicPr>
          <p:cNvPr id="7" name="Рисунок 6">
            <a:extLst>
              <a:ext uri="{FF2B5EF4-FFF2-40B4-BE49-F238E27FC236}">
                <a16:creationId xmlns:a16="http://schemas.microsoft.com/office/drawing/2014/main" id="{356E9E56-91F8-4D49-A68C-2E49DAA0529C}"/>
              </a:ext>
            </a:extLst>
          </p:cNvPr>
          <p:cNvPicPr>
            <a:picLocks noChangeAspect="1"/>
          </p:cNvPicPr>
          <p:nvPr/>
        </p:nvPicPr>
        <p:blipFill rotWithShape="1">
          <a:blip r:embed="rId3"/>
          <a:srcRect t="29201"/>
          <a:stretch/>
        </p:blipFill>
        <p:spPr>
          <a:xfrm>
            <a:off x="206511" y="1629617"/>
            <a:ext cx="4718292" cy="3075254"/>
          </a:xfrm>
          <a:prstGeom prst="rect">
            <a:avLst/>
          </a:prstGeom>
          <a:ln>
            <a:solidFill>
              <a:schemeClr val="tx1"/>
            </a:solidFill>
          </a:ln>
        </p:spPr>
      </p:pic>
      <p:pic>
        <p:nvPicPr>
          <p:cNvPr id="8" name="Рисунок 7">
            <a:extLst>
              <a:ext uri="{FF2B5EF4-FFF2-40B4-BE49-F238E27FC236}">
                <a16:creationId xmlns:a16="http://schemas.microsoft.com/office/drawing/2014/main" id="{BEC3FEB6-455E-43EC-9A0A-763D60DE2157}"/>
              </a:ext>
            </a:extLst>
          </p:cNvPr>
          <p:cNvPicPr>
            <a:picLocks noChangeAspect="1"/>
          </p:cNvPicPr>
          <p:nvPr/>
        </p:nvPicPr>
        <p:blipFill rotWithShape="1">
          <a:blip r:embed="rId4"/>
          <a:srcRect t="28574"/>
          <a:stretch/>
        </p:blipFill>
        <p:spPr>
          <a:xfrm>
            <a:off x="5162341" y="1629617"/>
            <a:ext cx="6718645" cy="3075254"/>
          </a:xfrm>
          <a:prstGeom prst="rect">
            <a:avLst/>
          </a:prstGeom>
          <a:ln>
            <a:solidFill>
              <a:schemeClr val="tx1"/>
            </a:solidFill>
          </a:ln>
        </p:spPr>
      </p:pic>
      <p:pic>
        <p:nvPicPr>
          <p:cNvPr id="9" name="Рисунок 8">
            <a:extLst>
              <a:ext uri="{FF2B5EF4-FFF2-40B4-BE49-F238E27FC236}">
                <a16:creationId xmlns:a16="http://schemas.microsoft.com/office/drawing/2014/main" id="{7128BA84-76D3-4372-85C4-3A326E513EBE}"/>
              </a:ext>
            </a:extLst>
          </p:cNvPr>
          <p:cNvPicPr>
            <a:picLocks noChangeAspect="1"/>
          </p:cNvPicPr>
          <p:nvPr/>
        </p:nvPicPr>
        <p:blipFill rotWithShape="1">
          <a:blip r:embed="rId5"/>
          <a:srcRect t="42694"/>
          <a:stretch/>
        </p:blipFill>
        <p:spPr>
          <a:xfrm>
            <a:off x="1793654" y="4878996"/>
            <a:ext cx="8604692" cy="1750422"/>
          </a:xfrm>
          <a:prstGeom prst="rect">
            <a:avLst/>
          </a:prstGeom>
          <a:ln>
            <a:solidFill>
              <a:schemeClr val="tx1"/>
            </a:solidFill>
          </a:ln>
        </p:spPr>
      </p:pic>
    </p:spTree>
    <p:extLst>
      <p:ext uri="{BB962C8B-B14F-4D97-AF65-F5344CB8AC3E}">
        <p14:creationId xmlns:p14="http://schemas.microsoft.com/office/powerpoint/2010/main" val="227835451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Фоновое изображение блока (здесь сверху файл1, затем файл2, под ними градиент от цвета1 к цвету2):</a:t>
            </a:r>
          </a:p>
          <a:p>
            <a:pPr marL="0" indent="0">
              <a:buNone/>
            </a:pPr>
            <a:r>
              <a:rPr lang="en-US" dirty="0"/>
              <a:t>background-image: </a:t>
            </a:r>
            <a:r>
              <a:rPr lang="en-US" dirty="0" err="1"/>
              <a:t>url</a:t>
            </a:r>
            <a:r>
              <a:rPr lang="en-US" dirty="0"/>
              <a:t>("</a:t>
            </a:r>
            <a:r>
              <a:rPr lang="ru-RU" dirty="0"/>
              <a:t>файл</a:t>
            </a:r>
            <a:r>
              <a:rPr lang="en-US" dirty="0"/>
              <a:t>1</a:t>
            </a:r>
            <a:r>
              <a:rPr lang="ru-RU" dirty="0"/>
              <a:t>.</a:t>
            </a:r>
            <a:r>
              <a:rPr lang="en-US" dirty="0"/>
              <a:t>jpg")</a:t>
            </a:r>
            <a:r>
              <a:rPr lang="ru-RU" dirty="0"/>
              <a:t>,</a:t>
            </a:r>
          </a:p>
          <a:p>
            <a:pPr marL="0" indent="0">
              <a:buNone/>
            </a:pPr>
            <a:r>
              <a:rPr lang="ru-RU" dirty="0"/>
              <a:t>			  </a:t>
            </a:r>
            <a:r>
              <a:rPr lang="en-US" dirty="0" err="1"/>
              <a:t>url</a:t>
            </a:r>
            <a:r>
              <a:rPr lang="en-US" dirty="0"/>
              <a:t>("</a:t>
            </a:r>
            <a:r>
              <a:rPr lang="ru-RU" dirty="0"/>
              <a:t>файл2.</a:t>
            </a:r>
            <a:r>
              <a:rPr lang="en-US" dirty="0"/>
              <a:t>jpg"),</a:t>
            </a:r>
          </a:p>
          <a:p>
            <a:pPr marL="0" indent="0">
              <a:buNone/>
            </a:pPr>
            <a:r>
              <a:rPr lang="en-US" dirty="0"/>
              <a:t>			  linear-gradient(</a:t>
            </a:r>
            <a:r>
              <a:rPr lang="ru-RU" dirty="0"/>
              <a:t>цвет1</a:t>
            </a:r>
            <a:r>
              <a:rPr lang="en-US" dirty="0"/>
              <a:t>, </a:t>
            </a:r>
            <a:r>
              <a:rPr lang="ru-RU" dirty="0"/>
              <a:t>цвет2</a:t>
            </a:r>
            <a:r>
              <a:rPr lang="en-US" dirty="0"/>
              <a:t>);</a:t>
            </a:r>
          </a:p>
          <a:p>
            <a:r>
              <a:rPr lang="ru-RU" dirty="0"/>
              <a:t>Замостить фон: </a:t>
            </a:r>
            <a:r>
              <a:rPr lang="en-US" dirty="0"/>
              <a:t>background-repeat: </a:t>
            </a:r>
            <a:r>
              <a:rPr lang="ru-RU" dirty="0"/>
              <a:t>тип</a:t>
            </a:r>
          </a:p>
          <a:p>
            <a:r>
              <a:rPr lang="ru-RU" dirty="0"/>
              <a:t>Типы: </a:t>
            </a:r>
            <a:r>
              <a:rPr lang="en-US" dirty="0"/>
              <a:t>repeat-x (</a:t>
            </a:r>
            <a:r>
              <a:rPr lang="ru-RU" dirty="0"/>
              <a:t>повторить по оси </a:t>
            </a:r>
            <a:r>
              <a:rPr lang="en-US" dirty="0"/>
              <a:t>x), repeat-y (</a:t>
            </a:r>
            <a:r>
              <a:rPr lang="ru-RU" dirty="0"/>
              <a:t>по </a:t>
            </a:r>
            <a:r>
              <a:rPr lang="en-US" dirty="0"/>
              <a:t>y), repeat(</a:t>
            </a:r>
            <a:r>
              <a:rPr lang="en-US" dirty="0" err="1"/>
              <a:t>x+y</a:t>
            </a:r>
            <a:r>
              <a:rPr lang="en-US" dirty="0"/>
              <a:t>), space (</a:t>
            </a:r>
            <a:r>
              <a:rPr lang="en-US" dirty="0" err="1"/>
              <a:t>x+y</a:t>
            </a:r>
            <a:r>
              <a:rPr lang="en-US" dirty="0"/>
              <a:t> </a:t>
            </a:r>
            <a:r>
              <a:rPr lang="ru-RU" dirty="0"/>
              <a:t>с отступами</a:t>
            </a:r>
            <a:r>
              <a:rPr lang="en-US" dirty="0"/>
              <a:t>)</a:t>
            </a:r>
            <a:r>
              <a:rPr lang="ru-RU" dirty="0"/>
              <a:t>, </a:t>
            </a:r>
            <a:r>
              <a:rPr lang="en-US" dirty="0"/>
              <a:t>no-repeat (</a:t>
            </a:r>
            <a:r>
              <a:rPr lang="ru-RU" dirty="0"/>
              <a:t>без повтора</a:t>
            </a:r>
            <a:r>
              <a:rPr lang="en-US" dirty="0"/>
              <a:t>)</a:t>
            </a:r>
          </a:p>
        </p:txBody>
      </p:sp>
    </p:spTree>
    <p:extLst>
      <p:ext uri="{BB962C8B-B14F-4D97-AF65-F5344CB8AC3E}">
        <p14:creationId xmlns:p14="http://schemas.microsoft.com/office/powerpoint/2010/main" val="4097806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pPr marL="0" indent="0" algn="ctr">
              <a:buNone/>
            </a:pPr>
            <a:endParaRPr lang="en-US" dirty="0"/>
          </a:p>
        </p:txBody>
      </p:sp>
      <p:pic>
        <p:nvPicPr>
          <p:cNvPr id="14" name="Рисунок 13">
            <a:extLst>
              <a:ext uri="{FF2B5EF4-FFF2-40B4-BE49-F238E27FC236}">
                <a16:creationId xmlns:a16="http://schemas.microsoft.com/office/drawing/2014/main" id="{9665F4D2-7217-4C53-B2AF-C365E6FB4E93}"/>
              </a:ext>
            </a:extLst>
          </p:cNvPr>
          <p:cNvPicPr>
            <a:picLocks noChangeAspect="1"/>
          </p:cNvPicPr>
          <p:nvPr/>
        </p:nvPicPr>
        <p:blipFill rotWithShape="1">
          <a:blip r:embed="rId3"/>
          <a:srcRect b="7034"/>
          <a:stretch/>
        </p:blipFill>
        <p:spPr>
          <a:xfrm>
            <a:off x="3101820" y="3906177"/>
            <a:ext cx="5988358" cy="2951823"/>
          </a:xfrm>
          <a:prstGeom prst="rect">
            <a:avLst/>
          </a:prstGeom>
        </p:spPr>
      </p:pic>
      <p:pic>
        <p:nvPicPr>
          <p:cNvPr id="15" name="Рисунок 14">
            <a:extLst>
              <a:ext uri="{FF2B5EF4-FFF2-40B4-BE49-F238E27FC236}">
                <a16:creationId xmlns:a16="http://schemas.microsoft.com/office/drawing/2014/main" id="{A48DE1BE-9E34-469E-AB5A-1AE978A11D03}"/>
              </a:ext>
            </a:extLst>
          </p:cNvPr>
          <p:cNvPicPr>
            <a:picLocks noChangeAspect="1"/>
          </p:cNvPicPr>
          <p:nvPr/>
        </p:nvPicPr>
        <p:blipFill>
          <a:blip r:embed="rId4"/>
          <a:stretch>
            <a:fillRect/>
          </a:stretch>
        </p:blipFill>
        <p:spPr>
          <a:xfrm>
            <a:off x="2345929" y="1609337"/>
            <a:ext cx="7500139" cy="2161903"/>
          </a:xfrm>
          <a:prstGeom prst="rect">
            <a:avLst/>
          </a:prstGeom>
        </p:spPr>
      </p:pic>
    </p:spTree>
    <p:extLst>
      <p:ext uri="{BB962C8B-B14F-4D97-AF65-F5344CB8AC3E}">
        <p14:creationId xmlns:p14="http://schemas.microsoft.com/office/powerpoint/2010/main" val="379674299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pPr marL="0" indent="0" algn="ctr">
              <a:buNone/>
            </a:pPr>
            <a:r>
              <a:rPr lang="en-US" dirty="0"/>
              <a:t>repeat-x               repeat               space                 round</a:t>
            </a:r>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dirty="0"/>
              <a:t>space repeat            no-repeat            repeat-y</a:t>
            </a:r>
          </a:p>
        </p:txBody>
      </p:sp>
      <p:pic>
        <p:nvPicPr>
          <p:cNvPr id="4" name="Рисунок 3">
            <a:extLst>
              <a:ext uri="{FF2B5EF4-FFF2-40B4-BE49-F238E27FC236}">
                <a16:creationId xmlns:a16="http://schemas.microsoft.com/office/drawing/2014/main" id="{383305BA-5E0A-487E-AEC7-24B1132FA629}"/>
              </a:ext>
            </a:extLst>
          </p:cNvPr>
          <p:cNvPicPr>
            <a:picLocks noChangeAspect="1"/>
          </p:cNvPicPr>
          <p:nvPr/>
        </p:nvPicPr>
        <p:blipFill>
          <a:blip r:embed="rId3"/>
          <a:stretch>
            <a:fillRect/>
          </a:stretch>
        </p:blipFill>
        <p:spPr>
          <a:xfrm>
            <a:off x="1817300" y="2223575"/>
            <a:ext cx="1997055" cy="1861106"/>
          </a:xfrm>
          <a:prstGeom prst="rect">
            <a:avLst/>
          </a:prstGeom>
        </p:spPr>
      </p:pic>
      <p:pic>
        <p:nvPicPr>
          <p:cNvPr id="5" name="Рисунок 4">
            <a:extLst>
              <a:ext uri="{FF2B5EF4-FFF2-40B4-BE49-F238E27FC236}">
                <a16:creationId xmlns:a16="http://schemas.microsoft.com/office/drawing/2014/main" id="{752E8530-9307-41D0-9F38-5874BE12BB3E}"/>
              </a:ext>
            </a:extLst>
          </p:cNvPr>
          <p:cNvPicPr>
            <a:picLocks noChangeAspect="1"/>
          </p:cNvPicPr>
          <p:nvPr/>
        </p:nvPicPr>
        <p:blipFill>
          <a:blip r:embed="rId4"/>
          <a:stretch>
            <a:fillRect/>
          </a:stretch>
        </p:blipFill>
        <p:spPr>
          <a:xfrm>
            <a:off x="4089290" y="2223574"/>
            <a:ext cx="1997055" cy="1870183"/>
          </a:xfrm>
          <a:prstGeom prst="rect">
            <a:avLst/>
          </a:prstGeom>
        </p:spPr>
      </p:pic>
      <p:pic>
        <p:nvPicPr>
          <p:cNvPr id="6" name="Рисунок 5">
            <a:extLst>
              <a:ext uri="{FF2B5EF4-FFF2-40B4-BE49-F238E27FC236}">
                <a16:creationId xmlns:a16="http://schemas.microsoft.com/office/drawing/2014/main" id="{89098FDE-DCBC-44A5-927B-29C9BD4EE89A}"/>
              </a:ext>
            </a:extLst>
          </p:cNvPr>
          <p:cNvPicPr>
            <a:picLocks noChangeAspect="1"/>
          </p:cNvPicPr>
          <p:nvPr/>
        </p:nvPicPr>
        <p:blipFill>
          <a:blip r:embed="rId5"/>
          <a:stretch>
            <a:fillRect/>
          </a:stretch>
        </p:blipFill>
        <p:spPr>
          <a:xfrm>
            <a:off x="6361280" y="2232651"/>
            <a:ext cx="1943013" cy="1861106"/>
          </a:xfrm>
          <a:prstGeom prst="rect">
            <a:avLst/>
          </a:prstGeom>
        </p:spPr>
      </p:pic>
      <p:pic>
        <p:nvPicPr>
          <p:cNvPr id="7" name="Рисунок 6">
            <a:extLst>
              <a:ext uri="{FF2B5EF4-FFF2-40B4-BE49-F238E27FC236}">
                <a16:creationId xmlns:a16="http://schemas.microsoft.com/office/drawing/2014/main" id="{94DDB059-0B80-44B4-B3C4-4AB8A175C46E}"/>
              </a:ext>
            </a:extLst>
          </p:cNvPr>
          <p:cNvPicPr>
            <a:picLocks noChangeAspect="1"/>
          </p:cNvPicPr>
          <p:nvPr/>
        </p:nvPicPr>
        <p:blipFill>
          <a:blip r:embed="rId6"/>
          <a:stretch>
            <a:fillRect/>
          </a:stretch>
        </p:blipFill>
        <p:spPr>
          <a:xfrm>
            <a:off x="8579228" y="2232651"/>
            <a:ext cx="1975611" cy="1870183"/>
          </a:xfrm>
          <a:prstGeom prst="rect">
            <a:avLst/>
          </a:prstGeom>
        </p:spPr>
      </p:pic>
      <p:pic>
        <p:nvPicPr>
          <p:cNvPr id="9" name="Рисунок 8">
            <a:extLst>
              <a:ext uri="{FF2B5EF4-FFF2-40B4-BE49-F238E27FC236}">
                <a16:creationId xmlns:a16="http://schemas.microsoft.com/office/drawing/2014/main" id="{87629D1B-6A16-4701-92F5-8C447746276E}"/>
              </a:ext>
            </a:extLst>
          </p:cNvPr>
          <p:cNvPicPr>
            <a:picLocks noChangeAspect="1"/>
          </p:cNvPicPr>
          <p:nvPr/>
        </p:nvPicPr>
        <p:blipFill>
          <a:blip r:embed="rId7"/>
          <a:stretch>
            <a:fillRect/>
          </a:stretch>
        </p:blipFill>
        <p:spPr>
          <a:xfrm>
            <a:off x="2815827" y="4867596"/>
            <a:ext cx="1911845" cy="1870183"/>
          </a:xfrm>
          <a:prstGeom prst="rect">
            <a:avLst/>
          </a:prstGeom>
        </p:spPr>
      </p:pic>
      <p:pic>
        <p:nvPicPr>
          <p:cNvPr id="10" name="Рисунок 9">
            <a:extLst>
              <a:ext uri="{FF2B5EF4-FFF2-40B4-BE49-F238E27FC236}">
                <a16:creationId xmlns:a16="http://schemas.microsoft.com/office/drawing/2014/main" id="{3355BC90-764F-44F1-BBF5-E5F961BD42C4}"/>
              </a:ext>
            </a:extLst>
          </p:cNvPr>
          <p:cNvPicPr>
            <a:picLocks noChangeAspect="1"/>
          </p:cNvPicPr>
          <p:nvPr/>
        </p:nvPicPr>
        <p:blipFill>
          <a:blip r:embed="rId8"/>
          <a:stretch>
            <a:fillRect/>
          </a:stretch>
        </p:blipFill>
        <p:spPr>
          <a:xfrm>
            <a:off x="5418971" y="4875189"/>
            <a:ext cx="1997055" cy="1861424"/>
          </a:xfrm>
          <a:prstGeom prst="rect">
            <a:avLst/>
          </a:prstGeom>
        </p:spPr>
      </p:pic>
      <p:pic>
        <p:nvPicPr>
          <p:cNvPr id="11" name="Рисунок 10">
            <a:extLst>
              <a:ext uri="{FF2B5EF4-FFF2-40B4-BE49-F238E27FC236}">
                <a16:creationId xmlns:a16="http://schemas.microsoft.com/office/drawing/2014/main" id="{E6D68643-B305-4596-86F8-5112A3449FDD}"/>
              </a:ext>
            </a:extLst>
          </p:cNvPr>
          <p:cNvPicPr>
            <a:picLocks noChangeAspect="1"/>
          </p:cNvPicPr>
          <p:nvPr/>
        </p:nvPicPr>
        <p:blipFill>
          <a:blip r:embed="rId9"/>
          <a:stretch>
            <a:fillRect/>
          </a:stretch>
        </p:blipFill>
        <p:spPr>
          <a:xfrm>
            <a:off x="7898320" y="4875189"/>
            <a:ext cx="1975612" cy="1862590"/>
          </a:xfrm>
          <a:prstGeom prst="rect">
            <a:avLst/>
          </a:prstGeom>
        </p:spPr>
      </p:pic>
    </p:spTree>
    <p:extLst>
      <p:ext uri="{BB962C8B-B14F-4D97-AF65-F5344CB8AC3E}">
        <p14:creationId xmlns:p14="http://schemas.microsoft.com/office/powerpoint/2010/main" val="308719869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pPr marL="0" indent="0" algn="ctr">
              <a:buNone/>
            </a:pPr>
            <a:endParaRPr lang="en-US" dirty="0"/>
          </a:p>
        </p:txBody>
      </p:sp>
      <p:pic>
        <p:nvPicPr>
          <p:cNvPr id="4" name="Рисунок 3">
            <a:extLst>
              <a:ext uri="{FF2B5EF4-FFF2-40B4-BE49-F238E27FC236}">
                <a16:creationId xmlns:a16="http://schemas.microsoft.com/office/drawing/2014/main" id="{36D289D8-5F7F-49A9-B52E-789DAE9608FE}"/>
              </a:ext>
            </a:extLst>
          </p:cNvPr>
          <p:cNvPicPr>
            <a:picLocks noChangeAspect="1"/>
          </p:cNvPicPr>
          <p:nvPr/>
        </p:nvPicPr>
        <p:blipFill>
          <a:blip r:embed="rId3"/>
          <a:stretch>
            <a:fillRect/>
          </a:stretch>
        </p:blipFill>
        <p:spPr>
          <a:xfrm>
            <a:off x="3173063" y="1690688"/>
            <a:ext cx="6310572" cy="5125252"/>
          </a:xfrm>
          <a:prstGeom prst="rect">
            <a:avLst/>
          </a:prstGeom>
        </p:spPr>
      </p:pic>
    </p:spTree>
    <p:extLst>
      <p:ext uri="{BB962C8B-B14F-4D97-AF65-F5344CB8AC3E}">
        <p14:creationId xmlns:p14="http://schemas.microsoft.com/office/powerpoint/2010/main" val="32108846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Для фиксации блока при прокрутке </a:t>
            </a:r>
            <a:r>
              <a:rPr lang="en-US" dirty="0"/>
              <a:t>position: fixed</a:t>
            </a:r>
            <a:endParaRPr lang="ru-RU" dirty="0"/>
          </a:p>
          <a:p>
            <a:r>
              <a:rPr lang="ru-RU" dirty="0"/>
              <a:t>Чтобы зафиксировать блок </a:t>
            </a:r>
            <a:r>
              <a:rPr lang="en-US" dirty="0"/>
              <a:t>header</a:t>
            </a:r>
            <a:r>
              <a:rPr lang="ru-RU" dirty="0"/>
              <a:t> в верхней части страницы, нужно убрать отступы по краям </a:t>
            </a:r>
            <a:r>
              <a:rPr lang="en-US" dirty="0"/>
              <a:t>top: 0;</a:t>
            </a:r>
            <a:r>
              <a:rPr lang="ru-RU" dirty="0"/>
              <a:t> </a:t>
            </a:r>
            <a:r>
              <a:rPr lang="en-US" dirty="0"/>
              <a:t>right: 0;</a:t>
            </a:r>
            <a:r>
              <a:rPr lang="ru-RU" dirty="0"/>
              <a:t> </a:t>
            </a:r>
            <a:r>
              <a:rPr lang="en-US" dirty="0"/>
              <a:t>left: 0;</a:t>
            </a:r>
            <a:endParaRPr lang="ru-RU" dirty="0"/>
          </a:p>
          <a:p>
            <a:r>
              <a:rPr lang="ru-RU" dirty="0"/>
              <a:t>Рекомендуется повышать приоритет строки меню </a:t>
            </a:r>
            <a:r>
              <a:rPr lang="en-US" dirty="0"/>
              <a:t>z-index: 1030;</a:t>
            </a:r>
            <a:endParaRPr lang="ru-RU" dirty="0"/>
          </a:p>
          <a:p>
            <a:r>
              <a:rPr lang="ru-RU" dirty="0"/>
              <a:t>Для добавления тени </a:t>
            </a:r>
            <a:r>
              <a:rPr lang="en-US" dirty="0"/>
              <a:t>box-shadow: 0px -10px 10px 10px #000; (</a:t>
            </a:r>
            <a:r>
              <a:rPr lang="ru-RU" dirty="0"/>
              <a:t>параметр: сдвиг по горизонтали</a:t>
            </a:r>
            <a:r>
              <a:rPr lang="en-US" dirty="0"/>
              <a:t>;</a:t>
            </a:r>
            <a:r>
              <a:rPr lang="ru-RU" dirty="0"/>
              <a:t> по вертикали, положительный</a:t>
            </a:r>
            <a:r>
              <a:rPr lang="en-US" dirty="0"/>
              <a:t>=</a:t>
            </a:r>
            <a:r>
              <a:rPr lang="ru-RU" dirty="0"/>
              <a:t>вверх</a:t>
            </a:r>
            <a:r>
              <a:rPr lang="en-US" dirty="0"/>
              <a:t>; </a:t>
            </a:r>
            <a:r>
              <a:rPr lang="ru-RU" dirty="0"/>
              <a:t>размытие</a:t>
            </a:r>
            <a:r>
              <a:rPr lang="en-US" dirty="0"/>
              <a:t>;</a:t>
            </a:r>
            <a:r>
              <a:rPr lang="ru-RU" dirty="0"/>
              <a:t> размер тени</a:t>
            </a:r>
            <a:r>
              <a:rPr lang="en-US" dirty="0"/>
              <a:t>;</a:t>
            </a:r>
            <a:r>
              <a:rPr lang="ru-RU" dirty="0"/>
              <a:t> цвет)</a:t>
            </a:r>
            <a:endParaRPr lang="en-US" dirty="0"/>
          </a:p>
          <a:p>
            <a:r>
              <a:rPr lang="ru-RU" dirty="0"/>
              <a:t>Такое меню должно быть по ширине окна, </a:t>
            </a:r>
            <a:r>
              <a:rPr lang="en-US" dirty="0"/>
              <a:t>width: 100%;</a:t>
            </a:r>
          </a:p>
        </p:txBody>
      </p:sp>
    </p:spTree>
    <p:extLst>
      <p:ext uri="{BB962C8B-B14F-4D97-AF65-F5344CB8AC3E}">
        <p14:creationId xmlns:p14="http://schemas.microsoft.com/office/powerpoint/2010/main" val="127522084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Если контент страницы задан в виде </a:t>
            </a:r>
            <a:r>
              <a:rPr lang="en-US" dirty="0"/>
              <a:t>inline-block </a:t>
            </a:r>
            <a:r>
              <a:rPr lang="ru-RU" dirty="0"/>
              <a:t>для адаптации к размеру окна, следует установить </a:t>
            </a:r>
            <a:r>
              <a:rPr lang="en-US" dirty="0"/>
              <a:t>body position: relative </a:t>
            </a:r>
            <a:r>
              <a:rPr lang="ru-RU" dirty="0"/>
              <a:t>для его авто масштабирования</a:t>
            </a:r>
          </a:p>
          <a:p>
            <a:r>
              <a:rPr lang="ru-RU" dirty="0"/>
              <a:t>Также следует выставить нулевые </a:t>
            </a:r>
            <a:r>
              <a:rPr lang="en-US" dirty="0"/>
              <a:t>margin, height 100vh (100% </a:t>
            </a:r>
            <a:r>
              <a:rPr lang="ru-RU" dirty="0"/>
              <a:t>высоты окна по вертикали)</a:t>
            </a:r>
          </a:p>
          <a:p>
            <a:r>
              <a:rPr lang="ru-RU" dirty="0"/>
              <a:t>Чтобы </a:t>
            </a:r>
            <a:r>
              <a:rPr lang="en-US" dirty="0"/>
              <a:t>footer </a:t>
            </a:r>
            <a:r>
              <a:rPr lang="ru-RU" dirty="0"/>
              <a:t>всегда находился внизу страницы,</a:t>
            </a:r>
            <a:br>
              <a:rPr lang="ru-RU" dirty="0"/>
            </a:br>
            <a:r>
              <a:rPr lang="ru-RU" dirty="0"/>
              <a:t>ему нужно задать </a:t>
            </a:r>
            <a:r>
              <a:rPr lang="en-US" dirty="0"/>
              <a:t>position: absolute</a:t>
            </a:r>
            <a:r>
              <a:rPr lang="ru-RU" dirty="0"/>
              <a:t>, координаты</a:t>
            </a:r>
            <a:br>
              <a:rPr lang="ru-RU" dirty="0"/>
            </a:br>
            <a:r>
              <a:rPr lang="en-US" dirty="0"/>
              <a:t>bottom: 0; left: 0 </a:t>
            </a:r>
            <a:r>
              <a:rPr lang="ru-RU" dirty="0"/>
              <a:t>и ширину 100%.</a:t>
            </a:r>
            <a:endParaRPr lang="en-US" dirty="0"/>
          </a:p>
        </p:txBody>
      </p:sp>
      <p:pic>
        <p:nvPicPr>
          <p:cNvPr id="8" name="Рисунок 7">
            <a:extLst>
              <a:ext uri="{FF2B5EF4-FFF2-40B4-BE49-F238E27FC236}">
                <a16:creationId xmlns:a16="http://schemas.microsoft.com/office/drawing/2014/main" id="{FAAA0B1B-45D1-48F5-A386-E23A362F6B67}"/>
              </a:ext>
            </a:extLst>
          </p:cNvPr>
          <p:cNvPicPr>
            <a:picLocks noChangeAspect="1"/>
          </p:cNvPicPr>
          <p:nvPr/>
        </p:nvPicPr>
        <p:blipFill>
          <a:blip r:embed="rId3"/>
          <a:stretch>
            <a:fillRect/>
          </a:stretch>
        </p:blipFill>
        <p:spPr>
          <a:xfrm>
            <a:off x="9389865" y="3623437"/>
            <a:ext cx="2802135" cy="3234563"/>
          </a:xfrm>
          <a:prstGeom prst="rect">
            <a:avLst/>
          </a:prstGeom>
        </p:spPr>
      </p:pic>
      <p:pic>
        <p:nvPicPr>
          <p:cNvPr id="9" name="Рисунок 8">
            <a:extLst>
              <a:ext uri="{FF2B5EF4-FFF2-40B4-BE49-F238E27FC236}">
                <a16:creationId xmlns:a16="http://schemas.microsoft.com/office/drawing/2014/main" id="{656E417E-5DEF-44D9-ACDA-C21DFEA61412}"/>
              </a:ext>
            </a:extLst>
          </p:cNvPr>
          <p:cNvPicPr>
            <a:picLocks noChangeAspect="1"/>
          </p:cNvPicPr>
          <p:nvPr/>
        </p:nvPicPr>
        <p:blipFill rotWithShape="1">
          <a:blip r:embed="rId4"/>
          <a:srcRect b="6214"/>
          <a:stretch/>
        </p:blipFill>
        <p:spPr>
          <a:xfrm>
            <a:off x="2773937" y="5539569"/>
            <a:ext cx="5220713" cy="1096181"/>
          </a:xfrm>
          <a:prstGeom prst="rect">
            <a:avLst/>
          </a:prstGeom>
        </p:spPr>
      </p:pic>
    </p:spTree>
    <p:extLst>
      <p:ext uri="{BB962C8B-B14F-4D97-AF65-F5344CB8AC3E}">
        <p14:creationId xmlns:p14="http://schemas.microsoft.com/office/powerpoint/2010/main" val="421888586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r>
              <a:rPr lang="ru-RU" dirty="0"/>
              <a:t>Поскольку </a:t>
            </a:r>
            <a:r>
              <a:rPr lang="en-US" dirty="0"/>
              <a:t>fixed </a:t>
            </a:r>
            <a:r>
              <a:rPr lang="ru-RU" dirty="0"/>
              <a:t>располагается над контентом, чтобы исключить наложение рекомендуется добавить пустой </a:t>
            </a:r>
            <a:r>
              <a:rPr lang="en-US" dirty="0"/>
              <a:t>div </a:t>
            </a:r>
            <a:r>
              <a:rPr lang="ru-RU" dirty="0"/>
              <a:t>после </a:t>
            </a:r>
            <a:r>
              <a:rPr lang="en-US" dirty="0"/>
              <a:t>fixed </a:t>
            </a:r>
            <a:r>
              <a:rPr lang="ru-RU" dirty="0"/>
              <a:t>с той же высотой</a:t>
            </a:r>
          </a:p>
          <a:p>
            <a:r>
              <a:rPr lang="ru-RU" dirty="0"/>
              <a:t>Также следует поступать с </a:t>
            </a:r>
            <a:r>
              <a:rPr lang="en-US" dirty="0"/>
              <a:t>absolute footer</a:t>
            </a:r>
          </a:p>
        </p:txBody>
      </p:sp>
      <p:pic>
        <p:nvPicPr>
          <p:cNvPr id="4" name="Рисунок 3">
            <a:extLst>
              <a:ext uri="{FF2B5EF4-FFF2-40B4-BE49-F238E27FC236}">
                <a16:creationId xmlns:a16="http://schemas.microsoft.com/office/drawing/2014/main" id="{CE5E2438-A1F2-4F3B-ABE9-F1086B8D3212}"/>
              </a:ext>
            </a:extLst>
          </p:cNvPr>
          <p:cNvPicPr>
            <a:picLocks noChangeAspect="1"/>
          </p:cNvPicPr>
          <p:nvPr/>
        </p:nvPicPr>
        <p:blipFill>
          <a:blip r:embed="rId3"/>
          <a:stretch>
            <a:fillRect/>
          </a:stretch>
        </p:blipFill>
        <p:spPr>
          <a:xfrm>
            <a:off x="5190323" y="4998945"/>
            <a:ext cx="5257800" cy="1133260"/>
          </a:xfrm>
          <a:prstGeom prst="rect">
            <a:avLst/>
          </a:prstGeom>
        </p:spPr>
      </p:pic>
      <p:pic>
        <p:nvPicPr>
          <p:cNvPr id="5" name="Рисунок 4">
            <a:extLst>
              <a:ext uri="{FF2B5EF4-FFF2-40B4-BE49-F238E27FC236}">
                <a16:creationId xmlns:a16="http://schemas.microsoft.com/office/drawing/2014/main" id="{6834F5DF-44AF-40AE-9080-D7E099C71007}"/>
              </a:ext>
            </a:extLst>
          </p:cNvPr>
          <p:cNvPicPr>
            <a:picLocks noChangeAspect="1"/>
          </p:cNvPicPr>
          <p:nvPr/>
        </p:nvPicPr>
        <p:blipFill>
          <a:blip r:embed="rId4"/>
          <a:stretch>
            <a:fillRect/>
          </a:stretch>
        </p:blipFill>
        <p:spPr>
          <a:xfrm>
            <a:off x="2195188" y="4095552"/>
            <a:ext cx="2834012" cy="2081411"/>
          </a:xfrm>
          <a:prstGeom prst="rect">
            <a:avLst/>
          </a:prstGeom>
        </p:spPr>
      </p:pic>
      <p:pic>
        <p:nvPicPr>
          <p:cNvPr id="6" name="Рисунок 5">
            <a:extLst>
              <a:ext uri="{FF2B5EF4-FFF2-40B4-BE49-F238E27FC236}">
                <a16:creationId xmlns:a16="http://schemas.microsoft.com/office/drawing/2014/main" id="{EE4F89FE-092B-42C9-8DA5-8CB24DB40F39}"/>
              </a:ext>
            </a:extLst>
          </p:cNvPr>
          <p:cNvPicPr>
            <a:picLocks noChangeAspect="1"/>
          </p:cNvPicPr>
          <p:nvPr/>
        </p:nvPicPr>
        <p:blipFill>
          <a:blip r:embed="rId5"/>
          <a:stretch>
            <a:fillRect/>
          </a:stretch>
        </p:blipFill>
        <p:spPr>
          <a:xfrm>
            <a:off x="5190323" y="4076554"/>
            <a:ext cx="5020453" cy="686878"/>
          </a:xfrm>
          <a:prstGeom prst="rect">
            <a:avLst/>
          </a:prstGeom>
        </p:spPr>
      </p:pic>
    </p:spTree>
    <p:extLst>
      <p:ext uri="{BB962C8B-B14F-4D97-AF65-F5344CB8AC3E}">
        <p14:creationId xmlns:p14="http://schemas.microsoft.com/office/powerpoint/2010/main" val="427946510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p:txBody>
          <a:bodyPr/>
          <a:lstStyle/>
          <a:p>
            <a:endParaRPr lang="ru-RU" dirty="0"/>
          </a:p>
        </p:txBody>
      </p:sp>
      <p:pic>
        <p:nvPicPr>
          <p:cNvPr id="5" name="Рисунок 4">
            <a:extLst>
              <a:ext uri="{FF2B5EF4-FFF2-40B4-BE49-F238E27FC236}">
                <a16:creationId xmlns:a16="http://schemas.microsoft.com/office/drawing/2014/main" id="{FC6A5ADC-73B7-43C4-830D-6F84BC73D562}"/>
              </a:ext>
            </a:extLst>
          </p:cNvPr>
          <p:cNvPicPr>
            <a:picLocks noChangeAspect="1"/>
          </p:cNvPicPr>
          <p:nvPr/>
        </p:nvPicPr>
        <p:blipFill>
          <a:blip r:embed="rId3"/>
          <a:stretch>
            <a:fillRect/>
          </a:stretch>
        </p:blipFill>
        <p:spPr>
          <a:xfrm>
            <a:off x="2327254" y="2816479"/>
            <a:ext cx="7913772" cy="1225041"/>
          </a:xfrm>
          <a:prstGeom prst="rect">
            <a:avLst/>
          </a:prstGeom>
        </p:spPr>
      </p:pic>
    </p:spTree>
    <p:extLst>
      <p:ext uri="{BB962C8B-B14F-4D97-AF65-F5344CB8AC3E}">
        <p14:creationId xmlns:p14="http://schemas.microsoft.com/office/powerpoint/2010/main" val="101111386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sp>
        <p:nvSpPr>
          <p:cNvPr id="3" name="Объект 2">
            <a:extLst>
              <a:ext uri="{FF2B5EF4-FFF2-40B4-BE49-F238E27FC236}">
                <a16:creationId xmlns:a16="http://schemas.microsoft.com/office/drawing/2014/main" id="{B085A689-5C5A-490E-A621-93D98470ECE5}"/>
              </a:ext>
            </a:extLst>
          </p:cNvPr>
          <p:cNvSpPr>
            <a:spLocks noGrp="1"/>
          </p:cNvSpPr>
          <p:nvPr>
            <p:ph idx="1"/>
          </p:nvPr>
        </p:nvSpPr>
        <p:spPr>
          <a:xfrm>
            <a:off x="838200" y="1825624"/>
            <a:ext cx="10515600" cy="4782993"/>
          </a:xfrm>
        </p:spPr>
        <p:txBody>
          <a:bodyPr>
            <a:normAutofit/>
          </a:bodyPr>
          <a:lstStyle/>
          <a:p>
            <a:r>
              <a:rPr lang="en-US" dirty="0"/>
              <a:t>font-size</a:t>
            </a:r>
            <a:r>
              <a:rPr lang="ru-RU" dirty="0"/>
              <a:t> – размер шрифта</a:t>
            </a:r>
          </a:p>
          <a:p>
            <a:r>
              <a:rPr lang="en-US" dirty="0"/>
              <a:t>font-weight – </a:t>
            </a:r>
            <a:r>
              <a:rPr lang="ru-RU" dirty="0"/>
              <a:t>толщина букв</a:t>
            </a:r>
            <a:r>
              <a:rPr lang="en-US" dirty="0"/>
              <a:t>, font-style = italic, bold, …</a:t>
            </a:r>
            <a:endParaRPr lang="ru-RU" dirty="0"/>
          </a:p>
          <a:p>
            <a:r>
              <a:rPr lang="en-US" dirty="0"/>
              <a:t>font – </a:t>
            </a:r>
            <a:r>
              <a:rPr lang="ru-RU" dirty="0"/>
              <a:t>тип шрифта, может загружаться по ссылке через </a:t>
            </a:r>
            <a:r>
              <a:rPr lang="en-US" dirty="0"/>
              <a:t>link </a:t>
            </a:r>
            <a:r>
              <a:rPr lang="ru-RU" dirty="0"/>
              <a:t>в </a:t>
            </a:r>
            <a:r>
              <a:rPr lang="en-US" dirty="0"/>
              <a:t>head</a:t>
            </a:r>
            <a:endParaRPr lang="ru-RU" dirty="0"/>
          </a:p>
          <a:p>
            <a:r>
              <a:rPr lang="en-US" dirty="0"/>
              <a:t>font-family</a:t>
            </a:r>
            <a:r>
              <a:rPr lang="ru-RU" dirty="0"/>
              <a:t> – семейство шрифтов (несколько через запятую, выбирается первый из поддерживаемых)</a:t>
            </a:r>
            <a:endParaRPr lang="en-US" dirty="0"/>
          </a:p>
          <a:p>
            <a:r>
              <a:rPr lang="ru-RU" dirty="0"/>
              <a:t>Стандартные шрифты:</a:t>
            </a:r>
            <a:br>
              <a:rPr lang="ru-RU" dirty="0"/>
            </a:br>
            <a:r>
              <a:rPr lang="en-US" dirty="0"/>
              <a:t>serif</a:t>
            </a:r>
            <a:r>
              <a:rPr lang="ru-RU" dirty="0"/>
              <a:t>, </a:t>
            </a:r>
            <a:r>
              <a:rPr lang="en-US" dirty="0"/>
              <a:t>sans-serif, </a:t>
            </a:r>
            <a:br>
              <a:rPr lang="en-US" dirty="0"/>
            </a:br>
            <a:r>
              <a:rPr lang="en-US" dirty="0"/>
              <a:t>monospace,</a:t>
            </a:r>
            <a:br>
              <a:rPr lang="en-US" dirty="0"/>
            </a:br>
            <a:r>
              <a:rPr lang="en-US" dirty="0"/>
              <a:t>cursive, fantasy</a:t>
            </a:r>
          </a:p>
          <a:p>
            <a:r>
              <a:rPr lang="ru-RU" dirty="0"/>
              <a:t>Пример – </a:t>
            </a:r>
            <a:r>
              <a:rPr lang="en-US" dirty="0"/>
              <a:t>font: fantasy</a:t>
            </a:r>
            <a:endParaRPr lang="ru-RU" dirty="0"/>
          </a:p>
        </p:txBody>
      </p:sp>
      <p:pic>
        <p:nvPicPr>
          <p:cNvPr id="5" name="Рисунок 4">
            <a:extLst>
              <a:ext uri="{FF2B5EF4-FFF2-40B4-BE49-F238E27FC236}">
                <a16:creationId xmlns:a16="http://schemas.microsoft.com/office/drawing/2014/main" id="{CAFE9E96-8621-4323-9005-E9988CF134A5}"/>
              </a:ext>
            </a:extLst>
          </p:cNvPr>
          <p:cNvPicPr>
            <a:picLocks noChangeAspect="1"/>
          </p:cNvPicPr>
          <p:nvPr/>
        </p:nvPicPr>
        <p:blipFill>
          <a:blip r:embed="rId3"/>
          <a:stretch>
            <a:fillRect/>
          </a:stretch>
        </p:blipFill>
        <p:spPr>
          <a:xfrm>
            <a:off x="7536872" y="3707352"/>
            <a:ext cx="3685310" cy="3103937"/>
          </a:xfrm>
          <a:prstGeom prst="rect">
            <a:avLst/>
          </a:prstGeom>
        </p:spPr>
      </p:pic>
    </p:spTree>
    <p:extLst>
      <p:ext uri="{BB962C8B-B14F-4D97-AF65-F5344CB8AC3E}">
        <p14:creationId xmlns:p14="http://schemas.microsoft.com/office/powerpoint/2010/main" val="330600275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F4694E-DEAD-4087-B02F-E2CB9D121BC6}"/>
              </a:ext>
            </a:extLst>
          </p:cNvPr>
          <p:cNvSpPr>
            <a:spLocks noGrp="1"/>
          </p:cNvSpPr>
          <p:nvPr>
            <p:ph type="title"/>
          </p:nvPr>
        </p:nvSpPr>
        <p:spPr/>
        <p:txBody>
          <a:bodyPr/>
          <a:lstStyle/>
          <a:p>
            <a:r>
              <a:rPr lang="ru-RU" dirty="0"/>
              <a:t>Основы </a:t>
            </a:r>
            <a:r>
              <a:rPr lang="en-US" dirty="0"/>
              <a:t>CSS</a:t>
            </a:r>
            <a:endParaRPr lang="ru-RU" dirty="0"/>
          </a:p>
        </p:txBody>
      </p:sp>
      <p:pic>
        <p:nvPicPr>
          <p:cNvPr id="8" name="Объект 7">
            <a:extLst>
              <a:ext uri="{FF2B5EF4-FFF2-40B4-BE49-F238E27FC236}">
                <a16:creationId xmlns:a16="http://schemas.microsoft.com/office/drawing/2014/main" id="{ACD3600D-F932-4D21-94DC-4F95416879A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65610" y="3429000"/>
            <a:ext cx="4085166" cy="3063875"/>
          </a:xfrm>
        </p:spPr>
      </p:pic>
      <p:pic>
        <p:nvPicPr>
          <p:cNvPr id="1026" name="Picture 2" descr="CSS is brutal ! : r/ProgrammerHumor">
            <a:extLst>
              <a:ext uri="{FF2B5EF4-FFF2-40B4-BE49-F238E27FC236}">
                <a16:creationId xmlns:a16="http://schemas.microsoft.com/office/drawing/2014/main" id="{B8A43605-F2BD-4417-83E1-EC5F715BD1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36430" y="154786"/>
            <a:ext cx="2904260" cy="4488873"/>
          </a:xfrm>
          <a:prstGeom prst="rect">
            <a:avLst/>
          </a:prstGeom>
          <a:noFill/>
          <a:extLst>
            <a:ext uri="{909E8E84-426E-40DD-AFC4-6F175D3DCCD1}">
              <a14:hiddenFill xmlns:a14="http://schemas.microsoft.com/office/drawing/2010/main">
                <a:solidFill>
                  <a:srgbClr val="FFFFFF"/>
                </a:solidFill>
              </a14:hiddenFill>
            </a:ext>
          </a:extLst>
        </p:spPr>
      </p:pic>
      <p:pic>
        <p:nvPicPr>
          <p:cNvPr id="5" name="Рисунок 4">
            <a:extLst>
              <a:ext uri="{FF2B5EF4-FFF2-40B4-BE49-F238E27FC236}">
                <a16:creationId xmlns:a16="http://schemas.microsoft.com/office/drawing/2014/main" id="{0A45645C-F3C7-473D-A694-DB542CA5E4DD}"/>
              </a:ext>
            </a:extLst>
          </p:cNvPr>
          <p:cNvPicPr>
            <a:picLocks noChangeAspect="1"/>
          </p:cNvPicPr>
          <p:nvPr/>
        </p:nvPicPr>
        <p:blipFill>
          <a:blip r:embed="rId5"/>
          <a:stretch>
            <a:fillRect/>
          </a:stretch>
        </p:blipFill>
        <p:spPr>
          <a:xfrm>
            <a:off x="344254" y="1332274"/>
            <a:ext cx="4458511" cy="3429000"/>
          </a:xfrm>
          <a:prstGeom prst="rect">
            <a:avLst/>
          </a:prstGeom>
        </p:spPr>
      </p:pic>
      <p:pic>
        <p:nvPicPr>
          <p:cNvPr id="1028" name="Picture 4" descr="CSS Meme">
            <a:extLst>
              <a:ext uri="{FF2B5EF4-FFF2-40B4-BE49-F238E27FC236}">
                <a16:creationId xmlns:a16="http://schemas.microsoft.com/office/drawing/2014/main" id="{7A05D8B9-CD95-4D24-9ED1-CC974C0D13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962" y="293401"/>
            <a:ext cx="2563090" cy="25630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SS meme is back - Algorithms for beginners ✔️ - Quora">
            <a:extLst>
              <a:ext uri="{FF2B5EF4-FFF2-40B4-BE49-F238E27FC236}">
                <a16:creationId xmlns:a16="http://schemas.microsoft.com/office/drawing/2014/main" id="{6ECE9D89-2BBF-4146-A596-120245B028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1" y="4761273"/>
            <a:ext cx="2173646" cy="198227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op 40+ Javascript Memes|Programming Humor :D - Flatlogic Blog">
            <a:extLst>
              <a:ext uri="{FF2B5EF4-FFF2-40B4-BE49-F238E27FC236}">
                <a16:creationId xmlns:a16="http://schemas.microsoft.com/office/drawing/2014/main" id="{9AFDDE7F-5804-40F1-A728-FDA5E516B3D0}"/>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15920"/>
          <a:stretch/>
        </p:blipFill>
        <p:spPr bwMode="auto">
          <a:xfrm>
            <a:off x="9226235" y="4930595"/>
            <a:ext cx="2747767" cy="1812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20676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ru-RU" dirty="0"/>
              <a:t>Формы</a:t>
            </a:r>
          </a:p>
        </p:txBody>
      </p:sp>
    </p:spTree>
    <p:extLst>
      <p:ext uri="{BB962C8B-B14F-4D97-AF65-F5344CB8AC3E}">
        <p14:creationId xmlns:p14="http://schemas.microsoft.com/office/powerpoint/2010/main" val="8810885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Расширенные инструменты верстки</a:t>
            </a:r>
          </a:p>
        </p:txBody>
      </p:sp>
      <p:sp>
        <p:nvSpPr>
          <p:cNvPr id="4" name="Объект 3">
            <a:extLst>
              <a:ext uri="{FF2B5EF4-FFF2-40B4-BE49-F238E27FC236}">
                <a16:creationId xmlns:a16="http://schemas.microsoft.com/office/drawing/2014/main" id="{FA18F609-342F-4B00-B1DB-5A68D3979A4D}"/>
              </a:ext>
            </a:extLst>
          </p:cNvPr>
          <p:cNvSpPr>
            <a:spLocks noGrp="1"/>
          </p:cNvSpPr>
          <p:nvPr>
            <p:ph idx="1"/>
          </p:nvPr>
        </p:nvSpPr>
        <p:spPr/>
        <p:txBody>
          <a:bodyPr/>
          <a:lstStyle/>
          <a:p>
            <a:r>
              <a:rPr lang="en-US" dirty="0"/>
              <a:t>CSS </a:t>
            </a:r>
            <a:r>
              <a:rPr lang="ru-RU" dirty="0"/>
              <a:t>селекторы по атрибутам, подстроки и </a:t>
            </a:r>
            <a:r>
              <a:rPr lang="ru-RU" dirty="0" err="1"/>
              <a:t>тд</a:t>
            </a:r>
            <a:endParaRPr lang="ru-RU" dirty="0"/>
          </a:p>
          <a:p>
            <a:r>
              <a:rPr lang="ru-RU" dirty="0"/>
              <a:t>Селекторы </a:t>
            </a:r>
            <a:r>
              <a:rPr lang="ru-RU" dirty="0" err="1"/>
              <a:t>псевдоклассов</a:t>
            </a:r>
            <a:r>
              <a:rPr lang="ru-RU" dirty="0"/>
              <a:t> - </a:t>
            </a:r>
            <a:r>
              <a:rPr lang="en-US" dirty="0"/>
              <a:t>first-child</a:t>
            </a:r>
            <a:r>
              <a:rPr lang="ru-RU" dirty="0"/>
              <a:t>, </a:t>
            </a:r>
            <a:r>
              <a:rPr lang="en-US" dirty="0"/>
              <a:t>hover, </a:t>
            </a:r>
            <a:r>
              <a:rPr lang="ru-RU" dirty="0" err="1"/>
              <a:t>псевдоэлементов</a:t>
            </a:r>
            <a:r>
              <a:rPr lang="ru-RU" dirty="0"/>
              <a:t> </a:t>
            </a:r>
            <a:r>
              <a:rPr lang="en-US" dirty="0"/>
              <a:t>::first-line</a:t>
            </a:r>
            <a:endParaRPr lang="ru-RU" dirty="0"/>
          </a:p>
          <a:p>
            <a:pPr indent="492125"/>
            <a:r>
              <a:rPr lang="ru-RU" dirty="0"/>
              <a:t>Генерация контента </a:t>
            </a:r>
            <a:r>
              <a:rPr lang="en-US" dirty="0"/>
              <a:t>::before ::after content</a:t>
            </a:r>
          </a:p>
          <a:p>
            <a:r>
              <a:rPr lang="ru-RU" dirty="0"/>
              <a:t>Комбинаторы – дочерний селектор </a:t>
            </a:r>
            <a:r>
              <a:rPr lang="en-US" dirty="0"/>
              <a:t>&gt;, </a:t>
            </a:r>
            <a:r>
              <a:rPr lang="ru-RU" dirty="0"/>
              <a:t>общий родственный комбинатор</a:t>
            </a:r>
            <a:endParaRPr lang="en-US" dirty="0"/>
          </a:p>
          <a:p>
            <a:r>
              <a:rPr lang="en-US" dirty="0"/>
              <a:t>ul &gt; li[class="a"]</a:t>
            </a:r>
            <a:endParaRPr lang="ru-RU" dirty="0"/>
          </a:p>
          <a:p>
            <a:r>
              <a:rPr lang="ru-RU" dirty="0"/>
              <a:t>Условия в </a:t>
            </a:r>
            <a:r>
              <a:rPr lang="en-US" dirty="0"/>
              <a:t>CSS media support</a:t>
            </a:r>
            <a:endParaRPr lang="ru-RU" dirty="0"/>
          </a:p>
        </p:txBody>
      </p:sp>
    </p:spTree>
    <p:extLst>
      <p:ext uri="{BB962C8B-B14F-4D97-AF65-F5344CB8AC3E}">
        <p14:creationId xmlns:p14="http://schemas.microsoft.com/office/powerpoint/2010/main" val="292883066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Комбинаторы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r>
              <a:rPr lang="ru-RU" dirty="0"/>
              <a:t>Можно применять правило к объекту2, (тегу, классу, тегу с конкретными классом), если он расположен сразу за объектом1, для чего нужно указать их имена через +:</a:t>
            </a:r>
          </a:p>
          <a:p>
            <a:pPr marL="0" indent="0">
              <a:buNone/>
            </a:pPr>
            <a:r>
              <a:rPr lang="ru-RU" dirty="0"/>
              <a:t>объект1 + объект2 </a:t>
            </a:r>
            <a:r>
              <a:rPr lang="en-US" dirty="0"/>
              <a:t>{</a:t>
            </a:r>
          </a:p>
          <a:p>
            <a:pPr marL="0" indent="0">
              <a:buNone/>
            </a:pPr>
            <a:r>
              <a:rPr lang="en-US" dirty="0"/>
              <a:t>	</a:t>
            </a:r>
            <a:r>
              <a:rPr lang="ru-RU" dirty="0"/>
              <a:t>параметр : значение</a:t>
            </a:r>
            <a:r>
              <a:rPr lang="en-US" dirty="0"/>
              <a:t>;</a:t>
            </a:r>
            <a:endParaRPr lang="ru-RU" dirty="0"/>
          </a:p>
          <a:p>
            <a:pPr marL="0" indent="0">
              <a:buNone/>
            </a:pPr>
            <a:r>
              <a:rPr lang="en-US" dirty="0"/>
              <a:t>}</a:t>
            </a:r>
            <a:endParaRPr lang="ru-RU" dirty="0"/>
          </a:p>
        </p:txBody>
      </p:sp>
    </p:spTree>
    <p:extLst>
      <p:ext uri="{BB962C8B-B14F-4D97-AF65-F5344CB8AC3E}">
        <p14:creationId xmlns:p14="http://schemas.microsoft.com/office/powerpoint/2010/main" val="374811912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89569-D565-4811-B86F-39537DD77522}"/>
              </a:ext>
            </a:extLst>
          </p:cNvPr>
          <p:cNvSpPr>
            <a:spLocks noGrp="1"/>
          </p:cNvSpPr>
          <p:nvPr>
            <p:ph type="title"/>
          </p:nvPr>
        </p:nvSpPr>
        <p:spPr/>
        <p:txBody>
          <a:bodyPr/>
          <a:lstStyle/>
          <a:p>
            <a:r>
              <a:rPr lang="ru-RU" dirty="0"/>
              <a:t>Комбинаторы </a:t>
            </a:r>
            <a:r>
              <a:rPr lang="en-US" dirty="0"/>
              <a:t>CSS</a:t>
            </a:r>
            <a:endParaRPr lang="ru-RU" dirty="0"/>
          </a:p>
        </p:txBody>
      </p:sp>
      <p:sp>
        <p:nvSpPr>
          <p:cNvPr id="3" name="Объект 2">
            <a:extLst>
              <a:ext uri="{FF2B5EF4-FFF2-40B4-BE49-F238E27FC236}">
                <a16:creationId xmlns:a16="http://schemas.microsoft.com/office/drawing/2014/main" id="{BBE11892-982E-4A30-BF38-BFBC174E2B4D}"/>
              </a:ext>
            </a:extLst>
          </p:cNvPr>
          <p:cNvSpPr>
            <a:spLocks noGrp="1"/>
          </p:cNvSpPr>
          <p:nvPr>
            <p:ph idx="1"/>
          </p:nvPr>
        </p:nvSpPr>
        <p:spPr/>
        <p:txBody>
          <a:bodyPr/>
          <a:lstStyle/>
          <a:p>
            <a:endParaRPr lang="ru-RU" dirty="0"/>
          </a:p>
        </p:txBody>
      </p:sp>
      <p:pic>
        <p:nvPicPr>
          <p:cNvPr id="6" name="Рисунок 5">
            <a:extLst>
              <a:ext uri="{FF2B5EF4-FFF2-40B4-BE49-F238E27FC236}">
                <a16:creationId xmlns:a16="http://schemas.microsoft.com/office/drawing/2014/main" id="{1CFA1B38-84C4-4013-9322-A539134970E8}"/>
              </a:ext>
            </a:extLst>
          </p:cNvPr>
          <p:cNvPicPr>
            <a:picLocks noChangeAspect="1"/>
          </p:cNvPicPr>
          <p:nvPr/>
        </p:nvPicPr>
        <p:blipFill>
          <a:blip r:embed="rId3"/>
          <a:stretch>
            <a:fillRect/>
          </a:stretch>
        </p:blipFill>
        <p:spPr>
          <a:xfrm>
            <a:off x="589346" y="1690688"/>
            <a:ext cx="5859648" cy="2772400"/>
          </a:xfrm>
          <a:prstGeom prst="rect">
            <a:avLst/>
          </a:prstGeom>
        </p:spPr>
      </p:pic>
      <p:sp>
        <p:nvSpPr>
          <p:cNvPr id="7" name="Прямоугольник: скругленные углы 6">
            <a:extLst>
              <a:ext uri="{FF2B5EF4-FFF2-40B4-BE49-F238E27FC236}">
                <a16:creationId xmlns:a16="http://schemas.microsoft.com/office/drawing/2014/main" id="{AF0CDEE2-C003-4A60-A2CA-7AA3E381D237}"/>
              </a:ext>
            </a:extLst>
          </p:cNvPr>
          <p:cNvSpPr/>
          <p:nvPr/>
        </p:nvSpPr>
        <p:spPr>
          <a:xfrm>
            <a:off x="4196523" y="4103702"/>
            <a:ext cx="2252471" cy="351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index.html</a:t>
            </a:r>
            <a:endParaRPr lang="ru-RU" dirty="0"/>
          </a:p>
        </p:txBody>
      </p:sp>
      <p:pic>
        <p:nvPicPr>
          <p:cNvPr id="9" name="Рисунок 8">
            <a:extLst>
              <a:ext uri="{FF2B5EF4-FFF2-40B4-BE49-F238E27FC236}">
                <a16:creationId xmlns:a16="http://schemas.microsoft.com/office/drawing/2014/main" id="{E1FADC2C-404F-4F16-BD54-FCBF15E14DE0}"/>
              </a:ext>
            </a:extLst>
          </p:cNvPr>
          <p:cNvPicPr>
            <a:picLocks noChangeAspect="1"/>
          </p:cNvPicPr>
          <p:nvPr/>
        </p:nvPicPr>
        <p:blipFill>
          <a:blip r:embed="rId4"/>
          <a:stretch>
            <a:fillRect/>
          </a:stretch>
        </p:blipFill>
        <p:spPr>
          <a:xfrm>
            <a:off x="6612017" y="2220969"/>
            <a:ext cx="5163530" cy="3155490"/>
          </a:xfrm>
          <a:prstGeom prst="rect">
            <a:avLst/>
          </a:prstGeom>
        </p:spPr>
      </p:pic>
      <p:pic>
        <p:nvPicPr>
          <p:cNvPr id="10" name="Рисунок 9">
            <a:extLst>
              <a:ext uri="{FF2B5EF4-FFF2-40B4-BE49-F238E27FC236}">
                <a16:creationId xmlns:a16="http://schemas.microsoft.com/office/drawing/2014/main" id="{914F0F1E-BB18-4425-9FCA-4CAD9C86DFC9}"/>
              </a:ext>
            </a:extLst>
          </p:cNvPr>
          <p:cNvPicPr>
            <a:picLocks noChangeAspect="1"/>
          </p:cNvPicPr>
          <p:nvPr/>
        </p:nvPicPr>
        <p:blipFill>
          <a:blip r:embed="rId5"/>
          <a:stretch>
            <a:fillRect/>
          </a:stretch>
        </p:blipFill>
        <p:spPr>
          <a:xfrm>
            <a:off x="3286308" y="4879057"/>
            <a:ext cx="3145188" cy="994804"/>
          </a:xfrm>
          <a:prstGeom prst="rect">
            <a:avLst/>
          </a:prstGeom>
        </p:spPr>
      </p:pic>
      <p:sp>
        <p:nvSpPr>
          <p:cNvPr id="8" name="Прямоугольник: скругленные углы 7">
            <a:extLst>
              <a:ext uri="{FF2B5EF4-FFF2-40B4-BE49-F238E27FC236}">
                <a16:creationId xmlns:a16="http://schemas.microsoft.com/office/drawing/2014/main" id="{774346E1-6310-4321-AFF5-28CD6AE19B03}"/>
              </a:ext>
            </a:extLst>
          </p:cNvPr>
          <p:cNvSpPr/>
          <p:nvPr/>
        </p:nvSpPr>
        <p:spPr>
          <a:xfrm>
            <a:off x="4497680" y="5544869"/>
            <a:ext cx="1933816" cy="3056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styles.css</a:t>
            </a:r>
            <a:endParaRPr lang="ru-RU" dirty="0"/>
          </a:p>
        </p:txBody>
      </p:sp>
    </p:spTree>
    <p:extLst>
      <p:ext uri="{BB962C8B-B14F-4D97-AF65-F5344CB8AC3E}">
        <p14:creationId xmlns:p14="http://schemas.microsoft.com/office/powerpoint/2010/main" val="243631938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2086</TotalTime>
  <Words>12067</Words>
  <Application>Microsoft Office PowerPoint</Application>
  <PresentationFormat>Широкоэкранный</PresentationFormat>
  <Paragraphs>807</Paragraphs>
  <Slides>124</Slides>
  <Notes>116</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124</vt:i4>
      </vt:variant>
    </vt:vector>
  </HeadingPairs>
  <TitlesOfParts>
    <vt:vector size="129" baseType="lpstr">
      <vt:lpstr>Arial</vt:lpstr>
      <vt:lpstr>Calibri</vt:lpstr>
      <vt:lpstr>Calibri Light</vt:lpstr>
      <vt:lpstr>Ubuntu Mono</vt:lpstr>
      <vt:lpstr>Тема Office</vt:lpstr>
      <vt:lpstr>Web-программирование: структура курса</vt:lpstr>
      <vt:lpstr>HTML </vt:lpstr>
      <vt:lpstr>Основные понятия</vt:lpstr>
      <vt:lpstr>Основные понятия</vt:lpstr>
      <vt:lpstr>Основные понятия</vt:lpstr>
      <vt:lpstr>Основные понятия</vt:lpstr>
      <vt:lpstr>Основные понятия</vt:lpstr>
      <vt:lpstr>Основные понятия</vt:lpstr>
      <vt:lpstr>Основные понятия</vt:lpstr>
      <vt:lpstr>Основные понятия</vt:lpstr>
      <vt:lpstr>Основные понятия</vt:lpstr>
      <vt:lpstr>Основные понятия</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Основы верстки HTML</vt:lpstr>
      <vt:lpstr>Расширенные инструменты верстки</vt:lpstr>
      <vt:lpstr>Расширенные инструменты верстки</vt:lpstr>
      <vt:lpstr>Расширенные инструменты верстки</vt:lpstr>
      <vt:lpstr>Расширенные инструменты верстки</vt:lpstr>
      <vt:lpstr>Расширенные инструменты верстки</vt:lpstr>
      <vt:lpstr>Расширенные инструменты верстки</vt:lpstr>
      <vt:lpstr>Расширенный HTML</vt:lpstr>
      <vt:lpstr>Расширенные инструменты верстки</vt:lpstr>
      <vt:lpstr>Расширенные инструменты верстки</vt:lpstr>
      <vt:lpstr>Расширенные инструменты верстки</vt:lpstr>
      <vt:lpstr>Расширенные инструменты верстки</vt:lpstr>
      <vt:lpstr>Расширенные инструменты верстки</vt:lpstr>
      <vt:lpstr>Расширенные инструменты верстки</vt:lpstr>
      <vt:lpstr>Расширенные инструменты верстки</vt:lpstr>
      <vt:lpstr>Расширенные инструменты верстки</vt:lpstr>
      <vt:lpstr>Оформление web-страниц</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Адаптивные изображения</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Работа с мультимедиа в HTML5</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Основы CSS</vt:lpstr>
      <vt:lpstr>Расширенные инструменты верстки</vt:lpstr>
      <vt:lpstr>Расширенные инструменты верстки</vt:lpstr>
      <vt:lpstr>Комбинаторы CSS</vt:lpstr>
      <vt:lpstr>Комбинаторы CSS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dc:title>
  <dc:creator>*</dc:creator>
  <cp:lastModifiedBy>*</cp:lastModifiedBy>
  <cp:revision>211</cp:revision>
  <dcterms:created xsi:type="dcterms:W3CDTF">2024-07-10T12:56:06Z</dcterms:created>
  <dcterms:modified xsi:type="dcterms:W3CDTF">2024-07-30T10:57:56Z</dcterms:modified>
</cp:coreProperties>
</file>